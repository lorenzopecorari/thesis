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29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33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6.xml" ContentType="application/vnd.openxmlformats-officedocument.presentationml.slide+xml"/>
  <Override PartName="/ppt/notesSlides/notesSlide30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notesSlides/notesSlide3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3.xml" ContentType="application/vnd.openxmlformats-officedocument.presentationml.notesSlide+xml"/>
  <Override PartName="/ppt/notesSlides/notesSlide22.xml" ContentType="application/vnd.openxmlformats-officedocument.presentationml.notesSlide+xml"/>
  <Override PartName="/ppt/slideLayouts/slideLayout4.xml" ContentType="application/vnd.openxmlformats-officedocument.presentationml.slideLayout+xml"/>
  <Override PartName="/ppt/notesSlides/notesSlide20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21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s/slide32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notesSlides/notesSlide31.xml" ContentType="application/vnd.openxmlformats-officedocument.presentationml.notesSlide+xml"/>
  <Override PartName="/ppt/notesSlides/notesSlide28.xml" ContentType="application/vnd.openxmlformats-officedocument.presentationml.notesSlide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2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slides/slide29.xml" ContentType="application/vnd.openxmlformats-officedocument.presentationml.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7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22.xml" ContentType="application/vnd.openxmlformats-officedocument.presentationml.slide+xml"/>
  <Override PartName="/ppt/slides/slide19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37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</p:sldIdLst>
  <p:sldSz cx="12192000" cy="6858000"/>
  <p:notesSz cx="6858000" cy="9144000"/>
  <p:defaultTextStyle>
    <a:defPPr>
      <a:defRPr lang="it-IT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 /><Relationship Id="rId39" Type="http://schemas.openxmlformats.org/officeDocument/2006/relationships/tableStyles" Target="tableStyles.xml" /><Relationship Id="rId40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6124208" name="Segnaposto intestazione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557300307" name="Segnaposto data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it-IT"/>
              <a:t>10/30/2013</a:t>
            </a:fld>
            <a:endParaRPr lang="it-IT"/>
          </a:p>
        </p:txBody>
      </p:sp>
      <p:sp>
        <p:nvSpPr>
          <p:cNvPr id="830495998" name="Segnaposto immagine diapositiva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it-IT"/>
          </a:p>
        </p:txBody>
      </p:sp>
      <p:sp>
        <p:nvSpPr>
          <p:cNvPr id="910384602" name="Segnaposto Note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it-IT"/>
          </a:p>
        </p:txBody>
      </p:sp>
      <p:sp>
        <p:nvSpPr>
          <p:cNvPr id="1505098332" name="Segnaposto piè di pagina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625931577" name="Segnaposto numero diapositiva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it-IT"/>
              <a:t>‹#›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 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 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 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 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 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 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 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 ?>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8545163" name="Segnaposto immagine diapositiva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6096808" name="Segnaposto Note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it-IT">
              <a:latin typeface="Arial"/>
              <a:cs typeface="Arial"/>
            </a:endParaRPr>
          </a:p>
        </p:txBody>
      </p:sp>
      <p:sp>
        <p:nvSpPr>
          <p:cNvPr id="652415912" name="Segnaposto numero diapositiva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it-IT"/>
              <a:t>1</a:t>
            </a:fld>
            <a:endParaRPr lang="it-IT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35924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754669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3783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316389-9DB7-CE29-CCDD-0260A6AACD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90567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063209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4340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F5F9E6-DC00-0FEF-7635-0446664F70B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4917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49895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07137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759930E-E7D7-E5CF-88C6-9BA7CA90100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229866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091136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13413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4311D56-5DA3-4D9E-FF5B-2AC3FC3A951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57755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732975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5263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56BE1B2-F862-AEC0-01E9-2F4580DD9B8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10287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723737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12214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1301651-0BA7-24E4-E675-6AC03BD9A73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90843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28873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14666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112763-E740-5F01-F882-E6EF3EDB4C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6735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385950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8152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6A20DA-A942-A028-3E03-AE0965EE4E3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7251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85052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6854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E393B6-E15D-03CC-7380-23DC4E92DF6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98505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463797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8190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D8CC71-10D8-CA04-B15F-D897C99A535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98279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3772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69919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A943F-A2C1-5C66-D84D-D7716F6BB17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1609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926668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902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9277F7-D4D5-5797-1148-FA54CECD175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40893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535605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3058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CB26FF-C36B-465D-C3D4-4A6B46B5963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61574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841160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7108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401666-D8EA-9470-8DF0-45D7FE10F5E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98892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704554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88960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236E2E-31D5-9B6A-422B-DF08081257B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48948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742658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03489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9C5A08-497A-7FE6-C0F3-A25E4E5E055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52711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294791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1321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EB6D802-BDAF-6094-42D4-A5FCE73DA6C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54031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422055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321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638A103-5323-946A-2FDE-AA964174581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41890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999420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9566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BE8F27-29AF-B9E3-910A-9AA54E3AB84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7210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922026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6076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6D130F5-4B54-A4C5-821D-E1B30E4CA24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55205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01009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8530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E51E9D5-3509-C2B3-4D3D-AFB58E5619E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79597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14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80184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06BFE8-DFCF-73A7-04ED-4706543BE15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5245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87089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3474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5396D5B-27B8-8399-7063-D74D23CCBC2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624680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837800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56007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77A77-014F-34BF-BBD3-3BEB367D2AD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1416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62133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57441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B0217D9-3C41-E3C4-CA94-FDD4646AD25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4099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713065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83519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A1C916-F6AF-80B2-E5A5-088C2D83A07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2256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10385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77790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4A373F-0AF8-1811-0253-B372AAA8E0C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49426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203092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63681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03E687-A6D0-77D4-24A7-618FBB19059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03823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862802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17544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553BEFB-0C90-B3B7-6DA0-5DFB6196E29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1373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037388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526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1153DB-EC0F-4A84-19A4-3B247842F71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46347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57540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3248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76DDE27-2862-2D03-DEC0-6595E815E99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11107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7239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1795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E71CE3-8CB6-5D16-184C-5F6351E3D0B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iapositiva tito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171700" name="Titolo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  <a:endParaRPr lang="it-IT"/>
          </a:p>
        </p:txBody>
      </p:sp>
      <p:sp>
        <p:nvSpPr>
          <p:cNvPr id="294862873" name="Sottotitolo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it-IT"/>
              <a:t>Fare clic per modificare lo stile del sottotitolo dello schema</a:t>
            </a:r>
            <a:endParaRPr lang="it-IT"/>
          </a:p>
        </p:txBody>
      </p:sp>
      <p:sp>
        <p:nvSpPr>
          <p:cNvPr id="1670584615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30.10.2013</a:t>
            </a:fld>
            <a:endParaRPr lang="it-IT"/>
          </a:p>
        </p:txBody>
      </p:sp>
      <p:sp>
        <p:nvSpPr>
          <p:cNvPr id="2005154475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33477905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olo e contenu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1366969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  <a:endParaRPr lang="it-IT"/>
          </a:p>
        </p:txBody>
      </p:sp>
      <p:sp>
        <p:nvSpPr>
          <p:cNvPr id="2085741855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it-IT"/>
          </a:p>
        </p:txBody>
      </p:sp>
      <p:sp>
        <p:nvSpPr>
          <p:cNvPr id="487981344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30.10.2013</a:t>
            </a:fld>
            <a:endParaRPr lang="it-IT"/>
          </a:p>
        </p:txBody>
      </p:sp>
      <p:sp>
        <p:nvSpPr>
          <p:cNvPr id="1176893491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84508484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Intestazione sezion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3384627" name="Titolo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  <a:endParaRPr lang="it-IT"/>
          </a:p>
        </p:txBody>
      </p:sp>
      <p:sp>
        <p:nvSpPr>
          <p:cNvPr id="1439406313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994454800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30.10.2013</a:t>
            </a:fld>
            <a:endParaRPr lang="it-IT"/>
          </a:p>
        </p:txBody>
      </p:sp>
      <p:sp>
        <p:nvSpPr>
          <p:cNvPr id="571887246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26031767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Due contenuti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17695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  <a:endParaRPr lang="it-IT"/>
          </a:p>
        </p:txBody>
      </p:sp>
      <p:sp>
        <p:nvSpPr>
          <p:cNvPr id="997565857" name="Segnaposto contenuto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it-IT"/>
          </a:p>
        </p:txBody>
      </p:sp>
      <p:sp>
        <p:nvSpPr>
          <p:cNvPr id="832217174" name="Segnaposto contenuto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it-IT"/>
          </a:p>
        </p:txBody>
      </p:sp>
      <p:sp>
        <p:nvSpPr>
          <p:cNvPr id="1470787742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30.10.2013</a:t>
            </a:fld>
            <a:endParaRPr lang="it-IT"/>
          </a:p>
        </p:txBody>
      </p:sp>
      <p:sp>
        <p:nvSpPr>
          <p:cNvPr id="1897243822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38798875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nfron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480115" name="Titolo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  <a:endParaRPr lang="it-IT"/>
          </a:p>
        </p:txBody>
      </p:sp>
      <p:sp>
        <p:nvSpPr>
          <p:cNvPr id="1038567104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345322349" name="Segnaposto contenuto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it-IT"/>
          </a:p>
        </p:txBody>
      </p:sp>
      <p:sp>
        <p:nvSpPr>
          <p:cNvPr id="473323650" name="Segnaposto testo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105920076" name="Segnaposto contenuto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it-IT"/>
          </a:p>
        </p:txBody>
      </p:sp>
      <p:sp>
        <p:nvSpPr>
          <p:cNvPr id="1197116813" name="Segnaposto data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30.10.2013</a:t>
            </a:fld>
            <a:endParaRPr lang="it-IT"/>
          </a:p>
        </p:txBody>
      </p:sp>
      <p:sp>
        <p:nvSpPr>
          <p:cNvPr id="970875416" name="Segnaposto piè di pagina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78676862" name="Segnaposto numero diapositiva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Solo tito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802714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  <a:endParaRPr lang="it-IT"/>
          </a:p>
        </p:txBody>
      </p:sp>
      <p:sp>
        <p:nvSpPr>
          <p:cNvPr id="1874985834" name="Segnaposto data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30.10.2013</a:t>
            </a:fld>
            <a:endParaRPr lang="it-IT"/>
          </a:p>
        </p:txBody>
      </p:sp>
      <p:sp>
        <p:nvSpPr>
          <p:cNvPr id="1294361706" name="Segnaposto piè di pagina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50857644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Vuot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1628696" name="Segnaposto data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30.10.2013</a:t>
            </a:fld>
            <a:endParaRPr lang="it-IT"/>
          </a:p>
        </p:txBody>
      </p:sp>
      <p:sp>
        <p:nvSpPr>
          <p:cNvPr id="888603030" name="Segnaposto piè di pagina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67807453" name="Segnaposto numero diapositiva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uto con didascali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0779451" name="Tito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  <a:endParaRPr lang="it-IT"/>
          </a:p>
        </p:txBody>
      </p:sp>
      <p:sp>
        <p:nvSpPr>
          <p:cNvPr id="1766364982" name="Segnaposto contenuto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it-IT"/>
          </a:p>
        </p:txBody>
      </p:sp>
      <p:sp>
        <p:nvSpPr>
          <p:cNvPr id="1601364509" name="Segnaposto tes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792761212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30.10.2013</a:t>
            </a:fld>
            <a:endParaRPr lang="it-IT"/>
          </a:p>
        </p:txBody>
      </p:sp>
      <p:sp>
        <p:nvSpPr>
          <p:cNvPr id="1773572821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45379845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Immagine con didascali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01725" name="Tito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  <a:endParaRPr lang="it-IT"/>
          </a:p>
        </p:txBody>
      </p:sp>
      <p:sp>
        <p:nvSpPr>
          <p:cNvPr id="497295527" name="Segnaposto immagine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it-IT"/>
              <a:t>Fare clic sull'icona per aggiungere un'immagine</a:t>
            </a:r>
            <a:endParaRPr lang="it-IT"/>
          </a:p>
        </p:txBody>
      </p:sp>
      <p:sp>
        <p:nvSpPr>
          <p:cNvPr id="11766382" name="Segnaposto tes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055898886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30.10.2013</a:t>
            </a:fld>
            <a:endParaRPr lang="it-IT"/>
          </a:p>
        </p:txBody>
      </p:sp>
      <p:sp>
        <p:nvSpPr>
          <p:cNvPr id="1637321227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68317480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olo e testo vertica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254387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  <a:endParaRPr lang="it-IT"/>
          </a:p>
        </p:txBody>
      </p:sp>
      <p:sp>
        <p:nvSpPr>
          <p:cNvPr id="1846762581" name="Segnaposto testo verticale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it-IT"/>
          </a:p>
        </p:txBody>
      </p:sp>
      <p:sp>
        <p:nvSpPr>
          <p:cNvPr id="1981368032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30.10.2013</a:t>
            </a:fld>
            <a:endParaRPr lang="it-IT"/>
          </a:p>
        </p:txBody>
      </p:sp>
      <p:sp>
        <p:nvSpPr>
          <p:cNvPr id="698504009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98682705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Titolo e testo vertica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3039654" name="Titolo vertica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it-IT"/>
              <a:t>Fare clic per modificare lo stile del titolo</a:t>
            </a:r>
            <a:endParaRPr lang="it-IT"/>
          </a:p>
        </p:txBody>
      </p:sp>
      <p:sp>
        <p:nvSpPr>
          <p:cNvPr id="320977522" name="Segnaposto testo verticale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it-IT"/>
          </a:p>
        </p:txBody>
      </p:sp>
      <p:sp>
        <p:nvSpPr>
          <p:cNvPr id="151368847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30.10.2013</a:t>
            </a:fld>
            <a:endParaRPr lang="it-IT"/>
          </a:p>
        </p:txBody>
      </p:sp>
      <p:sp>
        <p:nvSpPr>
          <p:cNvPr id="214202516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12796085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117827" name="Segnaposto titolo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it-IT"/>
              <a:t>Fare clic per modificare lo stile del titolo</a:t>
            </a:r>
            <a:endParaRPr lang="it-IT"/>
          </a:p>
        </p:txBody>
      </p:sp>
      <p:sp>
        <p:nvSpPr>
          <p:cNvPr id="1665022779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  <a:endParaRPr lang="it-IT"/>
          </a:p>
        </p:txBody>
      </p:sp>
      <p:sp>
        <p:nvSpPr>
          <p:cNvPr id="910691345" name="Segnaposto data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it-IT"/>
              <a:t>30.10.2013</a:t>
            </a:fld>
            <a:endParaRPr lang="it-IT"/>
          </a:p>
        </p:txBody>
      </p:sp>
      <p:sp>
        <p:nvSpPr>
          <p:cNvPr id="1469516443" name="Segnaposto piè di pagina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456874675" name="Segnaposto numero diapositiva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it-IT"/>
              <a:t>‹#›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9.pn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8.png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media1.svg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4544066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CPU vs GPU</a:t>
            </a:r>
            <a:br>
              <a:rPr lang="it-IT"/>
            </a:br>
            <a:r>
              <a:rPr lang="it-IT"/>
              <a:t>Sequential vs Parallel</a:t>
            </a:r>
            <a:endParaRPr lang="it-IT"/>
          </a:p>
        </p:txBody>
      </p:sp>
      <p:sp>
        <p:nvSpPr>
          <p:cNvPr id="2033792107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3999" y="3968384"/>
            <a:ext cx="9144000" cy="1655761"/>
          </a:xfrm>
        </p:spPr>
        <p:txBody>
          <a:bodyPr/>
          <a:lstStyle/>
          <a:p>
            <a:pPr>
              <a:defRPr/>
            </a:pPr>
            <a:r>
              <a:rPr lang="it-IT"/>
              <a:t>Lorenzo Pecorari - 1885161</a:t>
            </a: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709135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New formulation: state aggregation</a:t>
            </a:r>
            <a:endParaRPr/>
          </a:p>
        </p:txBody>
      </p:sp>
      <p:sp>
        <p:nvSpPr>
          <p:cNvPr id="564509025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838197" y="1520335"/>
            <a:ext cx="10923386" cy="474821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75000" lnSpcReduction="5000"/>
          </a:bodyPr>
          <a:lstStyle/>
          <a:p>
            <a:pPr>
              <a:lnSpc>
                <a:spcPct val="114999"/>
              </a:lnSpc>
              <a:defRPr/>
            </a:pP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Independent Q-Learning with Partial Observability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(other agents’ states aggregated)</a:t>
            </a:r>
            <a:endParaRPr sz="24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lnSpc>
                <a:spcPct val="114999"/>
              </a:lnSpc>
              <a:defRPr/>
            </a:pP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s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= [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τ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]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→</m:t>
                      </m:r>
                    </m:oMath>
                  </m:oMathPara>
                </a14:m>
              </mc:Choice>
              <mc:Fallback/>
            </mc:AlternateContent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s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= [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τ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</m:t>
                      </m:r>
                    </m:oMath>
                  </m:oMathPara>
                </a14:m>
              </mc:Choice>
              <mc:Fallback/>
            </mc:AlternateContent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</m:t>
                      </m:r>
                    </m:oMath>
                  </m:oMathPara>
                </a14:m>
              </mc:Choice>
              <mc:Fallback/>
            </mc:AlternateContent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]</a:t>
            </a:r>
            <a:r>
              <a:rPr sz="2400" b="0" i="0" u="none" strike="noStrike" cap="none" spc="0">
                <a:solidFill>
                  <a:schemeClr val="tx1"/>
                </a:solidFill>
                <a:latin typeface="Times New Roman"/>
                <a:cs typeface="Times New Roman"/>
              </a:rPr>
              <a:t> (9 different variables)</a:t>
            </a:r>
            <a:endParaRPr sz="24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marL="0" indent="0">
              <a:lnSpc>
                <a:spcPct val="114999"/>
              </a:lnSpc>
              <a:buFont typeface="Arial"/>
              <a:buNone/>
              <a:defRPr/>
            </a:pP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	where:</a:t>
            </a:r>
            <a:endParaRPr sz="2400"/>
          </a:p>
          <a:p>
            <a:pPr lvl="3">
              <a:lnSpc>
                <a:spcPct val="114999"/>
              </a:lnSpc>
              <a:defRPr/>
            </a:pP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m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= argmin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it-IT" sz="2400" b="0" i="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{</m:t>
                          </m:r>
                          <m:sSubSup>
                            <m:sSubSupPr>
                              <m:alnScr m:val="off"/>
                              <m:ctrlPr>
                                <a:rPr lang="it-IT" sz="24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i"/>
                                </m:rPr>
                                <a:rPr lang="it-IT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it-IT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sub>
                            <m:sup>
                              <m:r>
                                <m:rPr>
                                  <m:sty m:val="i"/>
                                </m:rPr>
                                <a:rPr lang="it-IT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}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j≠</m:t>
                          </m:r>
                          <m:r>
                            <m:rPr>
                              <m:sty m:val="p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rial"/>
                <a:ea typeface="Arial"/>
                <a:cs typeface="Arial"/>
              </a:rPr>
              <a:t>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, min battery level of other agents</a:t>
            </a:r>
            <a:endParaRPr sz="2400"/>
          </a:p>
          <a:p>
            <a:pPr lvl="3">
              <a:lnSpc>
                <a:spcPct val="114999"/>
              </a:lnSpc>
              <a:defRPr/>
            </a:pP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Mb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= argmax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it-IT" sz="2400" b="0" i="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{</m:t>
                          </m:r>
                          <m:sSubSup>
                            <m:sSubSupPr>
                              <m:alnScr m:val="off"/>
                              <m:ctrlPr>
                                <a:rPr lang="it-IT" sz="24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i"/>
                                </m:rPr>
                                <a:rPr lang="it-IT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it-IT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sub>
                            <m:sup>
                              <m:r>
                                <m:rPr>
                                  <m:sty m:val="i"/>
                                </m:rPr>
                                <a:rPr lang="it-IT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}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j≠</m:t>
                          </m:r>
                          <m:r>
                            <m:rPr>
                              <m:sty m:val="p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rial"/>
                <a:ea typeface="Arial"/>
                <a:cs typeface="Arial"/>
              </a:rPr>
              <a:t>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, max battery level of other agents</a:t>
            </a:r>
            <a:endParaRPr sz="2400"/>
          </a:p>
          <a:p>
            <a:pPr lvl="3">
              <a:lnSpc>
                <a:spcPct val="114999"/>
              </a:lnSpc>
              <a:defRPr/>
            </a:pP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m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= argmin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it-IT" sz="2400" b="0" i="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{</m:t>
                          </m:r>
                          <m:sSubSup>
                            <m:sSubSupPr>
                              <m:alnScr m:val="off"/>
                              <m:ctrlPr>
                                <a:rPr lang="it-IT" sz="24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i"/>
                                </m:rPr>
                                <a:rPr lang="it-IT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it-IT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sub>
                            <m:sup>
                              <m:r>
                                <m:rPr>
                                  <m:sty m:val="i"/>
                                </m:rPr>
                                <a:rPr lang="it-IT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}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j≠</m:t>
                          </m:r>
                          <m:r>
                            <m:rPr>
                              <m:sty m:val="p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rial"/>
                <a:ea typeface="Arial"/>
                <a:cs typeface="Arial"/>
              </a:rPr>
              <a:t>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, min backlog status of other agents</a:t>
            </a:r>
            <a:endParaRPr sz="2400"/>
          </a:p>
          <a:p>
            <a:pPr lvl="3">
              <a:lnSpc>
                <a:spcPct val="114999"/>
              </a:lnSpc>
              <a:defRPr/>
            </a:pP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Mq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= argmax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it-IT" sz="2400" b="0" i="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{</m:t>
                          </m:r>
                          <m:sSubSup>
                            <m:sSubSupPr>
                              <m:alnScr m:val="off"/>
                              <m:ctrlPr>
                                <a:rPr lang="it-IT" sz="24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i"/>
                                </m:rPr>
                                <a:rPr lang="it-IT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it-IT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sub>
                            <m:sup>
                              <m:r>
                                <m:rPr>
                                  <m:sty m:val="i"/>
                                </m:rPr>
                                <a:rPr lang="it-IT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}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j≠</m:t>
                          </m:r>
                          <m:r>
                            <m:rPr>
                              <m:sty m:val="p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rial"/>
                <a:ea typeface="Arial"/>
                <a:cs typeface="Arial"/>
              </a:rPr>
              <a:t>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, max backlog status of other agents</a:t>
            </a:r>
            <a:endParaRPr sz="2400"/>
          </a:p>
          <a:p>
            <a:pPr lvl="3">
              <a:lnSpc>
                <a:spcPct val="114999"/>
              </a:lnSpc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</m:t>
                      </m:r>
                    </m:oMath>
                  </m:oMathPara>
                </a14:m>
              </mc:Choice>
              <mc:Fallback/>
            </mc:AlternateContent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=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it-IT" sz="2400" b="0" i="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n-1</m:t>
                          </m:r>
                        </m:den>
                      </m:f>
                      <m:nary>
                        <m:naryPr>
                          <m:chr m:val="∑"/>
                          <m:grow m:val="off"/>
                          <m:limLoc m:val="subSup"/>
                          <m:ctrlPr>
                            <a:rPr lang="it-IT" sz="24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j≠</m:t>
                          </m:r>
                          <m:r>
                            <m:rPr>
                              <m:sty m:val="p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sSubSup>
                            <m:sSubSupPr>
                              <m:alnScr m:val="off"/>
                              <m:ctrlPr>
                                <a:rPr lang="it-IT" sz="24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i"/>
                                </m:rPr>
                                <a:rPr lang="it-IT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it-IT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sub>
                            <m:sup>
                              <m:r>
                                <m:rPr>
                                  <m:sty m:val="i"/>
                                </m:rPr>
                                <a:rPr lang="it-IT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</mc:Choice>
              <mc:Fallback/>
            </mc:AlternateContent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, average battery level of other agents</a:t>
            </a:r>
            <a:endParaRPr sz="24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lvl="3">
              <a:lnSpc>
                <a:spcPct val="114999"/>
              </a:lnSpc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</m:t>
                      </m:r>
                    </m:oMath>
                  </m:oMathPara>
                </a14:m>
              </mc:Choice>
              <mc:Fallback/>
            </mc:AlternateContent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=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it-IT" sz="2400" b="0" i="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n-1</m:t>
                          </m:r>
                        </m:den>
                      </m:f>
                      <m:nary>
                        <m:naryPr>
                          <m:chr m:val="∑"/>
                          <m:grow m:val="off"/>
                          <m:limLoc m:val="subSup"/>
                          <m:ctrlPr>
                            <a:rPr lang="it-IT" sz="24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j≠</m:t>
                          </m:r>
                          <m:r>
                            <m:rPr>
                              <m:sty m:val="p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sSubSup>
                            <m:sSubSupPr>
                              <m:alnScr m:val="off"/>
                              <m:ctrlPr>
                                <a:rPr lang="it-IT" sz="24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i"/>
                                </m:rPr>
                                <a:rPr lang="it-IT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it-IT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sub>
                            <m:sup>
                              <m:r>
                                <m:rPr>
                                  <m:sty m:val="i"/>
                                </m:rPr>
                                <a:rPr lang="it-IT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j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</mc:Choice>
              <mc:Fallback/>
            </mc:AlternateContent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,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average backlog status of other agents</a:t>
            </a:r>
            <a:endParaRPr sz="2400"/>
          </a:p>
          <a:p>
            <a:pPr lvl="0">
              <a:lnSpc>
                <a:spcPct val="114999"/>
              </a:lnSpc>
              <a:defRPr/>
            </a:pPr>
            <a:r>
              <a:rPr sz="2400"/>
              <a:t>Same action space as previous formulation</a:t>
            </a:r>
            <a:r>
              <a:rPr sz="2400"/>
              <a:t>: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a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=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[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a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0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a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1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]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, where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a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= [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f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x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g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h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]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4935738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Setup</a:t>
            </a:r>
            <a:endParaRPr/>
          </a:p>
        </p:txBody>
      </p:sp>
      <p:sp>
        <p:nvSpPr>
          <p:cNvPr id="1919642236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765662" y="1570487"/>
            <a:ext cx="11270682" cy="494392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lnSpc>
                <a:spcPct val="114999"/>
              </a:lnSpc>
              <a:defRPr/>
            </a:pPr>
            <a:r>
              <a:rPr sz="2400"/>
              <a:t>2, 3, 4 and 5 nodes, all of them as agents</a:t>
            </a:r>
            <a:endParaRPr sz="2400"/>
          </a:p>
          <a:p>
            <a:pPr>
              <a:lnSpc>
                <a:spcPct val="114999"/>
              </a:lnSpc>
              <a:defRPr/>
            </a:pPr>
            <a:r>
              <a:rPr sz="2400"/>
              <a:t>Battery capacities: 25Wh, 37Wh, 50Wh, 67Wh, 100Wh</a:t>
            </a:r>
            <a:r>
              <a:rPr sz="2400"/>
              <a:t> </a:t>
            </a:r>
            <a:endParaRPr sz="2400"/>
          </a:p>
          <a:p>
            <a:pPr>
              <a:lnSpc>
                <a:spcPct val="114999"/>
              </a:lnSpc>
              <a:defRPr/>
            </a:pPr>
            <a:r>
              <a:rPr sz="2400"/>
              <a:t>PV surfaces: 1.0 m², 0.85 m²,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0.75 m², 0.65 m², 0.5 m²</a:t>
            </a:r>
            <a:r>
              <a:rPr sz="2400"/>
              <a:t> (efficiency = 20%)</a:t>
            </a:r>
            <a:endParaRPr sz="2400"/>
          </a:p>
          <a:p>
            <a:pPr>
              <a:lnSpc>
                <a:spcPct val="114999"/>
              </a:lnSpc>
              <a:defRPr/>
            </a:pPr>
            <a:r>
              <a:rPr sz="2400"/>
              <a:t>Dataset from Solcast, year 2024 (172th and 355th days mostly used for tests)</a:t>
            </a:r>
            <a:endParaRPr sz="2400"/>
          </a:p>
          <a:p>
            <a:pPr>
              <a:lnSpc>
                <a:spcPct val="114999"/>
              </a:lnSpc>
              <a:defRPr/>
            </a:pPr>
            <a:r>
              <a:rPr sz="2400"/>
              <a:t>Observation space:</a:t>
            </a:r>
            <a:r>
              <a:rPr sz="2400"/>
              <a:t> </a:t>
            </a:r>
            <a:r>
              <a:rPr sz="2400">
                <a:latin typeface="Asana Math"/>
                <a:ea typeface="Asana Math"/>
                <a:cs typeface="Asana Math"/>
              </a:rPr>
              <a:t>s</a:t>
            </a:r>
            <a:r>
              <a:rPr sz="2400" baseline="-25000">
                <a:latin typeface="Asana Math"/>
                <a:ea typeface="Asana Math"/>
                <a:cs typeface="Asana Math"/>
              </a:rPr>
              <a:t>t</a:t>
            </a:r>
            <a:r>
              <a:rPr sz="2400"/>
              <a:t> = [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s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sz="2400" baseline="30000">
                <a:latin typeface="Asana Math"/>
                <a:ea typeface="Asana Math"/>
                <a:cs typeface="Asana Math"/>
              </a:rPr>
              <a:t>i</a:t>
            </a:r>
            <a:r>
              <a:rPr sz="2400"/>
              <a:t>]</a:t>
            </a:r>
            <a:r>
              <a:rPr sz="2400" baseline="-25000"/>
              <a:t>i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∈</a:t>
            </a:r>
            <a:r>
              <a:rPr sz="2400" baseline="-25000"/>
              <a:t>[0, n]</a:t>
            </a:r>
            <a:r>
              <a:rPr sz="2400"/>
              <a:t>, where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s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= [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τ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</m:t>
                      </m:r>
                    </m:oMath>
                  </m:oMathPara>
                </a14:m>
              </mc:Choice>
              <mc:Fallback/>
            </mc:AlternateContent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</m:t>
                      </m:r>
                    </m:oMath>
                  </m:oMathPara>
                </a14:m>
              </mc:Choice>
              <mc:Fallback/>
            </mc:AlternateContent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]</a:t>
            </a:r>
            <a:endParaRPr sz="2400"/>
          </a:p>
          <a:p>
            <a:pPr>
              <a:lnSpc>
                <a:spcPct val="114999"/>
              </a:lnSpc>
              <a:defRPr/>
            </a:pPr>
            <a:r>
              <a:rPr sz="2400"/>
              <a:t>Action space: </a:t>
            </a:r>
            <a:r>
              <a:rPr sz="2400">
                <a:latin typeface="Asana Math"/>
                <a:ea typeface="Asana Math"/>
                <a:cs typeface="Asana Math"/>
              </a:rPr>
              <a:t>a</a:t>
            </a:r>
            <a:r>
              <a:rPr sz="2400" baseline="-25000">
                <a:latin typeface="Asana Math"/>
                <a:ea typeface="Asana Math"/>
                <a:cs typeface="Asana Math"/>
              </a:rPr>
              <a:t>t</a:t>
            </a:r>
            <a:r>
              <a:rPr sz="2400"/>
              <a:t> =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[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a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0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a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1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]</a:t>
            </a:r>
            <a:r>
              <a:rPr sz="2400"/>
              <a:t>, where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a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= [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f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x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g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h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]</a:t>
            </a:r>
            <a:endParaRPr sz="2400"/>
          </a:p>
          <a:p>
            <a:pPr>
              <a:lnSpc>
                <a:spcPct val="114999"/>
              </a:lnSpc>
              <a:defRPr/>
            </a:pP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Each agent can see local state and aggregated statistics of others but not their actions</a:t>
            </a:r>
            <a:endParaRPr sz="2400"/>
          </a:p>
          <a:p>
            <a:pPr>
              <a:lnSpc>
                <a:spcPct val="114999"/>
              </a:lnSpc>
              <a:defRPr/>
            </a:pPr>
            <a:r>
              <a:rPr sz="2400"/>
              <a:t>Same environment and same reward function for both implementations</a:t>
            </a:r>
            <a:endParaRPr sz="2400"/>
          </a:p>
          <a:p>
            <a:pPr>
              <a:lnSpc>
                <a:spcPct val="114999"/>
              </a:lnSpc>
              <a:defRPr/>
            </a:pPr>
            <a:r>
              <a:rPr sz="2400"/>
              <a:t>DQN algorithm for performing learning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5800066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Extract of training code</a:t>
            </a:r>
            <a:endParaRPr/>
          </a:p>
        </p:txBody>
      </p:sp>
      <p:sp>
        <p:nvSpPr>
          <p:cNvPr id="587710324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746613" y="1825624"/>
            <a:ext cx="11381318" cy="4351338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for</a:t>
            </a: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 agent_id </a:t>
            </a: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in</a:t>
            </a: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 range(</a:t>
            </a: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0</a:t>
            </a: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, </a:t>
            </a: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self</a:t>
            </a: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.num_agents):</a:t>
            </a:r>
            <a:endParaRPr sz="7200">
              <a:solidFill>
                <a:schemeClr val="tx1"/>
              </a:solidFill>
            </a:endParaRPr>
          </a:p>
          <a:p>
            <a:pPr marL="0" indent="0">
              <a:buFont typeface="Arial"/>
              <a:buNone/>
              <a:defRPr/>
            </a:pP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                    </a:t>
            </a: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self</a:t>
            </a: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.models[agent_id]._current_progress_remaining = progress_remaining     </a:t>
            </a:r>
            <a:endParaRPr sz="7200">
              <a:solidFill>
                <a:schemeClr val="tx1"/>
              </a:solidFill>
            </a:endParaRPr>
          </a:p>
          <a:p>
            <a:pPr marL="0" indent="0">
              <a:buFont typeface="Arial"/>
              <a:buNone/>
              <a:defRPr/>
            </a:pP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                    </a:t>
            </a: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if</a:t>
            </a: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(np.random.random() &lt; </a:t>
            </a: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self</a:t>
            </a: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.eps):</a:t>
            </a:r>
            <a:endParaRPr sz="7200">
              <a:solidFill>
                <a:schemeClr val="tx1"/>
              </a:solidFill>
            </a:endParaRPr>
          </a:p>
          <a:p>
            <a:pPr marL="0" indent="0">
              <a:buFont typeface="Arial"/>
              <a:buNone/>
              <a:defRPr/>
            </a:pP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                        action = </a:t>
            </a: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self</a:t>
            </a: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.models[agent_id].action_space.sample()</a:t>
            </a:r>
            <a:endParaRPr sz="7200">
              <a:solidFill>
                <a:schemeClr val="tx1"/>
              </a:solidFill>
            </a:endParaRPr>
          </a:p>
          <a:p>
            <a:pPr marL="0" indent="0">
              <a:buFont typeface="Arial"/>
              <a:buNone/>
              <a:defRPr/>
            </a:pP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                    </a:t>
            </a: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else</a:t>
            </a: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:</a:t>
            </a:r>
            <a:endParaRPr sz="7200">
              <a:solidFill>
                <a:schemeClr val="tx1"/>
              </a:solidFill>
            </a:endParaRPr>
          </a:p>
          <a:p>
            <a:pPr marL="0" indent="0">
              <a:buFont typeface="Arial"/>
              <a:buNone/>
              <a:defRPr/>
            </a:pP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                        action, _ = </a:t>
            </a: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self</a:t>
            </a: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.models[agent_id].predict(obs[agent_id], deterministic=</a:t>
            </a: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False</a:t>
            </a: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)</a:t>
            </a:r>
            <a:endParaRPr sz="1400" b="0" i="0" u="none">
              <a:solidFill>
                <a:schemeClr val="tx1"/>
              </a:solidFill>
              <a:latin typeface="Droid Sans Mono"/>
              <a:ea typeface="Droid Sans Mono"/>
              <a:cs typeface="Droid Sans Mono"/>
            </a:endParaRPr>
          </a:p>
          <a:p>
            <a:pPr marL="0" indent="0">
              <a:buFont typeface="Arial"/>
              <a:buNone/>
              <a:defRPr/>
            </a:pPr>
            <a:endParaRPr sz="1400" b="0" i="0" u="none">
              <a:solidFill>
                <a:schemeClr val="tx1"/>
              </a:solidFill>
              <a:latin typeface="Droid Sans Mono"/>
              <a:ea typeface="Droid Sans Mono"/>
              <a:cs typeface="Droid Sans Mono"/>
            </a:endParaRPr>
          </a:p>
          <a:p>
            <a:pPr marL="0" indent="0">
              <a:buFont typeface="Arial"/>
              <a:buNone/>
              <a:defRPr/>
            </a:pP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                    actions_encoded[agent_id] = action</a:t>
            </a:r>
            <a:endParaRPr sz="7200">
              <a:solidFill>
                <a:schemeClr val="tx1"/>
              </a:solidFill>
            </a:endParaRPr>
          </a:p>
          <a:p>
            <a:pPr marL="0" indent="0">
              <a:buFont typeface="Arial"/>
              <a:buNone/>
              <a:defRPr/>
            </a:pP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                    actions[agent_id] = </a:t>
            </a: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self</a:t>
            </a:r>
            <a:r>
              <a:rPr sz="1400" b="0" i="0" u="none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.decode(action)</a:t>
            </a:r>
            <a:endParaRPr/>
          </a:p>
          <a:p>
            <a:pPr marL="0" indent="0">
              <a:buFont typeface="Arial"/>
              <a:buNone/>
              <a:defRPr/>
            </a:pPr>
            <a:endParaRPr/>
          </a:p>
          <a:p>
            <a:pPr marL="0" indent="0">
              <a:buFont typeface="Arial"/>
              <a:buNone/>
              <a:defRPr/>
            </a:pPr>
            <a:r>
              <a:rPr/>
              <a:t>For every agent,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action</a:t>
            </a:r>
            <a:r>
              <a:rPr/>
              <a:t> is chosen using </a:t>
            </a:r>
            <a:r>
              <a:rPr>
                <a:latin typeface="Asana Math"/>
                <a:ea typeface="Asana Math"/>
                <a:cs typeface="Asana Math"/>
              </a:rPr>
              <a:t>𝛆</a:t>
            </a:r>
            <a:r>
              <a:rPr/>
              <a:t>-greedy strategy</a:t>
            </a:r>
            <a:endParaRPr/>
          </a:p>
        </p:txBody>
      </p:sp>
      <p:sp>
        <p:nvSpPr>
          <p:cNvPr id="1877401779" name=""/>
          <p:cNvSpPr/>
          <p:nvPr/>
        </p:nvSpPr>
        <p:spPr bwMode="auto">
          <a:xfrm rot="0" flipH="0" flipV="0">
            <a:off x="801160" y="1768928"/>
            <a:ext cx="4524374" cy="357187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9569102" name="Titolo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365124"/>
            <a:ext cx="11216463" cy="1325562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sz="4400"/>
              <a:t>Parallelization for action selection</a:t>
            </a:r>
            <a:endParaRPr sz="4800"/>
          </a:p>
        </p:txBody>
      </p:sp>
      <p:sp>
        <p:nvSpPr>
          <p:cNvPr id="677310803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838198" y="1825624"/>
            <a:ext cx="10515600" cy="465870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400"/>
              <a:t>Library: </a:t>
            </a:r>
            <a:r>
              <a:rPr sz="2400" i="1"/>
              <a:t>concurrent.futures</a:t>
            </a:r>
            <a:endParaRPr sz="2400" i="1"/>
          </a:p>
          <a:p>
            <a:pPr>
              <a:defRPr/>
            </a:pPr>
            <a:r>
              <a:rPr sz="2400" i="1"/>
              <a:t>ThreadPoolExecutor</a:t>
            </a:r>
            <a:r>
              <a:rPr sz="2400" i="0"/>
              <a:t> </a:t>
            </a:r>
            <a:r>
              <a:rPr sz="2400" i="0"/>
              <a:t>with num_agents workers or </a:t>
            </a:r>
            <a:r>
              <a:rPr sz="2400" i="1"/>
              <a:t>ProcessPoolExecutor </a:t>
            </a:r>
            <a:r>
              <a:rPr sz="2400" i="0"/>
              <a:t>with cpu_cores workers</a:t>
            </a:r>
            <a:endParaRPr sz="2400" i="0"/>
          </a:p>
          <a:p>
            <a:pPr>
              <a:defRPr/>
            </a:pPr>
            <a:r>
              <a:rPr sz="2400" i="0"/>
              <a:t>Differentiation between use of processes and threads</a:t>
            </a:r>
            <a:endParaRPr sz="2400" i="0"/>
          </a:p>
          <a:p>
            <a:pPr>
              <a:defRPr/>
            </a:pPr>
            <a:r>
              <a:rPr sz="2400" i="0"/>
              <a:t>Limitations due to Global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Interpreter </a:t>
            </a:r>
            <a:r>
              <a:rPr sz="2400" i="0"/>
              <a:t>Lock of Python</a:t>
            </a:r>
            <a:br>
              <a:rPr sz="2400" i="0"/>
            </a:br>
            <a:endParaRPr sz="2400" i="0"/>
          </a:p>
          <a:p>
            <a:pPr marL="0" indent="0">
              <a:buFont typeface="Arial"/>
              <a:buNone/>
              <a:defRPr/>
            </a:pPr>
            <a:endParaRPr sz="2400" i="0"/>
          </a:p>
        </p:txBody>
      </p:sp>
      <p:sp>
        <p:nvSpPr>
          <p:cNvPr id="1881331910" name=""/>
          <p:cNvSpPr txBox="1"/>
          <p:nvPr/>
        </p:nvSpPr>
        <p:spPr bwMode="auto">
          <a:xfrm rot="0" flipH="0" flipV="0">
            <a:off x="1027643" y="4158027"/>
            <a:ext cx="10423267" cy="2438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indent="0">
              <a:buFont typeface="Arial"/>
              <a:buNone/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self</a:t>
            </a:r>
            <a:r>
              <a:rPr lang="it-IT" sz="1400" b="0" i="0" u="none" strike="noStrike" cap="none" spc="0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.executor = ThreadPoolExecutor(max_workers= </a:t>
            </a:r>
            <a:r>
              <a:rPr lang="it-IT" sz="1400" b="0" i="0" u="none" strike="noStrike" cap="none" spc="0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self</a:t>
            </a:r>
            <a:r>
              <a:rPr lang="it-IT" sz="1400" b="0" i="0" u="none" strike="noStrike" cap="none" spc="0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._max_workers)</a:t>
            </a:r>
            <a:endParaRPr sz="1400" b="0" i="0" u="none">
              <a:solidFill>
                <a:schemeClr val="tx1"/>
              </a:solidFill>
              <a:latin typeface="Droid Sans Mono"/>
              <a:ea typeface="Droid Sans Mono"/>
              <a:cs typeface="Droid Sans Mono"/>
            </a:endParaRPr>
          </a:p>
          <a:p>
            <a:pPr marL="0" indent="0">
              <a:buFont typeface="Arial"/>
              <a:buNone/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...</a:t>
            </a:r>
            <a:endParaRPr sz="1400" i="0">
              <a:solidFill>
                <a:schemeClr val="tx1"/>
              </a:solidFill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futures = [</a:t>
            </a:r>
            <a:endParaRPr lang="it-IT" sz="14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	</a:t>
            </a:r>
            <a:r>
              <a:rPr lang="it-IT" sz="1400" b="0" i="0" u="none" strike="noStrike" cap="none" spc="0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self</a:t>
            </a:r>
            <a:r>
              <a:rPr lang="it-IT" sz="1400" b="0" i="0" u="none" strike="noStrike" cap="none" spc="0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.executor.submit(</a:t>
            </a:r>
            <a:r>
              <a:rPr lang="it-IT" sz="1400" b="0" i="0" u="none" strike="noStrike" cap="none" spc="0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self</a:t>
            </a:r>
            <a:r>
              <a:rPr lang="it-IT" sz="1400" b="0" i="0" u="none" strike="noStrike" cap="none" spc="0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.get_action_single_thread, agent_id, observations[agent_id])</a:t>
            </a:r>
            <a:endParaRPr sz="1400">
              <a:solidFill>
                <a:schemeClr val="tx1"/>
              </a:solidFill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	</a:t>
            </a:r>
            <a:r>
              <a:rPr lang="it-IT" sz="1400" b="0" i="0" u="none" strike="noStrike" cap="none" spc="0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for</a:t>
            </a:r>
            <a:r>
              <a:rPr lang="it-IT" sz="1400" b="0" i="0" u="none" strike="noStrike" cap="none" spc="0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 agent_id </a:t>
            </a:r>
            <a:r>
              <a:rPr lang="it-IT" sz="1400" b="0" i="0" u="none" strike="noStrike" cap="none" spc="0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in</a:t>
            </a:r>
            <a:r>
              <a:rPr lang="it-IT" sz="1400" b="0" i="0" u="none" strike="noStrike" cap="none" spc="0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 range(</a:t>
            </a:r>
            <a:r>
              <a:rPr lang="it-IT" sz="1400" b="0" i="0" u="none" strike="noStrike" cap="none" spc="0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self</a:t>
            </a:r>
            <a:r>
              <a:rPr lang="it-IT" sz="1400" b="0" i="0" u="none" strike="noStrike" cap="none" spc="0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.num_agents)</a:t>
            </a:r>
            <a:endParaRPr sz="1400">
              <a:solidFill>
                <a:schemeClr val="tx1"/>
              </a:solidFill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        ]</a:t>
            </a:r>
            <a:endParaRPr sz="1400">
              <a:solidFill>
                <a:schemeClr val="tx1"/>
              </a:solidFill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for</a:t>
            </a:r>
            <a:r>
              <a:rPr lang="it-IT" sz="1400" b="0" i="0" u="none" strike="noStrike" cap="none" spc="0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 future </a:t>
            </a:r>
            <a:r>
              <a:rPr lang="it-IT" sz="1400" b="0" i="0" u="none" strike="noStrike" cap="none" spc="0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in</a:t>
            </a:r>
            <a:r>
              <a:rPr lang="it-IT" sz="1400" b="0" i="0" u="none" strike="noStrike" cap="none" spc="0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 futures:</a:t>
            </a:r>
            <a:endParaRPr sz="1400">
              <a:solidFill>
                <a:schemeClr val="tx1"/>
              </a:solidFill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	agent_id, action_encoded = future.result()</a:t>
            </a:r>
            <a:endParaRPr sz="1400">
              <a:solidFill>
                <a:schemeClr val="tx1"/>
              </a:solidFill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	actions_encoded[agent_id] = action_encoded</a:t>
            </a:r>
            <a:endParaRPr sz="1400">
              <a:solidFill>
                <a:schemeClr val="tx1"/>
              </a:solidFill>
            </a:endParaRPr>
          </a:p>
          <a:p>
            <a:pPr>
              <a:defRPr/>
            </a:pPr>
            <a:r>
              <a:rPr lang="it-IT" sz="1400" b="0" i="0" u="none" strike="noStrike" cap="none" spc="0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	actions[agent_id] = </a:t>
            </a:r>
            <a:r>
              <a:rPr lang="it-IT" sz="1400" b="0" i="0" u="none" strike="noStrike" cap="none" spc="0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self</a:t>
            </a:r>
            <a:r>
              <a:rPr lang="it-IT" sz="1400" b="0" i="0" u="none" strike="noStrike" cap="none" spc="0">
                <a:solidFill>
                  <a:schemeClr val="tx1"/>
                </a:solidFill>
                <a:latin typeface="Droid Sans Mono"/>
                <a:ea typeface="Droid Sans Mono"/>
                <a:cs typeface="Droid Sans Mono"/>
              </a:rPr>
              <a:t>.decode(action_encoded)</a:t>
            </a:r>
            <a:endParaRPr sz="1400"/>
          </a:p>
          <a:p>
            <a:pPr>
              <a:defRPr/>
            </a:pPr>
            <a:r>
              <a:rPr sz="1400"/>
              <a:t>...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6113045" name="Titolo 1"/>
          <p:cNvSpPr>
            <a:spLocks noGrp="1"/>
          </p:cNvSpPr>
          <p:nvPr>
            <p:ph type="title"/>
          </p:nvPr>
        </p:nvSpPr>
        <p:spPr bwMode="auto">
          <a:xfrm>
            <a:off x="929786" y="365124"/>
            <a:ext cx="10515600" cy="1325562"/>
          </a:xfrm>
        </p:spPr>
        <p:txBody>
          <a:bodyPr/>
          <a:lstStyle/>
          <a:p>
            <a:pPr>
              <a:defRPr/>
            </a:pPr>
            <a:r>
              <a:rPr/>
              <a:t>Time comparison</a:t>
            </a:r>
            <a:endParaRPr/>
          </a:p>
        </p:txBody>
      </p:sp>
      <p:pic>
        <p:nvPicPr>
          <p:cNvPr id="77146465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83173" y="1923317"/>
            <a:ext cx="5716874" cy="4438649"/>
          </a:xfrm>
          <a:prstGeom prst="rect">
            <a:avLst/>
          </a:prstGeom>
        </p:spPr>
      </p:pic>
      <p:pic>
        <p:nvPicPr>
          <p:cNvPr id="129592281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6321345" y="1923317"/>
            <a:ext cx="5731442" cy="44386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2079111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Adoption of GPU</a:t>
            </a:r>
            <a:endParaRPr/>
          </a:p>
        </p:txBody>
      </p:sp>
      <p:sp>
        <p:nvSpPr>
          <p:cNvPr id="1939014970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838197" y="1917210"/>
            <a:ext cx="11106561" cy="4351338"/>
          </a:xfrm>
        </p:spPr>
        <p:txBody>
          <a:bodyPr/>
          <a:lstStyle/>
          <a:p>
            <a:pPr>
              <a:lnSpc>
                <a:spcPct val="114999"/>
              </a:lnSpc>
              <a:defRPr/>
            </a:pPr>
            <a:r>
              <a:rPr/>
              <a:t>Taking advantage of NVIDIA GPU in order to speedup calculations</a:t>
            </a:r>
            <a:endParaRPr/>
          </a:p>
          <a:p>
            <a:pPr>
              <a:lnSpc>
                <a:spcPct val="114999"/>
              </a:lnSpc>
              <a:defRPr/>
            </a:pPr>
            <a:r>
              <a:rPr/>
              <a:t>Up to # gpu cores for batch size for each agent before saturation</a:t>
            </a:r>
            <a:endParaRPr/>
          </a:p>
          <a:p>
            <a:pPr>
              <a:lnSpc>
                <a:spcPct val="114999"/>
              </a:lnSpc>
              <a:defRPr/>
            </a:pPr>
            <a:r>
              <a:rPr/>
              <a:t>Exploitation of </a:t>
            </a:r>
            <a:r>
              <a:rPr i="1"/>
              <a:t>Cuda</a:t>
            </a:r>
            <a:r>
              <a:rPr i="0"/>
              <a:t> for parallelizing operations of training</a:t>
            </a:r>
            <a:endParaRPr i="0"/>
          </a:p>
          <a:p>
            <a:pPr>
              <a:lnSpc>
                <a:spcPct val="114999"/>
              </a:lnSpc>
              <a:defRPr/>
            </a:pPr>
            <a:r>
              <a:rPr i="0"/>
              <a:t>Note: it is needed a downgrade of some libraries due to Pascal architecture (sm_61) of MX330 and GTX1050</a:t>
            </a:r>
            <a:endParaRPr i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2938529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Time comparison</a:t>
            </a:r>
            <a:endParaRPr/>
          </a:p>
        </p:txBody>
      </p:sp>
      <p:pic>
        <p:nvPicPr>
          <p:cNvPr id="14460274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42875" y="1776778"/>
            <a:ext cx="5633751" cy="4200525"/>
          </a:xfrm>
          <a:prstGeom prst="rect">
            <a:avLst/>
          </a:prstGeom>
        </p:spPr>
      </p:pic>
      <p:pic>
        <p:nvPicPr>
          <p:cNvPr id="211271225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6187585" y="1766699"/>
            <a:ext cx="5647268" cy="421060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128917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CPU vs GPU</a:t>
            </a:r>
            <a:endParaRPr/>
          </a:p>
        </p:txBody>
      </p:sp>
      <p:pic>
        <p:nvPicPr>
          <p:cNvPr id="152278682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149375" y="1465383"/>
            <a:ext cx="5946721" cy="4433875"/>
          </a:xfrm>
          <a:prstGeom prst="rect">
            <a:avLst/>
          </a:prstGeom>
        </p:spPr>
      </p:pic>
      <p:pic>
        <p:nvPicPr>
          <p:cNvPr id="118005658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91586" y="1465383"/>
            <a:ext cx="5716873" cy="4438649"/>
          </a:xfrm>
          <a:prstGeom prst="rect">
            <a:avLst/>
          </a:prstGeom>
        </p:spPr>
      </p:pic>
      <p:sp>
        <p:nvSpPr>
          <p:cNvPr id="1130148937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669365" y="6056922"/>
            <a:ext cx="10960021" cy="62889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 marL="0" indent="0">
              <a:buFont typeface="Arial"/>
              <a:buNone/>
              <a:defRPr/>
            </a:pPr>
            <a:r>
              <a:rPr sz="2600"/>
              <a:t>Serialized action decision and GPU usage “outsmarts” other combinations</a:t>
            </a:r>
            <a:endParaRPr sz="2600"/>
          </a:p>
        </p:txBody>
      </p:sp>
      <p:sp>
        <p:nvSpPr>
          <p:cNvPr id="326734276" name=""/>
          <p:cNvSpPr/>
          <p:nvPr/>
        </p:nvSpPr>
        <p:spPr bwMode="auto">
          <a:xfrm rot="0" flipH="0" flipV="0">
            <a:off x="5332211" y="1850047"/>
            <a:ext cx="384663" cy="219806"/>
          </a:xfrm>
          <a:prstGeom prst="rect">
            <a:avLst/>
          </a:prstGeom>
          <a:solidFill>
            <a:schemeClr val="accent4">
              <a:alpha val="3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9230659" name=""/>
          <p:cNvSpPr/>
          <p:nvPr/>
        </p:nvSpPr>
        <p:spPr bwMode="auto">
          <a:xfrm rot="0" flipH="0" flipV="0">
            <a:off x="11592751" y="1850047"/>
            <a:ext cx="384662" cy="219806"/>
          </a:xfrm>
          <a:prstGeom prst="rect">
            <a:avLst/>
          </a:prstGeom>
          <a:solidFill>
            <a:srgbClr val="AB488A">
              <a:alpha val="30000"/>
            </a:srgb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6307913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Other metrics comparison	</a:t>
            </a:r>
            <a:endParaRPr/>
          </a:p>
        </p:txBody>
      </p:sp>
      <p:sp>
        <p:nvSpPr>
          <p:cNvPr id="736330066" name="Segnaposto contenuto 2"/>
          <p:cNvSpPr>
            <a:spLocks noGrp="1"/>
          </p:cNvSpPr>
          <p:nvPr>
            <p:ph idx="1"/>
          </p:nvPr>
        </p:nvSpPr>
        <p:spPr bwMode="auto">
          <a:xfrm>
            <a:off x="838198" y="1550865"/>
            <a:ext cx="10515600" cy="4351338"/>
          </a:xfrm>
        </p:spPr>
        <p:txBody>
          <a:bodyPr/>
          <a:lstStyle/>
          <a:p>
            <a:pPr>
              <a:defRPr/>
            </a:pPr>
            <a:r>
              <a:rPr sz="2600"/>
              <a:t>Using GPU instead of CPU leads to no differences in terms of the usual metrics tracked during training (ex. rewards)</a:t>
            </a:r>
            <a:r>
              <a:rPr sz="2600"/>
              <a:t>:</a:t>
            </a:r>
            <a:endParaRPr/>
          </a:p>
        </p:txBody>
      </p:sp>
      <p:pic>
        <p:nvPicPr>
          <p:cNvPr id="2069281170" name=""/>
          <p:cNvPicPr>
            <a:picLocks noChangeAspect="1"/>
          </p:cNvPicPr>
          <p:nvPr/>
        </p:nvPicPr>
        <p:blipFill rotWithShape="1">
          <a:blip r:embed="rId3"/>
          <a:srcRect l="0" t="0" r="0" b="5495"/>
          <a:stretch/>
        </p:blipFill>
        <p:spPr bwMode="auto">
          <a:xfrm flipH="0" flipV="0">
            <a:off x="159883" y="2687410"/>
            <a:ext cx="5559466" cy="3917285"/>
          </a:xfrm>
          <a:prstGeom prst="rect">
            <a:avLst/>
          </a:prstGeom>
        </p:spPr>
      </p:pic>
      <p:pic>
        <p:nvPicPr>
          <p:cNvPr id="729143489" name=""/>
          <p:cNvPicPr>
            <a:picLocks noChangeAspect="1"/>
          </p:cNvPicPr>
          <p:nvPr/>
        </p:nvPicPr>
        <p:blipFill rotWithShape="1">
          <a:blip r:embed="rId4"/>
          <a:srcRect l="0" t="0" r="0" b="5909"/>
          <a:stretch/>
        </p:blipFill>
        <p:spPr bwMode="auto">
          <a:xfrm flipH="0" flipV="0">
            <a:off x="6257975" y="2691548"/>
            <a:ext cx="5701042" cy="3999499"/>
          </a:xfrm>
          <a:prstGeom prst="rect">
            <a:avLst/>
          </a:prstGeom>
        </p:spPr>
      </p:pic>
      <p:sp>
        <p:nvSpPr>
          <p:cNvPr id="1848795248" name=""/>
          <p:cNvSpPr txBox="1"/>
          <p:nvPr/>
        </p:nvSpPr>
        <p:spPr bwMode="auto">
          <a:xfrm rot="0" flipH="0" flipV="0">
            <a:off x="716248" y="2582739"/>
            <a:ext cx="916585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CPU</a:t>
            </a:r>
            <a:endParaRPr/>
          </a:p>
        </p:txBody>
      </p:sp>
      <p:sp>
        <p:nvSpPr>
          <p:cNvPr id="710992544" name=""/>
          <p:cNvSpPr txBox="1"/>
          <p:nvPr/>
        </p:nvSpPr>
        <p:spPr bwMode="auto">
          <a:xfrm rot="0" flipH="0" flipV="0">
            <a:off x="6840091" y="2582739"/>
            <a:ext cx="917664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GPU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0392214" name="Titolo 1"/>
          <p:cNvSpPr>
            <a:spLocks noGrp="1"/>
          </p:cNvSpPr>
          <p:nvPr>
            <p:ph type="ctrTitle"/>
          </p:nvPr>
        </p:nvSpPr>
        <p:spPr bwMode="auto">
          <a:xfrm>
            <a:off x="1523999" y="1122363"/>
            <a:ext cx="9144000" cy="2387599"/>
          </a:xfrm>
        </p:spPr>
        <p:txBody>
          <a:bodyPr/>
          <a:lstStyle>
            <a:lvl1pPr algn="ctr">
              <a:defRPr sz="6000"/>
            </a:lvl1pPr>
          </a:lstStyle>
          <a:p>
            <a:pPr>
              <a:defRPr/>
            </a:pPr>
            <a:r>
              <a:rPr/>
              <a:t>Information remotion from observation</a:t>
            </a:r>
            <a:endParaRPr/>
          </a:p>
        </p:txBody>
      </p:sp>
      <p:sp>
        <p:nvSpPr>
          <p:cNvPr id="1219004626" name="Sottotitolo 2"/>
          <p:cNvSpPr>
            <a:spLocks noGrp="1"/>
          </p:cNvSpPr>
          <p:nvPr>
            <p:ph type="subTitle" idx="1"/>
          </p:nvPr>
        </p:nvSpPr>
        <p:spPr bwMode="auto">
          <a:xfrm>
            <a:off x="1523999" y="4059970"/>
            <a:ext cx="9144000" cy="1655761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/>
              <a:t>Lorenzo Pecorari - 1885161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2419187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Main goal</a:t>
            </a:r>
            <a:endParaRPr/>
          </a:p>
        </p:txBody>
      </p:sp>
      <p:sp>
        <p:nvSpPr>
          <p:cNvPr id="141121998" name="Segnaposto contenuto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lnSpc>
                <a:spcPct val="114999"/>
              </a:lnSpc>
              <a:defRPr/>
            </a:pPr>
            <a:r>
              <a:rPr/>
              <a:t>Removing some information from observation in order to check behavior of agents with weaker knowledge about the system</a:t>
            </a:r>
            <a:endParaRPr/>
          </a:p>
          <a:p>
            <a:pPr>
              <a:lnSpc>
                <a:spcPct val="114999"/>
              </a:lnSpc>
              <a:defRPr/>
            </a:pPr>
            <a:r>
              <a:rPr/>
              <a:t>From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s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= [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τ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m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</m:t>
                      </m:r>
                    </m:oMath>
                  </m:oMathPara>
                </a14:m>
              </mc:Choice>
              <mc:Fallback/>
            </mc:AlternateContent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</m:t>
                      </m:r>
                    </m:oMath>
                  </m:oMathPara>
                </a14:m>
              </mc:Choice>
              <mc:Fallback/>
            </mc:AlternateContent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]</a:t>
            </a:r>
            <a:endParaRPr/>
          </a:p>
          <a:p>
            <a:pPr>
              <a:lnSpc>
                <a:spcPct val="114999"/>
              </a:lnSpc>
              <a:defRPr/>
            </a:pPr>
            <a:r>
              <a:rPr/>
              <a:t>To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s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= [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τ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</m:t>
                      </m:r>
                    </m:oMath>
                  </m:oMathPara>
                </a14:m>
              </mc:Choice>
              <mc:Fallback/>
            </mc:AlternateContent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</m:t>
                      </m:r>
                    </m:oMath>
                  </m:oMathPara>
                </a14:m>
              </mc:Choice>
              <mc:Fallback/>
            </mc:AlternateContent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]</a:t>
            </a:r>
            <a:endParaRPr/>
          </a:p>
          <a:p>
            <a:pPr>
              <a:lnSpc>
                <a:spcPct val="114999"/>
              </a:lnSpc>
              <a:defRPr/>
            </a:pPr>
            <a:r>
              <a:rPr/>
              <a:t>Only mean battery level and mean storage level are available</a:t>
            </a:r>
            <a:endParaRPr/>
          </a:p>
          <a:p>
            <a:pPr>
              <a:lnSpc>
                <a:spcPct val="114999"/>
              </a:lnSpc>
              <a:defRPr/>
            </a:pPr>
            <a:r>
              <a:rPr/>
              <a:t>During tests, this attempt will be called “Reduced states”</a:t>
            </a:r>
            <a:endParaRPr/>
          </a:p>
          <a:p>
            <a:pPr>
              <a:lnSpc>
                <a:spcPct val="114999"/>
              </a:lnSpc>
              <a:defRPr/>
            </a:pPr>
            <a:r>
              <a:rPr/>
              <a:t>Tests done with DQN, day 355 and 5 agents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7474664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Time comparison</a:t>
            </a:r>
            <a:endParaRPr/>
          </a:p>
        </p:txBody>
      </p:sp>
      <p:pic>
        <p:nvPicPr>
          <p:cNvPr id="178432820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714375" y="1690687"/>
            <a:ext cx="5071510" cy="3686907"/>
          </a:xfrm>
          <a:prstGeom prst="rect">
            <a:avLst/>
          </a:prstGeom>
        </p:spPr>
      </p:pic>
      <p:pic>
        <p:nvPicPr>
          <p:cNvPr id="564170719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6319470" y="1626577"/>
            <a:ext cx="5247884" cy="3815128"/>
          </a:xfrm>
          <a:prstGeom prst="rect">
            <a:avLst/>
          </a:prstGeom>
        </p:spPr>
      </p:pic>
      <p:sp>
        <p:nvSpPr>
          <p:cNvPr id="1748645255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838198" y="5696682"/>
            <a:ext cx="10729155" cy="75100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/>
              <a:t>Slightly higher required time for formulation with less information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9935865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Rewards - detail</a:t>
            </a:r>
            <a:endParaRPr/>
          </a:p>
        </p:txBody>
      </p:sp>
      <p:pic>
        <p:nvPicPr>
          <p:cNvPr id="159516116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150951" y="2386745"/>
            <a:ext cx="5953124" cy="4438649"/>
          </a:xfrm>
          <a:prstGeom prst="rect">
            <a:avLst/>
          </a:prstGeom>
        </p:spPr>
      </p:pic>
      <p:pic>
        <p:nvPicPr>
          <p:cNvPr id="310582989" name=""/>
          <p:cNvPicPr>
            <a:picLocks noChangeAspect="1"/>
          </p:cNvPicPr>
          <p:nvPr/>
        </p:nvPicPr>
        <p:blipFill rotWithShape="1">
          <a:blip r:embed="rId4"/>
          <a:srcRect l="0" t="0" r="0" b="5909"/>
          <a:stretch/>
        </p:blipFill>
        <p:spPr bwMode="auto">
          <a:xfrm flipH="0" flipV="0">
            <a:off x="-40298" y="2386744"/>
            <a:ext cx="5953124" cy="4176345"/>
          </a:xfrm>
          <a:prstGeom prst="rect">
            <a:avLst/>
          </a:prstGeom>
        </p:spPr>
      </p:pic>
      <p:sp>
        <p:nvSpPr>
          <p:cNvPr id="1893420336" name=""/>
          <p:cNvSpPr txBox="1"/>
          <p:nvPr/>
        </p:nvSpPr>
        <p:spPr bwMode="auto">
          <a:xfrm rot="0" flipH="0" flipV="0">
            <a:off x="2276481" y="1758461"/>
            <a:ext cx="168627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BEFORE</a:t>
            </a:r>
            <a:endParaRPr/>
          </a:p>
        </p:txBody>
      </p:sp>
      <p:sp>
        <p:nvSpPr>
          <p:cNvPr id="595587596" name=""/>
          <p:cNvSpPr txBox="1"/>
          <p:nvPr/>
        </p:nvSpPr>
        <p:spPr bwMode="auto">
          <a:xfrm rot="0" flipH="0" flipV="0">
            <a:off x="8284197" y="1745865"/>
            <a:ext cx="168843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AFTER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7584953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Rewards </a:t>
            </a:r>
            <a:r>
              <a:rPr/>
              <a:t>- average</a:t>
            </a:r>
            <a:endParaRPr/>
          </a:p>
        </p:txBody>
      </p:sp>
      <p:pic>
        <p:nvPicPr>
          <p:cNvPr id="55572623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757309" y="1690687"/>
            <a:ext cx="6000750" cy="4362449"/>
          </a:xfrm>
          <a:prstGeom prst="rect">
            <a:avLst/>
          </a:prstGeom>
        </p:spPr>
      </p:pic>
      <p:sp>
        <p:nvSpPr>
          <p:cNvPr id="726432101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838198" y="1825624"/>
            <a:ext cx="4919109" cy="4351338"/>
          </a:xfrm>
        </p:spPr>
        <p:txBody>
          <a:bodyPr/>
          <a:lstStyle/>
          <a:p>
            <a:pPr>
              <a:lnSpc>
                <a:spcPct val="114999"/>
              </a:lnSpc>
              <a:defRPr/>
            </a:pPr>
            <a:r>
              <a:rPr/>
              <a:t>Average of rewards of 5 agents for each episode</a:t>
            </a:r>
            <a:endParaRPr/>
          </a:p>
          <a:p>
            <a:pPr>
              <a:lnSpc>
                <a:spcPct val="114999"/>
              </a:lnSpc>
              <a:defRPr/>
            </a:pPr>
            <a:r>
              <a:rPr/>
              <a:t>Less stable rewards for configuration with reduced information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7557290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Backlogs</a:t>
            </a:r>
            <a:endParaRPr/>
          </a:p>
        </p:txBody>
      </p:sp>
      <p:sp>
        <p:nvSpPr>
          <p:cNvPr id="778977144" name=""/>
          <p:cNvSpPr txBox="1"/>
          <p:nvPr/>
        </p:nvSpPr>
        <p:spPr bwMode="auto">
          <a:xfrm rot="0" flipH="0" flipV="0">
            <a:off x="2276480" y="1758460"/>
            <a:ext cx="1686271" cy="3661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BEFORE</a:t>
            </a:r>
            <a:endParaRPr/>
          </a:p>
        </p:txBody>
      </p:sp>
      <p:sp>
        <p:nvSpPr>
          <p:cNvPr id="809805441" name=""/>
          <p:cNvSpPr txBox="1"/>
          <p:nvPr/>
        </p:nvSpPr>
        <p:spPr bwMode="auto">
          <a:xfrm rot="0" flipH="0" flipV="0">
            <a:off x="8284197" y="1745865"/>
            <a:ext cx="1688430" cy="3661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AFTER</a:t>
            </a:r>
            <a:endParaRPr/>
          </a:p>
        </p:txBody>
      </p:sp>
      <p:pic>
        <p:nvPicPr>
          <p:cNvPr id="130947208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136297" y="2255959"/>
            <a:ext cx="5953124" cy="4438649"/>
          </a:xfrm>
          <a:prstGeom prst="rect">
            <a:avLst/>
          </a:prstGeom>
        </p:spPr>
      </p:pic>
      <p:pic>
        <p:nvPicPr>
          <p:cNvPr id="1196784129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73269" y="2326298"/>
            <a:ext cx="5953124" cy="44386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180889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Batteries</a:t>
            </a:r>
            <a:endParaRPr/>
          </a:p>
        </p:txBody>
      </p:sp>
      <p:sp>
        <p:nvSpPr>
          <p:cNvPr id="1904607826" name=""/>
          <p:cNvSpPr txBox="1"/>
          <p:nvPr/>
        </p:nvSpPr>
        <p:spPr bwMode="auto">
          <a:xfrm rot="0" flipH="0" flipV="0">
            <a:off x="2276480" y="1758460"/>
            <a:ext cx="168663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BEFORE</a:t>
            </a:r>
            <a:endParaRPr/>
          </a:p>
        </p:txBody>
      </p:sp>
      <p:sp>
        <p:nvSpPr>
          <p:cNvPr id="1612585173" name=""/>
          <p:cNvSpPr txBox="1"/>
          <p:nvPr/>
        </p:nvSpPr>
        <p:spPr bwMode="auto">
          <a:xfrm rot="0" flipH="0" flipV="0">
            <a:off x="8284197" y="1745865"/>
            <a:ext cx="168879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AFTER</a:t>
            </a:r>
            <a:endParaRPr/>
          </a:p>
        </p:txBody>
      </p:sp>
      <p:pic>
        <p:nvPicPr>
          <p:cNvPr id="160078545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42875" y="2219324"/>
            <a:ext cx="5953124" cy="4438649"/>
          </a:xfrm>
          <a:prstGeom prst="rect">
            <a:avLst/>
          </a:prstGeom>
        </p:spPr>
      </p:pic>
      <p:pic>
        <p:nvPicPr>
          <p:cNvPr id="1192852208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152030" y="2219324"/>
            <a:ext cx="5953124" cy="44386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381792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Framerates</a:t>
            </a:r>
            <a:endParaRPr/>
          </a:p>
        </p:txBody>
      </p:sp>
      <p:pic>
        <p:nvPicPr>
          <p:cNvPr id="194567708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044711" y="2219324"/>
            <a:ext cx="5953124" cy="4438649"/>
          </a:xfrm>
          <a:prstGeom prst="rect">
            <a:avLst/>
          </a:prstGeom>
        </p:spPr>
      </p:pic>
      <p:pic>
        <p:nvPicPr>
          <p:cNvPr id="159984264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91586" y="2255959"/>
            <a:ext cx="5953124" cy="4438649"/>
          </a:xfrm>
          <a:prstGeom prst="rect">
            <a:avLst/>
          </a:prstGeom>
        </p:spPr>
      </p:pic>
      <p:sp>
        <p:nvSpPr>
          <p:cNvPr id="1260290647" name=""/>
          <p:cNvSpPr txBox="1"/>
          <p:nvPr/>
        </p:nvSpPr>
        <p:spPr bwMode="auto">
          <a:xfrm rot="0" flipH="0" flipV="0">
            <a:off x="2276480" y="1758460"/>
            <a:ext cx="168699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BEFORE</a:t>
            </a:r>
            <a:endParaRPr/>
          </a:p>
        </p:txBody>
      </p:sp>
      <p:sp>
        <p:nvSpPr>
          <p:cNvPr id="1289662905" name=""/>
          <p:cNvSpPr txBox="1"/>
          <p:nvPr/>
        </p:nvSpPr>
        <p:spPr bwMode="auto">
          <a:xfrm rot="0" flipH="0" flipV="0">
            <a:off x="8284196" y="1745865"/>
            <a:ext cx="168915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AFTER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4603538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Extra: test with 10 agents</a:t>
            </a:r>
            <a:endParaRPr/>
          </a:p>
        </p:txBody>
      </p:sp>
      <p:sp>
        <p:nvSpPr>
          <p:cNvPr id="259603494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sz="2600"/>
              <a:t>Attempt to reproduce the previous tests with double the number of agents</a:t>
            </a:r>
            <a:endParaRPr sz="2600"/>
          </a:p>
          <a:p>
            <a:pPr>
              <a:defRPr/>
            </a:pPr>
            <a:r>
              <a:rPr sz="2600"/>
              <a:t>Run with 1000 episodes and ~50% of them used for exploration</a:t>
            </a:r>
            <a:endParaRPr sz="2600"/>
          </a:p>
          <a:p>
            <a:pPr>
              <a:defRPr/>
            </a:pPr>
            <a:r>
              <a:rPr sz="2600"/>
              <a:t>Less episodes for each run due to long time required (~3 h)</a:t>
            </a:r>
            <a:endParaRPr sz="2600"/>
          </a:p>
          <a:p>
            <a:pPr>
              <a:defRPr/>
            </a:pPr>
            <a:r>
              <a:rPr sz="2600"/>
              <a:t>Battery capacities: [25, 100, 50, 37, 65, 80, 40, 75, 55, 90] Wh</a:t>
            </a:r>
            <a:endParaRPr sz="2600"/>
          </a:p>
          <a:p>
            <a:pPr>
              <a:defRPr/>
            </a:pPr>
            <a:r>
              <a:rPr sz="2600"/>
              <a:t>Panel surfaces: [1.00, 0.50, 0.75, 0.85, 0.65, 0.55, 0.90, 0.30, 0.80, 0.52]</a:t>
            </a:r>
            <a:r>
              <a:rPr sz="2600"/>
              <a:t> m²</a:t>
            </a:r>
            <a:endParaRPr sz="2600"/>
          </a:p>
          <a:p>
            <a:pPr>
              <a:defRPr/>
            </a:pPr>
            <a:r>
              <a:rPr sz="2600"/>
              <a:t>Usual solar data from Solcast, 2024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11344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Time comparison</a:t>
            </a:r>
            <a:endParaRPr/>
          </a:p>
        </p:txBody>
      </p:sp>
      <p:pic>
        <p:nvPicPr>
          <p:cNvPr id="150654103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34407" y="1690687"/>
            <a:ext cx="5391502" cy="3919536"/>
          </a:xfrm>
          <a:prstGeom prst="rect">
            <a:avLst/>
          </a:prstGeom>
        </p:spPr>
      </p:pic>
      <p:pic>
        <p:nvPicPr>
          <p:cNvPr id="157682551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6293303" y="1690687"/>
            <a:ext cx="5391502" cy="3919536"/>
          </a:xfrm>
          <a:prstGeom prst="rect">
            <a:avLst/>
          </a:prstGeom>
        </p:spPr>
      </p:pic>
      <p:sp>
        <p:nvSpPr>
          <p:cNvPr id="697125898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838198" y="5696681"/>
            <a:ext cx="10729154" cy="75100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/>
              <a:t>Very similar results wrt less agents in the system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80879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Rewards - average</a:t>
            </a:r>
            <a:endParaRPr/>
          </a:p>
        </p:txBody>
      </p:sp>
      <p:sp>
        <p:nvSpPr>
          <p:cNvPr id="1475124898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838198" y="1995714"/>
            <a:ext cx="4895548" cy="4351338"/>
          </a:xfrm>
        </p:spPr>
        <p:txBody>
          <a:bodyPr/>
          <a:lstStyle/>
          <a:p>
            <a:pPr>
              <a:lnSpc>
                <a:spcPct val="114999"/>
              </a:lnSpc>
              <a:defRPr/>
            </a:pPr>
            <a:r>
              <a:rPr/>
              <a:t>Similar trend as previous tests with less nodes</a:t>
            </a:r>
            <a:endParaRPr/>
          </a:p>
          <a:p>
            <a:pPr>
              <a:lnSpc>
                <a:spcPct val="114999"/>
              </a:lnSpc>
              <a:defRPr/>
            </a:pPr>
            <a:r>
              <a:rPr/>
              <a:t>Higher average rewards for initial formulation but reduced one always better</a:t>
            </a:r>
            <a:endParaRPr/>
          </a:p>
        </p:txBody>
      </p:sp>
      <p:pic>
        <p:nvPicPr>
          <p:cNvPr id="86860293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925910" y="1690687"/>
            <a:ext cx="6000750" cy="43624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7086274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Rewards - detail</a:t>
            </a:r>
            <a:endParaRPr/>
          </a:p>
        </p:txBody>
      </p:sp>
      <p:pic>
        <p:nvPicPr>
          <p:cNvPr id="1406356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1699" y="2296205"/>
            <a:ext cx="5693077" cy="4138776"/>
          </a:xfrm>
          <a:prstGeom prst="rect">
            <a:avLst/>
          </a:prstGeom>
        </p:spPr>
      </p:pic>
      <p:pic>
        <p:nvPicPr>
          <p:cNvPr id="25666176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6123214" y="2296205"/>
            <a:ext cx="5682723" cy="4131249"/>
          </a:xfrm>
          <a:prstGeom prst="rect">
            <a:avLst/>
          </a:prstGeom>
        </p:spPr>
      </p:pic>
      <p:sp>
        <p:nvSpPr>
          <p:cNvPr id="408219551" name=""/>
          <p:cNvSpPr txBox="1"/>
          <p:nvPr/>
        </p:nvSpPr>
        <p:spPr bwMode="auto">
          <a:xfrm rot="0" flipH="0" flipV="0">
            <a:off x="2276480" y="1758460"/>
            <a:ext cx="168699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BEFORE</a:t>
            </a:r>
            <a:endParaRPr/>
          </a:p>
        </p:txBody>
      </p:sp>
      <p:sp>
        <p:nvSpPr>
          <p:cNvPr id="372694244" name=""/>
          <p:cNvSpPr txBox="1"/>
          <p:nvPr/>
        </p:nvSpPr>
        <p:spPr bwMode="auto">
          <a:xfrm rot="0" flipH="0" flipV="0">
            <a:off x="8284196" y="1745865"/>
            <a:ext cx="168915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AFTER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208990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Batteries</a:t>
            </a:r>
            <a:endParaRPr/>
          </a:p>
        </p:txBody>
      </p:sp>
      <p:sp>
        <p:nvSpPr>
          <p:cNvPr id="708866298" name=""/>
          <p:cNvSpPr txBox="1"/>
          <p:nvPr/>
        </p:nvSpPr>
        <p:spPr bwMode="auto">
          <a:xfrm rot="0" flipH="0" flipV="0">
            <a:off x="2276480" y="1758460"/>
            <a:ext cx="168663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BEFORE</a:t>
            </a:r>
            <a:endParaRPr/>
          </a:p>
        </p:txBody>
      </p:sp>
      <p:sp>
        <p:nvSpPr>
          <p:cNvPr id="1796836946" name=""/>
          <p:cNvSpPr txBox="1"/>
          <p:nvPr/>
        </p:nvSpPr>
        <p:spPr bwMode="auto">
          <a:xfrm rot="0" flipH="0" flipV="0">
            <a:off x="8284196" y="1745865"/>
            <a:ext cx="168879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AFTER</a:t>
            </a:r>
            <a:endParaRPr/>
          </a:p>
        </p:txBody>
      </p:sp>
      <p:pic>
        <p:nvPicPr>
          <p:cNvPr id="61130837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227008" y="2228169"/>
            <a:ext cx="5705188" cy="4147581"/>
          </a:xfrm>
          <a:prstGeom prst="rect">
            <a:avLst/>
          </a:prstGeom>
        </p:spPr>
      </p:pic>
      <p:pic>
        <p:nvPicPr>
          <p:cNvPr id="95475150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56559" y="2228169"/>
            <a:ext cx="5685364" cy="41331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0313537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Backlogs</a:t>
            </a:r>
            <a:endParaRPr/>
          </a:p>
        </p:txBody>
      </p:sp>
      <p:sp>
        <p:nvSpPr>
          <p:cNvPr id="1182647973" name=""/>
          <p:cNvSpPr txBox="1"/>
          <p:nvPr/>
        </p:nvSpPr>
        <p:spPr bwMode="auto">
          <a:xfrm rot="0" flipH="0" flipV="0">
            <a:off x="2276479" y="1758459"/>
            <a:ext cx="168663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BEFORE</a:t>
            </a:r>
            <a:endParaRPr/>
          </a:p>
        </p:txBody>
      </p:sp>
      <p:sp>
        <p:nvSpPr>
          <p:cNvPr id="242356243" name=""/>
          <p:cNvSpPr txBox="1"/>
          <p:nvPr/>
        </p:nvSpPr>
        <p:spPr bwMode="auto">
          <a:xfrm rot="0" flipH="0" flipV="0">
            <a:off x="8284196" y="1745865"/>
            <a:ext cx="168878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AFTER</a:t>
            </a:r>
            <a:endParaRPr/>
          </a:p>
        </p:txBody>
      </p:sp>
      <p:pic>
        <p:nvPicPr>
          <p:cNvPr id="58144199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28231" y="2230445"/>
            <a:ext cx="5631696" cy="4094153"/>
          </a:xfrm>
          <a:prstGeom prst="rect">
            <a:avLst/>
          </a:prstGeom>
        </p:spPr>
      </p:pic>
      <p:pic>
        <p:nvPicPr>
          <p:cNvPr id="204925388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6200367" y="2209624"/>
            <a:ext cx="5777319" cy="42000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8110134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Framerates</a:t>
            </a:r>
            <a:endParaRPr/>
          </a:p>
        </p:txBody>
      </p:sp>
      <p:pic>
        <p:nvPicPr>
          <p:cNvPr id="34269154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095999" y="2286000"/>
            <a:ext cx="5629211" cy="4092347"/>
          </a:xfrm>
          <a:prstGeom prst="rect">
            <a:avLst/>
          </a:prstGeom>
        </p:spPr>
      </p:pic>
      <p:pic>
        <p:nvPicPr>
          <p:cNvPr id="60895726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04107" y="2286000"/>
            <a:ext cx="5563660" cy="4044692"/>
          </a:xfrm>
          <a:prstGeom prst="rect">
            <a:avLst/>
          </a:prstGeom>
        </p:spPr>
      </p:pic>
      <p:sp>
        <p:nvSpPr>
          <p:cNvPr id="360212852" name=""/>
          <p:cNvSpPr txBox="1"/>
          <p:nvPr/>
        </p:nvSpPr>
        <p:spPr bwMode="auto">
          <a:xfrm rot="0" flipH="0" flipV="0">
            <a:off x="2276479" y="1758459"/>
            <a:ext cx="168699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BEFORE</a:t>
            </a:r>
            <a:endParaRPr/>
          </a:p>
        </p:txBody>
      </p:sp>
      <p:sp>
        <p:nvSpPr>
          <p:cNvPr id="950510907" name=""/>
          <p:cNvSpPr txBox="1"/>
          <p:nvPr/>
        </p:nvSpPr>
        <p:spPr bwMode="auto">
          <a:xfrm rot="0" flipH="0" flipV="0">
            <a:off x="8284196" y="1745865"/>
            <a:ext cx="1689148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AFTER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6538345" name="Titolo 1"/>
          <p:cNvSpPr>
            <a:spLocks noGrp="1"/>
          </p:cNvSpPr>
          <p:nvPr>
            <p:ph type="ctrTitle"/>
          </p:nvPr>
        </p:nvSpPr>
        <p:spPr bwMode="auto">
          <a:xfrm>
            <a:off x="1523999" y="1122363"/>
            <a:ext cx="9144000" cy="2387599"/>
          </a:xfrm>
        </p:spPr>
        <p:txBody>
          <a:bodyPr/>
          <a:lstStyle>
            <a:lvl1pPr algn="ctr">
              <a:defRPr sz="6000"/>
            </a:lvl1pPr>
          </a:lstStyle>
          <a:p>
            <a:pPr>
              <a:defRPr/>
            </a:pPr>
            <a:r>
              <a:rPr/>
              <a:t>Explicit matching</a:t>
            </a:r>
            <a:endParaRPr/>
          </a:p>
        </p:txBody>
      </p:sp>
      <p:sp>
        <p:nvSpPr>
          <p:cNvPr id="461079436" name="Sottotitolo 2"/>
          <p:cNvSpPr>
            <a:spLocks noGrp="1"/>
          </p:cNvSpPr>
          <p:nvPr>
            <p:ph type="subTitle" idx="1"/>
          </p:nvPr>
        </p:nvSpPr>
        <p:spPr bwMode="auto">
          <a:xfrm>
            <a:off x="1523998" y="3876796"/>
            <a:ext cx="9144000" cy="1655761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/>
              <a:t>Lorenzo Pecorari - 1885161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6981059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Formulation</a:t>
            </a:r>
            <a:endParaRPr/>
          </a:p>
        </p:txBody>
      </p:sp>
      <p:sp>
        <p:nvSpPr>
          <p:cNvPr id="1129705490" name="Segnaposto contenuto 2"/>
          <p:cNvSpPr>
            <a:spLocks noGrp="1"/>
          </p:cNvSpPr>
          <p:nvPr>
            <p:ph idx="1"/>
          </p:nvPr>
        </p:nvSpPr>
        <p:spPr bwMode="auto">
          <a:xfrm>
            <a:off x="838198" y="1825624"/>
            <a:ext cx="10515600" cy="435133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lnSpc>
                <a:spcPct val="114999"/>
              </a:lnSpc>
              <a:defRPr/>
            </a:pPr>
            <a:r>
              <a:rPr sz="2600"/>
              <a:t>Adding a binary variable in observation for informing agents if offloading matching happened at time t-1</a:t>
            </a:r>
            <a:endParaRPr sz="2600"/>
          </a:p>
          <a:p>
            <a:pPr>
              <a:lnSpc>
                <a:spcPct val="114999"/>
              </a:lnSpc>
              <a:defRPr/>
            </a:pPr>
            <a:r>
              <a:rPr sz="2600"/>
              <a:t>From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s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= [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τ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</m:t>
                      </m:r>
                    </m:oMath>
                  </m:oMathPara>
                </a14:m>
              </mc:Choice>
              <mc:Fallback/>
            </mc:AlternateContent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</m:t>
                      </m:r>
                    </m:oMath>
                  </m:oMathPara>
                </a14:m>
              </mc:Choice>
              <mc:Fallback/>
            </mc:AlternateContent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]</a:t>
            </a:r>
            <a:endParaRPr sz="2600"/>
          </a:p>
          <a:p>
            <a:pPr>
              <a:lnSpc>
                <a:spcPct val="114999"/>
              </a:lnSpc>
              <a:defRPr/>
            </a:pPr>
            <a:r>
              <a:rPr sz="2600"/>
              <a:t>To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s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= [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τ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</m:t>
                      </m:r>
                    </m:oMath>
                  </m:oMathPara>
                </a14:m>
              </mc:Choice>
              <mc:Fallback/>
            </mc:AlternateContent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</m:t>
                      </m:r>
                    </m:oMath>
                  </m:oMathPara>
                </a14:m>
              </mc:Choice>
              <mc:Fallback/>
            </mc:AlternateContent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match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]</a:t>
            </a:r>
            <a:endParaRPr sz="2600"/>
          </a:p>
          <a:p>
            <a:pPr>
              <a:lnSpc>
                <a:spcPct val="114999"/>
              </a:lnSpc>
              <a:defRPr/>
            </a:pPr>
            <a:r>
              <a:rPr sz="2600"/>
              <a:t>Or to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s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= [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τ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</m:t>
                      </m:r>
                    </m:oMath>
                  </m:oMathPara>
                </a14:m>
              </mc:Choice>
              <mc:Fallback/>
            </mc:AlternateContent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</m:t>
                      </m:r>
                    </m:oMath>
                  </m:oMathPara>
                </a14:m>
              </mc:Choice>
              <mc:Fallback/>
            </mc:AlternateContent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match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]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(“reduced states”)</a:t>
            </a:r>
            <a:endParaRPr lang="it-IT" sz="26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lnSpc>
                <a:spcPct val="114999"/>
              </a:lnSpc>
              <a:defRPr/>
            </a:pPr>
            <a:r>
              <a:rPr lang="it-IT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Increasing of 1 dimension the observation, agents can know if offloading at t-1 was successful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(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match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= 1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)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or not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(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match</a:t>
            </a:r>
            <a:r>
              <a:rPr lang="it-IT" sz="26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= 0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)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2972344" name="Titolo 1"/>
          <p:cNvSpPr>
            <a:spLocks noGrp="1"/>
          </p:cNvSpPr>
          <p:nvPr>
            <p:ph type="ctrTitle"/>
          </p:nvPr>
        </p:nvSpPr>
        <p:spPr bwMode="auto">
          <a:xfrm flipH="0" flipV="0">
            <a:off x="734567" y="1122363"/>
            <a:ext cx="10697307" cy="2387599"/>
          </a:xfrm>
        </p:spPr>
        <p:txBody>
          <a:bodyPr/>
          <a:lstStyle>
            <a:lvl1pPr algn="ctr">
              <a:defRPr sz="6000"/>
            </a:lvl1pPr>
          </a:lstStyle>
          <a:p>
            <a:pPr>
              <a:defRPr/>
            </a:pPr>
            <a:r>
              <a:rPr sz="5000"/>
              <a:t>More expressive state </a:t>
            </a:r>
            <a:r>
              <a:rPr sz="5000"/>
              <a:t>aggregation</a:t>
            </a:r>
            <a:endParaRPr sz="5000"/>
          </a:p>
        </p:txBody>
      </p:sp>
      <p:sp>
        <p:nvSpPr>
          <p:cNvPr id="166772565" name="Sottotitolo 2"/>
          <p:cNvSpPr>
            <a:spLocks noGrp="1"/>
          </p:cNvSpPr>
          <p:nvPr>
            <p:ph type="subTitle" idx="1"/>
          </p:nvPr>
        </p:nvSpPr>
        <p:spPr bwMode="auto">
          <a:xfrm>
            <a:off x="1523999" y="3785211"/>
            <a:ext cx="9144000" cy="1655761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/>
              <a:t>Lorenzo Pecorari - 1885161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133865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From average to more expressive metric</a:t>
            </a:r>
            <a:endParaRPr/>
          </a:p>
        </p:txBody>
      </p:sp>
      <p:sp>
        <p:nvSpPr>
          <p:cNvPr id="775773916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Minimum, maximum and average allow agent to know their state wrt the others</a:t>
            </a:r>
            <a:endParaRPr/>
          </a:p>
          <a:p>
            <a:pPr>
              <a:defRPr/>
            </a:pPr>
            <a:r>
              <a:rPr/>
              <a:t>Reducing to only average (of others) may lead to loss of information about the range</a:t>
            </a:r>
            <a:endParaRPr/>
          </a:p>
          <a:p>
            <a:pPr>
              <a:defRPr/>
            </a:pPr>
            <a:r>
              <a:rPr/>
              <a:t>Using z-score might help to define the “position” of each agent compared to others</a:t>
            </a:r>
            <a:endParaRPr/>
          </a:p>
          <a:p>
            <a:pPr>
              <a:defRPr/>
            </a:pPr>
            <a:r>
              <a:rPr/>
              <a:t>However, it is unbounded and it may be needed a clipping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4400928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lnSpc>
                <a:spcPct val="114999"/>
              </a:lnSpc>
              <a:defRPr/>
            </a:pPr>
            <a:r>
              <a:rPr/>
              <a:t>Z-Score</a:t>
            </a:r>
            <a:endParaRPr/>
          </a:p>
        </p:txBody>
      </p:sp>
      <p:sp>
        <p:nvSpPr>
          <p:cNvPr id="1618375240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838198" y="1825624"/>
            <a:ext cx="10515600" cy="454879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lnSpc>
                <a:spcPct val="114999"/>
              </a:lnSpc>
              <a:defRPr/>
            </a:pPr>
            <a:r>
              <a:rPr/>
              <a:t>z : </a:t>
            </a:r>
            <a:r>
              <a:rPr>
                <a:latin typeface="Asana Math"/>
                <a:ea typeface="Asana Math"/>
                <a:cs typeface="Asana Math"/>
              </a:rPr>
              <a:t>ℝ</a:t>
            </a:r>
            <a:r>
              <a:rPr baseline="30000"/>
              <a:t>k </a:t>
            </a:r>
            <a:r>
              <a:rPr>
                <a:latin typeface="Asana Math"/>
                <a:ea typeface="Asana Math"/>
                <a:cs typeface="Asana Math"/>
              </a:rPr>
              <a:t>→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ℝ</a:t>
            </a:r>
            <a:endParaRPr lang="it-IT" sz="2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lnSpc>
                <a:spcPct val="114999"/>
              </a:lnSpc>
              <a:defRPr/>
            </a:pP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z(x) =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it-IT" sz="2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it-IT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 - </m:t>
                          </m:r>
                          <m:r>
                            <m:rPr/>
                            <a:rPr lang="it-IT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μ</m:t>
                          </m:r>
                        </m:num>
                        <m:den>
                          <m:r>
                            <m:rPr/>
                            <a:rPr lang="it-IT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, where:</a:t>
            </a:r>
            <a:b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</a:b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	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it-IT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μ=</m:t>
                      </m:r>
                      <m:f>
                        <m:fPr>
                          <m:ctrlPr>
                            <a:rPr lang="it-IT" sz="2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it-IT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it-IT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grow m:val="off"/>
                          <m:limLoc m:val="subSup"/>
                          <m:ctrlPr>
                            <a:rPr lang="it-IT" sz="2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i"/>
                            </m:rPr>
                            <a:rPr lang="it-IT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 = 1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it-IT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  <m:e>
                          <m:sSub>
                            <m:sSubPr>
                              <m:ctrlPr>
                                <a:rPr lang="it-IT" sz="2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it-IT" sz="2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it-IT" sz="2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e>
                      </m:nary>
                      <m:r>
                        <m:rPr/>
                        <a:rPr lang="it-IT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</m:t>
                      </m:r>
                    </m:oMath>
                  </m:oMathPara>
                </a14:m>
              </mc:Choice>
              <mc:Fallback/>
            </mc:AlternateContent>
            <a:b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</a:b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	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it-IT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</m:t>
                      </m:r>
                      <m:r>
                        <m:rPr/>
                        <a:rPr lang="it-IT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it-IT" sz="2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radPr>
                        <m:deg>
                          <m:r>
                            <m:rPr>
                              <m:sty m:val="i"/>
                            </m:rPr>
                            <a:rPr lang="it-IT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/>
                          </m:r>
                        </m:deg>
                        <m:e>
                          <m:f>
                            <m:fPr>
                              <m:ctrlPr>
                                <a:rPr lang="it-IT" sz="2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i"/>
                                </m:rPr>
                                <a:rPr lang="it-IT" sz="2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i"/>
                                </m:rPr>
                                <a:rPr lang="it-IT" sz="2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grow m:val="off"/>
                              <m:limLoc m:val="subSup"/>
                              <m:ctrlPr>
                                <a:rPr lang="it-IT" sz="2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i"/>
                                </m:rPr>
                                <a:rPr lang="it-IT" sz="2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 = 1</m:t>
                              </m:r>
                            </m:sub>
                            <m:sup>
                              <m:r>
                                <m:rPr>
                                  <m:sty m:val="i"/>
                                </m:rPr>
                                <a:rPr lang="it-IT" sz="2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it-IT" sz="2800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("/>
                                      <m:endChr m:val=""/>
                                      <m:ctrlPr>
                                        <a:rPr lang="it-IT" sz="2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it-IT" sz="2800" b="0" i="1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i"/>
                                            </m:rPr>
                                            <a:rPr lang="it-IT" sz="28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i"/>
                                            </m:rPr>
                                            <a:rPr lang="it-IT" sz="2800" u="none" strike="noStrike" cap="none" spc="0">
                                              <a:solidFill>
                                                <a:schemeClr val="tx1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m:rPr>
                                      <m:sty m:val="i"/>
                                    </m:rPr>
                                    <a:rPr lang="it-IT" sz="2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-</m:t>
                                  </m:r>
                                  <m:r>
                                    <m:rPr/>
                                    <a:rPr lang="it-IT" sz="2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μ</m:t>
                                  </m:r>
                                  <m:r>
                                    <m:rPr>
                                      <m:sty m:val="i"/>
                                    </m:rPr>
                                    <a:rPr lang="it-IT" sz="2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 )</m:t>
                                  </m:r>
                                </m:e>
                                <m:sup>
                                  <m:r>
                                    <m:rPr>
                                      <m:sty m:val="i"/>
                                    </m:rPr>
                                    <a:rPr lang="it-IT" sz="2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</mc:Choice>
              <mc:Fallback/>
            </mc:AlternateContent>
            <a:endParaRPr lang="it-IT" sz="2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lnSpc>
                <a:spcPct val="114999"/>
              </a:lnSpc>
              <a:defRPr/>
            </a:pPr>
            <a:r>
              <a:rPr lang="it-IT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“how many std deviation x is far from the mean” or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“how far x is from the group”</a:t>
            </a:r>
            <a:endParaRPr lang="it-IT" sz="26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lnSpc>
                <a:spcPct val="114999"/>
              </a:lnSpc>
              <a:defRPr/>
            </a:pPr>
            <a:r>
              <a:rPr lang="it-IT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Applying this to battery and backlog level for each agent, it allows to know which is the situation of the node without using three variables</a:t>
            </a:r>
            <a:endParaRPr/>
          </a:p>
        </p:txBody>
      </p:sp>
      <p:pic>
        <p:nvPicPr>
          <p:cNvPr id="31150075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758660" y="1766885"/>
            <a:ext cx="3883730" cy="233313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0277509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Limiting the z-score</a:t>
            </a:r>
            <a:endParaRPr/>
          </a:p>
        </p:txBody>
      </p:sp>
      <p:sp>
        <p:nvSpPr>
          <p:cNvPr id="132982704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838198" y="1734038"/>
            <a:ext cx="10740213" cy="236903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/>
              <a:t>Due to the range (-</a:t>
            </a:r>
            <a:r>
              <a:rPr sz="2800" b="0" i="0" u="none">
                <a:solidFill>
                  <a:srgbClr val="000000"/>
                </a:solidFill>
                <a:latin typeface="Asana Math"/>
                <a:ea typeface="Asana Math"/>
                <a:cs typeface="Asana Math"/>
              </a:rPr>
              <a:t>∞, +</a:t>
            </a:r>
            <a:r>
              <a:rPr lang="it-IT" sz="2800" b="0" i="0" u="none" strike="noStrike" cap="none" spc="0">
                <a:solidFill>
                  <a:srgbClr val="000000"/>
                </a:solidFill>
                <a:latin typeface="Asana Math"/>
                <a:ea typeface="Asana Math"/>
                <a:cs typeface="Asana Math"/>
              </a:rPr>
              <a:t>∞)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of the output of z(x), it can be applied a limitation of its value to smaller intervals</a:t>
            </a:r>
            <a:endParaRPr lang="it-IT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Ex: hyperbolic tangent function and sigmoid can cope such problem</a:t>
            </a:r>
            <a:endParaRPr lang="it-IT"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endParaRPr lang="it-IT" sz="2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it-IT" sz="26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432956960" name="Segnaposto contenuto 2"/>
          <p:cNvSpPr>
            <a:spLocks noGrp="1"/>
          </p:cNvSpPr>
          <p:nvPr/>
        </p:nvSpPr>
        <p:spPr bwMode="auto">
          <a:xfrm flipH="0" flipV="0">
            <a:off x="880695" y="3498360"/>
            <a:ext cx="5257476" cy="2857744"/>
          </a:xfr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tanh: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ℝ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rial"/>
                <a:ea typeface="Arial"/>
                <a:cs typeface="Arial"/>
              </a:rPr>
              <a:t>k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→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[-1, +1]</a:t>
            </a:r>
            <a:endParaRPr lang="it-IT" sz="26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tanh</m:t>
                      </m:r>
                      <m:d>
                        <m:dPr>
                          <m:begChr m:val="("/>
                          <m:endChr m:val=")"/>
                          <m:ctrlPr>
                            <a:rPr lang="it-IT" sz="2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it-IT" sz="2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it-IT" sz="2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 </m:t>
                      </m:r>
                      <m:f>
                        <m:fPr>
                          <m:ctrlPr>
                            <a:rPr lang="it-IT" sz="26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it-IT" sz="26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it-IT" sz="2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it-IT" sz="2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2x</m:t>
                              </m:r>
                            </m:sup>
                          </m:sSup>
                          <m:r>
                            <m:rPr>
                              <m:sty m:val="i"/>
                            </m:rPr>
                            <a:rPr lang="it-IT" sz="2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- 1</m:t>
                          </m:r>
                        </m:num>
                        <m:den>
                          <m:sSup>
                            <m:sSupPr>
                              <m:ctrlPr>
                                <a:rPr lang="it-IT" sz="26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it-IT" sz="2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it-IT" sz="2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2x</m:t>
                              </m:r>
                            </m:sup>
                          </m:sSup>
                          <m:r>
                            <m:rPr>
                              <m:sty m:val="i"/>
                            </m:rPr>
                            <a:rPr lang="it-IT" sz="2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+ 1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endParaRPr lang="it-IT" sz="2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it-IT" sz="26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780661980" name="Segnaposto contenuto 2"/>
          <p:cNvSpPr>
            <a:spLocks noGrp="1"/>
          </p:cNvSpPr>
          <p:nvPr/>
        </p:nvSpPr>
        <p:spPr bwMode="auto">
          <a:xfrm flipH="0" flipV="0">
            <a:off x="6299892" y="3467586"/>
            <a:ext cx="5257476" cy="2857743"/>
          </a:xfr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sz="2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sigmoid: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ℝ</a:t>
            </a:r>
            <a:r>
              <a:rPr lang="it-IT" sz="2600" b="0" i="0" u="none" strike="noStrike" cap="none" spc="0" baseline="30000">
                <a:solidFill>
                  <a:schemeClr val="tx1"/>
                </a:solidFill>
                <a:latin typeface="Arial"/>
                <a:ea typeface="Arial"/>
                <a:cs typeface="Arial"/>
              </a:rPr>
              <a:t>k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→ </a:t>
            </a:r>
            <a:r>
              <a:rPr lang="it-IT" sz="26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[0, +1]</a:t>
            </a:r>
            <a:endParaRPr lang="it-IT" sz="26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sigmoid</m:t>
                      </m:r>
                      <m:d>
                        <m:dPr>
                          <m:begChr m:val="("/>
                          <m:endChr m:val=")"/>
                          <m:ctrlPr>
                            <a:rPr lang="it-IT" sz="2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it-IT" sz="2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a:rPr lang="it-IT" sz="2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 </m:t>
                      </m:r>
                      <m:f>
                        <m:fPr>
                          <m:ctrlPr>
                            <a:rPr lang="it-IT" sz="26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it-IT" sz="2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it-IT" sz="2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 + </m:t>
                          </m:r>
                          <m:sSup>
                            <m:sSupPr>
                              <m:ctrlPr>
                                <a:rPr lang="it-IT" sz="26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it-IT" sz="2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it-IT" sz="2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-x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mc:Choice>
              <mc:Fallback/>
            </mc:AlternateContent>
            <a:endParaRPr lang="it-IT" sz="2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it-IT" sz="26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pic>
        <p:nvPicPr>
          <p:cNvPr id="59477532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556970" y="4768401"/>
            <a:ext cx="2984928" cy="1989952"/>
          </a:xfrm>
          <a:prstGeom prst="rect">
            <a:avLst/>
          </a:prstGeom>
        </p:spPr>
      </p:pic>
      <p:pic>
        <p:nvPicPr>
          <p:cNvPr id="207022259" name="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 bwMode="auto">
          <a:xfrm flipH="0" flipV="0">
            <a:off x="7434833" y="4768401"/>
            <a:ext cx="2987596" cy="19899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1296903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Formulation with hyperbolic tangent</a:t>
            </a:r>
            <a:endParaRPr/>
          </a:p>
        </p:txBody>
      </p:sp>
      <p:sp>
        <p:nvSpPr>
          <p:cNvPr id="1827903562" name="Segnaposto contenuto 2"/>
          <p:cNvSpPr>
            <a:spLocks noGrp="1"/>
          </p:cNvSpPr>
          <p:nvPr>
            <p:ph idx="1"/>
          </p:nvPr>
        </p:nvSpPr>
        <p:spPr bwMode="auto">
          <a:xfrm flipH="0" flipV="0">
            <a:off x="838198" y="1825624"/>
            <a:ext cx="10515600" cy="454879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5000" lnSpcReduction="3000"/>
          </a:bodyPr>
          <a:lstStyle/>
          <a:p>
            <a:pPr>
              <a:defRPr/>
            </a:pPr>
            <a:r>
              <a:rPr/>
              <a:t>Using z-score for finding position of agent metrics wrt the group</a:t>
            </a:r>
            <a:endParaRPr/>
          </a:p>
          <a:p>
            <a:pPr>
              <a:defRPr/>
            </a:pPr>
            <a:r>
              <a:rPr/>
              <a:t>Using tanh for delimit the z-score</a:t>
            </a:r>
            <a:endParaRPr/>
          </a:p>
          <a:p>
            <a:pPr>
              <a:lnSpc>
                <a:spcPct val="114999"/>
              </a:lnSpc>
              <a:defRPr/>
            </a:pPr>
            <a:r>
              <a:rPr lang="it-IT" sz="2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s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= [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τ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</m:t>
                      </m:r>
                    </m:oMath>
                  </m:oMathPara>
                </a14:m>
              </mc:Choice>
              <mc:Fallback/>
            </mc:AlternateContent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M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</m:t>
                      </m:r>
                    </m:oMath>
                  </m:oMathPara>
                </a14:m>
              </mc:Choice>
              <mc:Fallback/>
            </mc:AlternateContent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]</a:t>
            </a:r>
            <a:endParaRPr sz="2800"/>
          </a:p>
          <a:p>
            <a:pPr>
              <a:lnSpc>
                <a:spcPct val="114999"/>
              </a:lnSpc>
              <a:defRPr/>
            </a:pPr>
            <a:r>
              <a:rPr/>
              <a:t>To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s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= [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τ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tz(b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), 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tz(q</a:t>
            </a:r>
            <a:r>
              <a:rPr lang="it-IT" sz="28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8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)</a:t>
            </a: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] </a:t>
            </a:r>
            <a:endParaRPr lang="it-IT" sz="2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lnSpc>
                <a:spcPct val="114999"/>
              </a:lnSpc>
              <a:defRPr/>
            </a:pPr>
            <a:r>
              <a:rPr lang="it-I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where:</a:t>
            </a:r>
            <a:endParaRPr lang="it-IT" sz="2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lvl="1">
              <a:lnSpc>
                <a:spcPct val="114999"/>
              </a:lnSpc>
              <a:defRPr/>
            </a:pP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tz(x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) = tanh(z(x)),</a:t>
            </a:r>
            <a:endParaRPr lang="it-IT" sz="24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lvl="1">
              <a:lnSpc>
                <a:spcPct val="114999"/>
              </a:lnSpc>
              <a:defRPr/>
            </a:pP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tanh(z(x)) =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it-IT" sz="24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it-IT" sz="24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it-IT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it-IT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2z(x)</m:t>
                              </m:r>
                            </m:sup>
                          </m:sSup>
                          <m:r>
                            <m:rPr>
                              <m:sty m:val="i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- 1</m:t>
                          </m:r>
                        </m:num>
                        <m:den>
                          <m:sSup>
                            <m:sSupPr>
                              <m:ctrlPr>
                                <a:rPr lang="it-IT" sz="24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it-IT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it-IT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2z(x)</m:t>
                              </m:r>
                            </m:sup>
                          </m:sSup>
                          <m:r>
                            <m:rPr>
                              <m:sty m:val="i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+ 1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endParaRPr lang="it-IT" sz="24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lvl="1">
              <a:lnSpc>
                <a:spcPct val="114999"/>
              </a:lnSpc>
              <a:defRPr/>
            </a:pPr>
            <a:r>
              <a:rPr lang="it-IT" sz="2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z(x) =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it-IT" sz="24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it-IT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 + </m:t>
                          </m:r>
                          <m:sSup>
                            <m:sSupPr>
                              <m:ctrlPr>
                                <a:rPr lang="it-IT" sz="24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it-IT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it-IT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-x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mc:Choice>
              <mc:Fallback/>
            </mc:AlternateContent>
            <a:endParaRPr lang="it-IT" sz="2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/>
          </a:p>
        </p:txBody>
      </p:sp>
      <p:sp>
        <p:nvSpPr>
          <p:cNvPr id="1716838740" name=""/>
          <p:cNvSpPr txBox="1"/>
          <p:nvPr/>
        </p:nvSpPr>
        <p:spPr bwMode="auto">
          <a:xfrm rot="0" flipH="0" flipV="0">
            <a:off x="8153076" y="4344865"/>
            <a:ext cx="3472410" cy="427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200"/>
              <a:t>from 9 dimensions to 5</a:t>
            </a:r>
            <a:endParaRPr/>
          </a:p>
        </p:txBody>
      </p:sp>
      <p:cxnSp>
        <p:nvCxnSpPr>
          <p:cNvPr id="608225311" name=""/>
          <p:cNvCxnSpPr/>
          <p:nvPr/>
        </p:nvCxnSpPr>
        <p:spPr bwMode="auto">
          <a:xfrm flipH="0" flipV="0">
            <a:off x="5570336" y="3645144"/>
            <a:ext cx="2491153" cy="897548"/>
          </a:xfrm>
          <a:prstGeom prst="curvedConnector3">
            <a:avLst>
              <a:gd name="adj1" fmla="val 50000"/>
            </a:avLst>
          </a:prstGeom>
          <a:ln w="19049" cap="flat" cmpd="sng" algn="ctr">
            <a:solidFill>
              <a:schemeClr val="tx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7332798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 sz="4400" b="0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Formulation with hyperbolic tangent</a:t>
            </a:r>
            <a:endParaRPr sz="4400"/>
          </a:p>
        </p:txBody>
      </p:sp>
      <p:sp>
        <p:nvSpPr>
          <p:cNvPr id="1091761638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lnSpc>
                <a:spcPct val="114999"/>
              </a:lnSpc>
              <a:defRPr/>
            </a:pPr>
            <a:r>
              <a:rPr/>
              <a:t>It can be preferred to use tanh instead of sigmoid since, when the node has same metrics values as the others, with sigmoid the variable becomes 0.5 but with tanh 0 (centrality)</a:t>
            </a:r>
            <a:endParaRPr/>
          </a:p>
          <a:p>
            <a:pPr>
              <a:lnSpc>
                <a:spcPct val="114999"/>
              </a:lnSpc>
              <a:defRPr/>
            </a:pPr>
            <a:r>
              <a:rPr/>
              <a:t>It might be possible to extend this formulation with the binary variable which tells to the agent if the offloading successfully happened at t-1, so observation becomes:</a:t>
            </a:r>
            <a:endParaRPr/>
          </a:p>
          <a:p>
            <a:pPr marL="457200" lvl="1" indent="0">
              <a:lnSpc>
                <a:spcPct val="114999"/>
              </a:lnSpc>
              <a:buFont typeface="Arial"/>
              <a:buNone/>
              <a:defRPr/>
            </a:pP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s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= [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b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q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τ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, tz(b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), 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tz(q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), match</a:t>
            </a:r>
            <a:r>
              <a:rPr lang="it-IT" sz="2400" b="0" i="0" u="none" strike="noStrike" cap="none" spc="0" baseline="-25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t</a:t>
            </a:r>
            <a:r>
              <a:rPr lang="it-IT" sz="2400" b="0" i="0" u="none" strike="noStrike" cap="none" spc="0" baseline="30000">
                <a:solidFill>
                  <a:schemeClr val="tx1"/>
                </a:solidFill>
                <a:latin typeface="Asana Math"/>
                <a:ea typeface="Asana Math"/>
                <a:cs typeface="Asana Math"/>
              </a:rPr>
              <a:t>i</a:t>
            </a:r>
            <a:r>
              <a:rPr lang="it-IT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] 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ONLYOFFICE/9.3.0.140</Application>
  <PresentationFormat>On-screen Show (4:3)</PresentationFormat>
  <Paragraphs>0</Paragraphs>
  <Slides>33</Slides>
  <Notes>33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4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13</cp:revision>
  <dcterms:created xsi:type="dcterms:W3CDTF">2012-12-03T06:56:55Z</dcterms:created>
  <dcterms:modified xsi:type="dcterms:W3CDTF">2026-03-02T14:17:41Z</dcterms:modified>
</cp:coreProperties>
</file>