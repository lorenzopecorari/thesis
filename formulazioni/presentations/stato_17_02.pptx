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it-IT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498272" name="Segnaposto intestazion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91379472" name="Segnaposto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it-IT"/>
              <a:t>10/30/2013</a:t>
            </a:fld>
            <a:endParaRPr lang="it-IT"/>
          </a:p>
        </p:txBody>
      </p:sp>
      <p:sp>
        <p:nvSpPr>
          <p:cNvPr id="1675070209" name="Segnaposto immagin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it-IT"/>
          </a:p>
        </p:txBody>
      </p:sp>
      <p:sp>
        <p:nvSpPr>
          <p:cNvPr id="1129509827" name="Segnaposto Note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305210249" name="Segnaposto piè di pa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29501573" name="Segnaposto numero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34462" name="Segnaposto immagin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7715970" name="Segnaposto Note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it-IT">
              <a:latin typeface="Arial"/>
              <a:cs typeface="Arial"/>
            </a:endParaRPr>
          </a:p>
        </p:txBody>
      </p:sp>
      <p:sp>
        <p:nvSpPr>
          <p:cNvPr id="1855018925" name="Segnaposto numero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it-IT"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498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427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027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316389-9DB7-CE29-CCDD-0260A6AACD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990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4847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6615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F5F9E6-DC00-0FEF-7635-0446664F70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4766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4322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797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59930E-E7D7-E5CF-88C6-9BA7CA9010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300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517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073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311D56-5DA3-4D9E-FF5B-2AC3FC3A95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53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9354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313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6BE1B2-F862-AEC0-01E9-2F4580DD9B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271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8953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16251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301651-0BA7-24E4-E675-6AC03BD9A7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981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1895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8667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112763-E740-5F01-F882-E6EF3EDB4C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085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581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262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6A20DA-A942-A028-3E03-AE0965EE4E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48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3913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189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E393B6-E15D-03CC-7380-23DC4E92D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446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70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999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8CC71-10D8-CA04-B15F-D897C99A53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30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026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27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A943F-A2C1-5C66-D84D-D7716F6BB1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661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57216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5921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CB26FF-C36B-465D-C3D4-4A6B46B596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12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72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0910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236E2E-31D5-9B6A-422B-DF08081257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929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0657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143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9C5A08-497A-7FE6-C0F3-A25E4E5E05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4251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84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0767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B6D802-BDAF-6094-42D4-A5FCE73DA6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72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840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969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0217D9-3C41-E3C4-CA94-FDD4646AD2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565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1365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002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A1C916-F6AF-80B2-E5A5-088C2D83A0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98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73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1624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4A373F-0AF8-1811-0253-B372AAA8E0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6817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5874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86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03E687-A6D0-77D4-24A7-618FBB1905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975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6894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797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53BEFB-0C90-B3B7-6DA0-5DFB6196E2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756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030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985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1153DB-EC0F-4A84-19A4-3B247842F7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239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46863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388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6DDE27-2862-2D03-DEC0-6595E815E9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9149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4045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021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E71CE3-8CB6-5D16-184C-5F6351E3D0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a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602390" name="Titolo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723903350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 lang="it-IT"/>
          </a:p>
        </p:txBody>
      </p:sp>
      <p:sp>
        <p:nvSpPr>
          <p:cNvPr id="1727756342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117887181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48692086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17858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225222630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94855895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7446266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93576216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Intestazione se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357269" name="Titolo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890823150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90959499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120365428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87356277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177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71455482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460092386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5234640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813611604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59510841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155643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021999398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381513785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040370489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57307084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684860290" name="Segnaposto data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017995832" name="Segnaposto piè di pagina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694162920" name="Segnaposto numero diapositiva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1230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2039343944" name="Segnaposto data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401358962" name="Segnaposto piè di pagina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988166923" name="Segnaposto numero diapositiva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796542" name="Segnaposto data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534457960" name="Segnaposto piè di pagina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07025637" name="Segnaposto numero diapositiva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03050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534547634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551674469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649558593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485307480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104918194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935261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736411883" name="Segnaposto immagin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aggiungere un'immagine</a:t>
            </a:r>
            <a:endParaRPr lang="it-IT"/>
          </a:p>
        </p:txBody>
      </p:sp>
      <p:sp>
        <p:nvSpPr>
          <p:cNvPr id="214310569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</p:txBody>
      </p:sp>
      <p:sp>
        <p:nvSpPr>
          <p:cNvPr id="978370885" name="Segnaposto data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672469546" name="Segnaposto piè di pagina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06315482" name="Segnaposto numero diapositiva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21513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183731200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555089616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455811015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691709484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948294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1824572329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227758911" name="Segnaposto data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1805550794" name="Segnaposto piè di pagina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50782012" name="Segnaposto numero diapositiva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909032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</a:t>
            </a:r>
            <a:endParaRPr lang="it-IT"/>
          </a:p>
        </p:txBody>
      </p:sp>
      <p:sp>
        <p:nvSpPr>
          <p:cNvPr id="294276388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Fare clic per modificare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 lang="it-IT"/>
          </a:p>
        </p:txBody>
      </p:sp>
      <p:sp>
        <p:nvSpPr>
          <p:cNvPr id="1214786096" name="Segnaposto data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it-IT"/>
              <a:t>30.10.2013</a:t>
            </a:fld>
            <a:endParaRPr lang="it-IT"/>
          </a:p>
        </p:txBody>
      </p:sp>
      <p:sp>
        <p:nvSpPr>
          <p:cNvPr id="582705393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648758398" name="Segnaposto numero diapositiva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it-IT"/>
              <a:t>‹#›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media1.sv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16582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CPU vs GPU</a:t>
            </a:r>
            <a:br>
              <a:rPr lang="it-IT"/>
            </a:br>
            <a:r>
              <a:rPr lang="it-IT"/>
              <a:t>Sequential vs Parallel</a:t>
            </a:r>
            <a:endParaRPr lang="it-IT"/>
          </a:p>
        </p:txBody>
      </p:sp>
      <p:sp>
        <p:nvSpPr>
          <p:cNvPr id="84821187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968384"/>
            <a:ext cx="9144000" cy="1655761"/>
          </a:xfrm>
        </p:spPr>
        <p:txBody>
          <a:bodyPr/>
          <a:lstStyle/>
          <a:p>
            <a:pPr>
              <a:defRPr/>
            </a:pPr>
            <a:r>
              <a:rPr lang="it-IT"/>
              <a:t>Lorenzo Pecorari - 1885161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179661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New formulation: state aggregation</a:t>
            </a:r>
            <a:endParaRPr/>
          </a:p>
        </p:txBody>
      </p:sp>
      <p:sp>
        <p:nvSpPr>
          <p:cNvPr id="724871704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7" y="1520335"/>
            <a:ext cx="10923386" cy="47482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Independent Q-Learning with Partial Observability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(other agents’ states aggregated)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r>
              <a:rPr sz="2400" b="0" i="0" u="none" strike="noStrike" cap="none" spc="0">
                <a:solidFill>
                  <a:schemeClr val="tx1"/>
                </a:solidFill>
                <a:latin typeface="Times New Roman"/>
                <a:cs typeface="Times New Roman"/>
              </a:rPr>
              <a:t> (9 different variables)</a:t>
            </a:r>
            <a:endParaRPr sz="24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999"/>
              </a:lnSpc>
              <a:buFont typeface="Arial"/>
              <a:buNone/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where:</a:t>
            </a:r>
            <a:endParaRPr sz="2400"/>
          </a:p>
          <a:p>
            <a:pPr lvl="3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argmin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4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</m:t>
                          </m:r>
                          <m:sSubSup>
                            <m:sSubSupPr>
                              <m:alnScr m:val="off"/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j≠</m:t>
                          </m:r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min battery level of other agents</a:t>
            </a:r>
            <a:endParaRPr sz="2400"/>
          </a:p>
          <a:p>
            <a:pPr lvl="3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argmax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4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</m:t>
                          </m:r>
                          <m:sSubSup>
                            <m:sSubSupPr>
                              <m:alnScr m:val="off"/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j≠</m:t>
                          </m:r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max battery level of other agents</a:t>
            </a:r>
            <a:endParaRPr sz="2400"/>
          </a:p>
          <a:p>
            <a:pPr lvl="3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argmin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4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</m:t>
                          </m:r>
                          <m:sSubSup>
                            <m:sSubSupPr>
                              <m:alnScr m:val="off"/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j≠</m:t>
                          </m:r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min backlog status of other agents</a:t>
            </a:r>
            <a:endParaRPr sz="2400"/>
          </a:p>
          <a:p>
            <a:pPr lvl="3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argmax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24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{</m:t>
                          </m:r>
                          <m:sSubSup>
                            <m:sSubSupPr>
                              <m:alnScr m:val="off"/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}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j≠</m:t>
                          </m:r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max backlog status of other agents</a:t>
            </a:r>
            <a:endParaRPr sz="2400"/>
          </a:p>
          <a:p>
            <a:pPr lvl="3">
              <a:lnSpc>
                <a:spcPct val="114999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4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n-1</m:t>
                          </m:r>
                        </m:den>
                      </m:f>
                      <m:nary>
                        <m:naryPr>
                          <m:chr m:val="∑"/>
                          <m:grow m:val="off"/>
                          <m:limLoc m:val="subSup"/>
                          <m:ctrlPr>
                            <a:rPr lang="it-IT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j≠</m:t>
                          </m:r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alnScr m:val="off"/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average battery level of other agents</a:t>
            </a:r>
            <a:endParaRPr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3">
              <a:lnSpc>
                <a:spcPct val="114999"/>
              </a:lnSpc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4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n-1</m:t>
                          </m:r>
                        </m:den>
                      </m:f>
                      <m:nary>
                        <m:naryPr>
                          <m:chr m:val="∑"/>
                          <m:grow m:val="off"/>
                          <m:limLoc m:val="subSup"/>
                          <m:ctrlPr>
                            <a:rPr lang="it-IT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j≠</m:t>
                          </m:r>
                          <m:r>
                            <m:rPr>
                              <m:sty m:val="p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alnScr m:val="off"/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average backlog status of other agents</a:t>
            </a:r>
            <a:endParaRPr sz="2400"/>
          </a:p>
          <a:p>
            <a:pPr lvl="0">
              <a:lnSpc>
                <a:spcPct val="114999"/>
              </a:lnSpc>
              <a:defRPr/>
            </a:pPr>
            <a:r>
              <a:rPr sz="2400"/>
              <a:t>Same action space as previous formulation</a:t>
            </a:r>
            <a:r>
              <a:rPr sz="2400"/>
              <a:t>: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0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1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where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f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x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g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h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7038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Setup</a:t>
            </a:r>
            <a:endParaRPr/>
          </a:p>
        </p:txBody>
      </p:sp>
      <p:sp>
        <p:nvSpPr>
          <p:cNvPr id="644587966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765662" y="1570487"/>
            <a:ext cx="11270682" cy="49439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lnSpc>
                <a:spcPct val="114999"/>
              </a:lnSpc>
              <a:defRPr/>
            </a:pPr>
            <a:r>
              <a:rPr sz="2400"/>
              <a:t>2, 3, 4 and 5 nodes, all of them as agents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Battery capacities: 25Wh, 37Wh, 50Wh, 67Wh, 100Wh</a:t>
            </a:r>
            <a:r>
              <a:rPr sz="2400"/>
              <a:t> 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PV surfaces: 1.0 m², 0.85 m²,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0.75 m², 0.65 m², 0.5 m²</a:t>
            </a:r>
            <a:r>
              <a:rPr sz="2400"/>
              <a:t> (efficiency = 20%)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Dataset from Solcast, year 2024 (172th and 355th days mostly used for tests)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Observation space:</a:t>
            </a:r>
            <a:r>
              <a:rPr sz="2400"/>
              <a:t> </a:t>
            </a:r>
            <a:r>
              <a:rPr sz="2400">
                <a:latin typeface="Asana Math"/>
                <a:ea typeface="Asana Math"/>
                <a:cs typeface="Asana Math"/>
              </a:rPr>
              <a:t>s</a:t>
            </a:r>
            <a:r>
              <a:rPr sz="2400" baseline="-25000">
                <a:latin typeface="Asana Math"/>
                <a:ea typeface="Asana Math"/>
                <a:cs typeface="Asana Math"/>
              </a:rPr>
              <a:t>t</a:t>
            </a:r>
            <a:r>
              <a:rPr sz="2400"/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sz="2400" baseline="30000">
                <a:latin typeface="Asana Math"/>
                <a:ea typeface="Asana Math"/>
                <a:cs typeface="Asana Math"/>
              </a:rPr>
              <a:t>i</a:t>
            </a:r>
            <a:r>
              <a:rPr sz="2400"/>
              <a:t>]</a:t>
            </a:r>
            <a:r>
              <a:rPr sz="2400" baseline="-25000"/>
              <a:t>i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∈</a:t>
            </a:r>
            <a:r>
              <a:rPr sz="2400" baseline="-25000"/>
              <a:t>[0, n]</a:t>
            </a:r>
            <a:r>
              <a:rPr sz="2400"/>
              <a:t>, where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4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Action space: </a:t>
            </a:r>
            <a:r>
              <a:rPr sz="2400">
                <a:latin typeface="Asana Math"/>
                <a:ea typeface="Asana Math"/>
                <a:cs typeface="Asana Math"/>
              </a:rPr>
              <a:t>a</a:t>
            </a:r>
            <a:r>
              <a:rPr sz="2400" baseline="-25000">
                <a:latin typeface="Asana Math"/>
                <a:ea typeface="Asana Math"/>
                <a:cs typeface="Asana Math"/>
              </a:rPr>
              <a:t>t</a:t>
            </a:r>
            <a:r>
              <a:rPr sz="2400"/>
              <a:t> =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0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1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r>
              <a:rPr sz="2400"/>
              <a:t>, where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a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f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x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g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h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Each agent can see local state and aggregated statistics of others but not their actions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Same environment and same reward function for both implementations</a:t>
            </a:r>
            <a:endParaRPr sz="2400"/>
          </a:p>
          <a:p>
            <a:pPr>
              <a:lnSpc>
                <a:spcPct val="114999"/>
              </a:lnSpc>
              <a:defRPr/>
            </a:pPr>
            <a:r>
              <a:rPr sz="2400"/>
              <a:t>DQN algorithm for performing learning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04201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Extract of training code</a:t>
            </a:r>
            <a:endParaRPr/>
          </a:p>
        </p:txBody>
      </p:sp>
      <p:sp>
        <p:nvSpPr>
          <p:cNvPr id="1495895249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746613" y="1825624"/>
            <a:ext cx="11381318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for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agent_id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in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range(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0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,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.num_agents):</a:t>
            </a:r>
            <a:endParaRPr sz="72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.models[agent_id]._current_progress_remaining = progress_remaining     </a:t>
            </a:r>
            <a:endParaRPr sz="72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if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(np.random.random() &lt;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.eps):</a:t>
            </a:r>
            <a:endParaRPr sz="72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    action =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.models[agent_id].action_space.sample()</a:t>
            </a:r>
            <a:endParaRPr sz="72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else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:</a:t>
            </a:r>
            <a:endParaRPr sz="72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    action, _ =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.models[agent_id].predict(obs[agent_id], deterministic=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False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)</a:t>
            </a:r>
            <a:endParaRPr sz="1400" b="0" i="0" u="none">
              <a:solidFill>
                <a:schemeClr val="tx1"/>
              </a:solidFill>
              <a:latin typeface="Droid Sans Mono"/>
              <a:ea typeface="Droid Sans Mono"/>
              <a:cs typeface="Droid Sans Mono"/>
            </a:endParaRPr>
          </a:p>
          <a:p>
            <a:pPr marL="0" indent="0">
              <a:buFont typeface="Arial"/>
              <a:buNone/>
              <a:defRPr/>
            </a:pPr>
            <a:endParaRPr sz="1400" b="0" i="0" u="none">
              <a:solidFill>
                <a:schemeClr val="tx1"/>
              </a:solidFill>
              <a:latin typeface="Droid Sans Mono"/>
              <a:ea typeface="Droid Sans Mono"/>
              <a:cs typeface="Droid Sans Mono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actions_encoded[agent_id] = action</a:t>
            </a:r>
            <a:endParaRPr sz="7200">
              <a:solidFill>
                <a:schemeClr val="tx1"/>
              </a:solidFill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            actions[agent_id] = 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sz="1400" b="0" i="0" u="none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.decode(action)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/>
              <a:t>For every agent,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action</a:t>
            </a:r>
            <a:r>
              <a:rPr/>
              <a:t> is chosen using </a:t>
            </a:r>
            <a:r>
              <a:rPr>
                <a:latin typeface="Asana Math"/>
                <a:ea typeface="Asana Math"/>
                <a:cs typeface="Asana Math"/>
              </a:rPr>
              <a:t>𝛆</a:t>
            </a:r>
            <a:r>
              <a:rPr/>
              <a:t>-greedy strategy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697739" name="Titolo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1216463" cy="132556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sz="4400"/>
              <a:t>Parallelization for action selection</a:t>
            </a:r>
            <a:endParaRPr sz="4800"/>
          </a:p>
        </p:txBody>
      </p:sp>
      <p:sp>
        <p:nvSpPr>
          <p:cNvPr id="1178453035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65870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400"/>
              <a:t>Library: </a:t>
            </a:r>
            <a:r>
              <a:rPr sz="2400" i="1"/>
              <a:t>concurrent.futures</a:t>
            </a:r>
            <a:endParaRPr sz="2400" i="1"/>
          </a:p>
          <a:p>
            <a:pPr>
              <a:defRPr/>
            </a:pPr>
            <a:r>
              <a:rPr sz="2400" i="1"/>
              <a:t>ThreadPoolExecutor </a:t>
            </a:r>
            <a:r>
              <a:rPr sz="2400" i="0"/>
              <a:t>object </a:t>
            </a:r>
            <a:r>
              <a:rPr sz="2400" i="0"/>
              <a:t>with num_agents or cpu_cores workers</a:t>
            </a:r>
            <a:endParaRPr sz="2400" i="0"/>
          </a:p>
          <a:p>
            <a:pPr>
              <a:defRPr/>
            </a:pPr>
            <a:r>
              <a:rPr sz="2400" i="0"/>
              <a:t>Differentiation between use of processes and threads</a:t>
            </a:r>
            <a:endParaRPr sz="2400" i="0"/>
          </a:p>
          <a:p>
            <a:pPr>
              <a:defRPr/>
            </a:pPr>
            <a:r>
              <a:rPr sz="2400" i="0"/>
              <a:t>Limitations due to Global Lock Interpreter of Python</a:t>
            </a:r>
            <a:endParaRPr sz="2400" i="0"/>
          </a:p>
          <a:p>
            <a:pPr marL="0" indent="0">
              <a:buFont typeface="Arial"/>
              <a:buNone/>
              <a:defRPr/>
            </a:pPr>
            <a:endParaRPr sz="2400" i="0"/>
          </a:p>
        </p:txBody>
      </p:sp>
      <p:sp>
        <p:nvSpPr>
          <p:cNvPr id="879976388" name=""/>
          <p:cNvSpPr txBox="1"/>
          <p:nvPr/>
        </p:nvSpPr>
        <p:spPr bwMode="auto">
          <a:xfrm rot="0" flipH="0" flipV="0">
            <a:off x="1027644" y="3974855"/>
            <a:ext cx="10423267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>
              <a:buFont typeface="Arial"/>
              <a:buNone/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.executor = ThreadPoolExecutor(max_workers= 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._max_workers)</a:t>
            </a:r>
            <a:endParaRPr sz="1400" b="0" i="0" u="none">
              <a:solidFill>
                <a:schemeClr val="tx1"/>
              </a:solidFill>
              <a:latin typeface="Droid Sans Mono"/>
              <a:ea typeface="Droid Sans Mono"/>
              <a:cs typeface="Droid Sans Mono"/>
            </a:endParaRPr>
          </a:p>
          <a:p>
            <a:pPr marL="0" indent="0">
              <a:buFont typeface="Arial"/>
              <a:buNone/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...</a:t>
            </a:r>
            <a:endParaRPr sz="1400" i="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futures = [</a:t>
            </a:r>
            <a:endParaRPr lang="it-IT" sz="1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	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.executor.submit(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.get_action_single_thread, agent_id, observations[agent_id])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	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for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agent_id 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in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range(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.num_agents)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       ]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for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future 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in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 futures: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	agent_id, action_encoded = future.result()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	actions_encoded[agent_id] = action_encoded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	actions[agent_id] = 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self</a:t>
            </a:r>
            <a:r>
              <a:rPr lang="it-IT" sz="1400" b="0" i="0" u="none" strike="noStrike" cap="none" spc="0">
                <a:solidFill>
                  <a:schemeClr val="tx1"/>
                </a:solidFill>
                <a:latin typeface="Droid Sans Mono"/>
                <a:ea typeface="Droid Sans Mono"/>
                <a:cs typeface="Droid Sans Mono"/>
              </a:rPr>
              <a:t>.decode(action_encoded)</a:t>
            </a:r>
            <a:endParaRPr sz="1400"/>
          </a:p>
          <a:p>
            <a:pPr>
              <a:defRPr/>
            </a:pPr>
            <a:r>
              <a:rPr sz="1400"/>
              <a:t>...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265303" name="Titolo 1"/>
          <p:cNvSpPr>
            <a:spLocks noGrp="1"/>
          </p:cNvSpPr>
          <p:nvPr>
            <p:ph type="title"/>
          </p:nvPr>
        </p:nvSpPr>
        <p:spPr bwMode="auto">
          <a:xfrm>
            <a:off x="929786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Time comparison</a:t>
            </a:r>
            <a:endParaRPr/>
          </a:p>
        </p:txBody>
      </p:sp>
      <p:pic>
        <p:nvPicPr>
          <p:cNvPr id="8477346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3173" y="1923317"/>
            <a:ext cx="5716874" cy="4438649"/>
          </a:xfrm>
          <a:prstGeom prst="rect">
            <a:avLst/>
          </a:prstGeom>
        </p:spPr>
      </p:pic>
      <p:pic>
        <p:nvPicPr>
          <p:cNvPr id="58124143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21345" y="1923317"/>
            <a:ext cx="5731442" cy="443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51453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Adoption of GPU</a:t>
            </a:r>
            <a:endParaRPr/>
          </a:p>
        </p:txBody>
      </p:sp>
      <p:sp>
        <p:nvSpPr>
          <p:cNvPr id="876850816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7" y="1917210"/>
            <a:ext cx="11106561" cy="4351338"/>
          </a:xfrm>
        </p:spPr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Taking advantage of NVIDIA GPU in order to speedup calculations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Up to # gpu cores for batch size for each agent before saturation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Exploitation of </a:t>
            </a:r>
            <a:r>
              <a:rPr i="1"/>
              <a:t>Cuda</a:t>
            </a:r>
            <a:r>
              <a:rPr i="0"/>
              <a:t> for parallelizing operations of training</a:t>
            </a:r>
            <a:endParaRPr i="0"/>
          </a:p>
          <a:p>
            <a:pPr>
              <a:lnSpc>
                <a:spcPct val="114999"/>
              </a:lnSpc>
              <a:defRPr/>
            </a:pPr>
            <a:r>
              <a:rPr i="0"/>
              <a:t>Note: it is needed a downgrade of some libraries due to Pascal architecture (sm_61) of MX330 and GTX1050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82609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Time comparison</a:t>
            </a:r>
            <a:endParaRPr/>
          </a:p>
        </p:txBody>
      </p:sp>
      <p:pic>
        <p:nvPicPr>
          <p:cNvPr id="12530703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875" y="1776778"/>
            <a:ext cx="5633751" cy="4200525"/>
          </a:xfrm>
          <a:prstGeom prst="rect">
            <a:avLst/>
          </a:prstGeom>
        </p:spPr>
      </p:pic>
      <p:pic>
        <p:nvPicPr>
          <p:cNvPr id="97521743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187585" y="1766699"/>
            <a:ext cx="5647268" cy="4210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181213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CPU vs GPU</a:t>
            </a:r>
            <a:endParaRPr/>
          </a:p>
        </p:txBody>
      </p:sp>
      <p:pic>
        <p:nvPicPr>
          <p:cNvPr id="5456289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49375" y="1465383"/>
            <a:ext cx="5946721" cy="4433875"/>
          </a:xfrm>
          <a:prstGeom prst="rect">
            <a:avLst/>
          </a:prstGeom>
        </p:spPr>
      </p:pic>
      <p:pic>
        <p:nvPicPr>
          <p:cNvPr id="79789469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1586" y="1465383"/>
            <a:ext cx="5716873" cy="4438649"/>
          </a:xfrm>
          <a:prstGeom prst="rect">
            <a:avLst/>
          </a:prstGeom>
        </p:spPr>
      </p:pic>
      <p:sp>
        <p:nvSpPr>
          <p:cNvPr id="943340156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669365" y="6056922"/>
            <a:ext cx="10960021" cy="62889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sz="2600"/>
              <a:t>Serialized action decision and GPU usage “outsmarts” other combinations</a:t>
            </a:r>
            <a:endParaRPr sz="2600"/>
          </a:p>
        </p:txBody>
      </p:sp>
      <p:sp>
        <p:nvSpPr>
          <p:cNvPr id="1299649437" name=""/>
          <p:cNvSpPr/>
          <p:nvPr/>
        </p:nvSpPr>
        <p:spPr bwMode="auto">
          <a:xfrm rot="0" flipH="0" flipV="0">
            <a:off x="5332211" y="1850047"/>
            <a:ext cx="384663" cy="219807"/>
          </a:xfrm>
          <a:prstGeom prst="rect">
            <a:avLst/>
          </a:prstGeom>
          <a:solidFill>
            <a:schemeClr val="accent4">
              <a:alpha val="3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8812263" name=""/>
          <p:cNvSpPr/>
          <p:nvPr/>
        </p:nvSpPr>
        <p:spPr bwMode="auto">
          <a:xfrm rot="0" flipH="0" flipV="0">
            <a:off x="11592751" y="1850047"/>
            <a:ext cx="384662" cy="219806"/>
          </a:xfrm>
          <a:prstGeom prst="rect">
            <a:avLst/>
          </a:prstGeom>
          <a:solidFill>
            <a:srgbClr val="AB488A">
              <a:alpha val="30000"/>
            </a:srgb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344446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Other metrics comparison	</a:t>
            </a:r>
            <a:endParaRPr/>
          </a:p>
        </p:txBody>
      </p:sp>
      <p:sp>
        <p:nvSpPr>
          <p:cNvPr id="130085623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550865"/>
            <a:ext cx="10515600" cy="4351338"/>
          </a:xfrm>
        </p:spPr>
        <p:txBody>
          <a:bodyPr/>
          <a:lstStyle/>
          <a:p>
            <a:pPr>
              <a:defRPr/>
            </a:pPr>
            <a:r>
              <a:rPr sz="2600"/>
              <a:t>Using GPU instead of CPU leads to no differences in terms of the usual metrics tracked during training (ex. rewards)</a:t>
            </a:r>
            <a:r>
              <a:rPr sz="2600"/>
              <a:t>:</a:t>
            </a:r>
            <a:endParaRPr/>
          </a:p>
        </p:txBody>
      </p:sp>
      <p:pic>
        <p:nvPicPr>
          <p:cNvPr id="391964631" name=""/>
          <p:cNvPicPr>
            <a:picLocks noChangeAspect="1"/>
          </p:cNvPicPr>
          <p:nvPr/>
        </p:nvPicPr>
        <p:blipFill rotWithShape="1">
          <a:blip r:embed="rId3"/>
          <a:srcRect l="0" t="0" r="0" b="5495"/>
          <a:stretch/>
        </p:blipFill>
        <p:spPr bwMode="auto">
          <a:xfrm flipH="0" flipV="0">
            <a:off x="142875" y="2546105"/>
            <a:ext cx="5953124" cy="4194663"/>
          </a:xfrm>
          <a:prstGeom prst="rect">
            <a:avLst/>
          </a:prstGeom>
        </p:spPr>
      </p:pic>
      <p:pic>
        <p:nvPicPr>
          <p:cNvPr id="547021146" name=""/>
          <p:cNvPicPr>
            <a:picLocks noChangeAspect="1"/>
          </p:cNvPicPr>
          <p:nvPr/>
        </p:nvPicPr>
        <p:blipFill rotWithShape="1">
          <a:blip r:embed="rId4"/>
          <a:srcRect l="0" t="0" r="0" b="5909"/>
          <a:stretch/>
        </p:blipFill>
        <p:spPr bwMode="auto">
          <a:xfrm flipH="0" flipV="0">
            <a:off x="6172931" y="2582739"/>
            <a:ext cx="5953124" cy="4176345"/>
          </a:xfrm>
          <a:prstGeom prst="rect">
            <a:avLst/>
          </a:prstGeom>
        </p:spPr>
      </p:pic>
      <p:sp>
        <p:nvSpPr>
          <p:cNvPr id="1457631461" name=""/>
          <p:cNvSpPr txBox="1"/>
          <p:nvPr/>
        </p:nvSpPr>
        <p:spPr bwMode="auto">
          <a:xfrm rot="0" flipH="0" flipV="0">
            <a:off x="716248" y="2582739"/>
            <a:ext cx="91658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CPU</a:t>
            </a:r>
            <a:endParaRPr/>
          </a:p>
        </p:txBody>
      </p:sp>
      <p:sp>
        <p:nvSpPr>
          <p:cNvPr id="1274576356" name=""/>
          <p:cNvSpPr txBox="1"/>
          <p:nvPr/>
        </p:nvSpPr>
        <p:spPr bwMode="auto">
          <a:xfrm rot="0" flipH="0" flipV="0">
            <a:off x="6840091" y="2582739"/>
            <a:ext cx="9176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GPU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598581" name="Titolo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/>
              <a:t>Information remotion from observation</a:t>
            </a:r>
            <a:endParaRPr/>
          </a:p>
        </p:txBody>
      </p:sp>
      <p:sp>
        <p:nvSpPr>
          <p:cNvPr id="256382131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3999" y="4059970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Lorenzo Pecorari - 1885161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428109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Main goal</a:t>
            </a:r>
            <a:endParaRPr/>
          </a:p>
        </p:txBody>
      </p:sp>
      <p:sp>
        <p:nvSpPr>
          <p:cNvPr id="445954926" name="Segnaposto contenuto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/>
              <a:t>Removing some information from observation in order to check behavior of agents with weaker knowledge about the system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From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To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Only mean battery level and mean storage level are available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During tests, this attempt will be called “Reduced states”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Tests done with DQN, day 355 and 5 agents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57657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Rewards </a:t>
            </a:r>
            <a:endParaRPr/>
          </a:p>
        </p:txBody>
      </p:sp>
      <p:pic>
        <p:nvPicPr>
          <p:cNvPr id="4175364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50951" y="2386745"/>
            <a:ext cx="5953124" cy="4438649"/>
          </a:xfrm>
          <a:prstGeom prst="rect">
            <a:avLst/>
          </a:prstGeom>
        </p:spPr>
      </p:pic>
      <p:pic>
        <p:nvPicPr>
          <p:cNvPr id="648965312" name=""/>
          <p:cNvPicPr>
            <a:picLocks noChangeAspect="1"/>
          </p:cNvPicPr>
          <p:nvPr/>
        </p:nvPicPr>
        <p:blipFill rotWithShape="1">
          <a:blip r:embed="rId4"/>
          <a:srcRect l="0" t="0" r="0" b="5909"/>
          <a:stretch/>
        </p:blipFill>
        <p:spPr bwMode="auto">
          <a:xfrm flipH="0" flipV="0">
            <a:off x="-40298" y="2386744"/>
            <a:ext cx="5953124" cy="4176345"/>
          </a:xfrm>
          <a:prstGeom prst="rect">
            <a:avLst/>
          </a:prstGeom>
        </p:spPr>
      </p:pic>
      <p:sp>
        <p:nvSpPr>
          <p:cNvPr id="2109922450" name=""/>
          <p:cNvSpPr txBox="1"/>
          <p:nvPr/>
        </p:nvSpPr>
        <p:spPr bwMode="auto">
          <a:xfrm rot="0" flipH="0" flipV="0">
            <a:off x="2276481" y="1758461"/>
            <a:ext cx="168627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BEFORE</a:t>
            </a:r>
            <a:endParaRPr/>
          </a:p>
        </p:txBody>
      </p:sp>
      <p:sp>
        <p:nvSpPr>
          <p:cNvPr id="575242997" name=""/>
          <p:cNvSpPr txBox="1"/>
          <p:nvPr/>
        </p:nvSpPr>
        <p:spPr bwMode="auto">
          <a:xfrm rot="0" flipH="0" flipV="0">
            <a:off x="8284197" y="1745865"/>
            <a:ext cx="16884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AFTER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32066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Backlogs</a:t>
            </a:r>
            <a:endParaRPr/>
          </a:p>
        </p:txBody>
      </p:sp>
      <p:sp>
        <p:nvSpPr>
          <p:cNvPr id="85262566" name=""/>
          <p:cNvSpPr txBox="1"/>
          <p:nvPr/>
        </p:nvSpPr>
        <p:spPr bwMode="auto">
          <a:xfrm rot="0" flipH="0" flipV="0">
            <a:off x="2276480" y="1758460"/>
            <a:ext cx="1686271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BEFORE</a:t>
            </a:r>
            <a:endParaRPr/>
          </a:p>
        </p:txBody>
      </p:sp>
      <p:sp>
        <p:nvSpPr>
          <p:cNvPr id="699159226" name=""/>
          <p:cNvSpPr txBox="1"/>
          <p:nvPr/>
        </p:nvSpPr>
        <p:spPr bwMode="auto">
          <a:xfrm rot="0" flipH="0" flipV="0">
            <a:off x="8284197" y="1745865"/>
            <a:ext cx="1688430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AFTER</a:t>
            </a:r>
            <a:endParaRPr/>
          </a:p>
        </p:txBody>
      </p:sp>
      <p:pic>
        <p:nvPicPr>
          <p:cNvPr id="19631978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36297" y="2255959"/>
            <a:ext cx="5953124" cy="4438649"/>
          </a:xfrm>
          <a:prstGeom prst="rect">
            <a:avLst/>
          </a:prstGeom>
        </p:spPr>
      </p:pic>
      <p:pic>
        <p:nvPicPr>
          <p:cNvPr id="118036427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3269" y="2326298"/>
            <a:ext cx="5953124" cy="443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516614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Batteries</a:t>
            </a:r>
            <a:endParaRPr/>
          </a:p>
        </p:txBody>
      </p:sp>
      <p:sp>
        <p:nvSpPr>
          <p:cNvPr id="749713226" name=""/>
          <p:cNvSpPr txBox="1"/>
          <p:nvPr/>
        </p:nvSpPr>
        <p:spPr bwMode="auto">
          <a:xfrm rot="0" flipH="0" flipV="0">
            <a:off x="2276480" y="1758460"/>
            <a:ext cx="168663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BEFORE</a:t>
            </a:r>
            <a:endParaRPr/>
          </a:p>
        </p:txBody>
      </p:sp>
      <p:sp>
        <p:nvSpPr>
          <p:cNvPr id="176696445" name=""/>
          <p:cNvSpPr txBox="1"/>
          <p:nvPr/>
        </p:nvSpPr>
        <p:spPr bwMode="auto">
          <a:xfrm rot="0" flipH="0" flipV="0">
            <a:off x="8284197" y="1745865"/>
            <a:ext cx="168879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AFTER</a:t>
            </a:r>
            <a:endParaRPr/>
          </a:p>
        </p:txBody>
      </p:sp>
      <p:pic>
        <p:nvPicPr>
          <p:cNvPr id="12951409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875" y="2219324"/>
            <a:ext cx="5953124" cy="4438649"/>
          </a:xfrm>
          <a:prstGeom prst="rect">
            <a:avLst/>
          </a:prstGeom>
        </p:spPr>
      </p:pic>
      <p:pic>
        <p:nvPicPr>
          <p:cNvPr id="27238946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152030" y="2219324"/>
            <a:ext cx="5953124" cy="4438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902026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Framerates</a:t>
            </a:r>
            <a:endParaRPr/>
          </a:p>
        </p:txBody>
      </p:sp>
      <p:pic>
        <p:nvPicPr>
          <p:cNvPr id="139353106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44711" y="2219324"/>
            <a:ext cx="5953124" cy="4438649"/>
          </a:xfrm>
          <a:prstGeom prst="rect">
            <a:avLst/>
          </a:prstGeom>
        </p:spPr>
      </p:pic>
      <p:pic>
        <p:nvPicPr>
          <p:cNvPr id="108448684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1586" y="2255959"/>
            <a:ext cx="5953124" cy="4438649"/>
          </a:xfrm>
          <a:prstGeom prst="rect">
            <a:avLst/>
          </a:prstGeom>
        </p:spPr>
      </p:pic>
      <p:sp>
        <p:nvSpPr>
          <p:cNvPr id="425924663" name=""/>
          <p:cNvSpPr txBox="1"/>
          <p:nvPr/>
        </p:nvSpPr>
        <p:spPr bwMode="auto">
          <a:xfrm rot="0" flipH="0" flipV="0">
            <a:off x="2276480" y="1758460"/>
            <a:ext cx="16869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BEFORE</a:t>
            </a:r>
            <a:endParaRPr/>
          </a:p>
        </p:txBody>
      </p:sp>
      <p:sp>
        <p:nvSpPr>
          <p:cNvPr id="870382540" name=""/>
          <p:cNvSpPr txBox="1"/>
          <p:nvPr/>
        </p:nvSpPr>
        <p:spPr bwMode="auto">
          <a:xfrm rot="0" flipH="0" flipV="0">
            <a:off x="8284196" y="1745865"/>
            <a:ext cx="168915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/>
              <a:t>AFTER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443716" name="Titolo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/>
              <a:t>Explicit matching</a:t>
            </a:r>
            <a:endParaRPr/>
          </a:p>
        </p:txBody>
      </p:sp>
      <p:sp>
        <p:nvSpPr>
          <p:cNvPr id="186334240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3998" y="3876796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Lorenzo Pecorari - 1885161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53565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Formulation</a:t>
            </a:r>
            <a:endParaRPr/>
          </a:p>
        </p:txBody>
      </p:sp>
      <p:sp>
        <p:nvSpPr>
          <p:cNvPr id="1404751307" name="Segnaposto contenuto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105156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14999"/>
              </a:lnSpc>
              <a:defRPr/>
            </a:pPr>
            <a:r>
              <a:rPr sz="2600"/>
              <a:t>Adding a binary variable in observation for informing agents if offloading matching happened at time t-1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600"/>
              <a:t>From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600"/>
              <a:t>To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match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600"/>
          </a:p>
          <a:p>
            <a:pPr>
              <a:lnSpc>
                <a:spcPct val="114999"/>
              </a:lnSpc>
              <a:defRPr/>
            </a:pPr>
            <a:r>
              <a:rPr sz="2600"/>
              <a:t>Or to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match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(“reduced states”)</a:t>
            </a: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Increasing of 1 dimension the observation, agents can know if offloading at t-1 was successful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match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1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or not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match</a:t>
            </a:r>
            <a:r>
              <a:rPr lang="it-IT" sz="26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0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69498" name="Titolo 1"/>
          <p:cNvSpPr>
            <a:spLocks noGrp="1"/>
          </p:cNvSpPr>
          <p:nvPr>
            <p:ph type="ctrTitle"/>
          </p:nvPr>
        </p:nvSpPr>
        <p:spPr bwMode="auto">
          <a:xfrm flipH="0" flipV="0">
            <a:off x="734567" y="1122363"/>
            <a:ext cx="10697307" cy="2387599"/>
          </a:xfrm>
        </p:spPr>
        <p:txBody>
          <a:bodyPr/>
          <a:lstStyle>
            <a:lvl1pPr algn="ctr">
              <a:defRPr sz="6000"/>
            </a:lvl1pPr>
          </a:lstStyle>
          <a:p>
            <a:pPr>
              <a:defRPr/>
            </a:pPr>
            <a:r>
              <a:rPr sz="5000"/>
              <a:t>More expressive state </a:t>
            </a:r>
            <a:r>
              <a:rPr sz="5000"/>
              <a:t>aggregation</a:t>
            </a:r>
            <a:endParaRPr sz="5000"/>
          </a:p>
        </p:txBody>
      </p:sp>
      <p:sp>
        <p:nvSpPr>
          <p:cNvPr id="799858749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1523999" y="3785211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Lorenzo Pecorari - 1885161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7907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From average to more expressive metric</a:t>
            </a:r>
            <a:endParaRPr/>
          </a:p>
        </p:txBody>
      </p:sp>
      <p:sp>
        <p:nvSpPr>
          <p:cNvPr id="2014345040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Minimum, maximum and average allow agent to know their state wrt the others</a:t>
            </a:r>
            <a:endParaRPr/>
          </a:p>
          <a:p>
            <a:pPr>
              <a:defRPr/>
            </a:pPr>
            <a:r>
              <a:rPr/>
              <a:t>Reducing to only average (of others) may lead to loss of information about the range</a:t>
            </a:r>
            <a:endParaRPr/>
          </a:p>
          <a:p>
            <a:pPr>
              <a:defRPr/>
            </a:pPr>
            <a:r>
              <a:rPr/>
              <a:t>Using z-score might help to define the “position” of each agent compared to others</a:t>
            </a:r>
            <a:endParaRPr/>
          </a:p>
          <a:p>
            <a:pPr>
              <a:defRPr/>
            </a:pPr>
            <a:r>
              <a:rPr/>
              <a:t>However, it is unbounded and it may be needed a clipping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355606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Z-Score</a:t>
            </a:r>
            <a:endParaRPr/>
          </a:p>
        </p:txBody>
      </p:sp>
      <p:sp>
        <p:nvSpPr>
          <p:cNvPr id="177444908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5487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lnSpc>
                <a:spcPct val="114999"/>
              </a:lnSpc>
              <a:defRPr/>
            </a:pPr>
            <a:r>
              <a:rPr/>
              <a:t>z : </a:t>
            </a:r>
            <a:r>
              <a:rPr>
                <a:latin typeface="Asana Math"/>
                <a:ea typeface="Asana Math"/>
                <a:cs typeface="Asana Math"/>
              </a:rPr>
              <a:t>ℝ</a:t>
            </a:r>
            <a:r>
              <a:rPr baseline="30000"/>
              <a:t>k </a:t>
            </a:r>
            <a:r>
              <a:rPr>
                <a:latin typeface="Asana Math"/>
                <a:ea typeface="Asana Math"/>
                <a:cs typeface="Asana Math"/>
              </a:rPr>
              <a:t>→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ℝ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z(x)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 - </m:t>
                          </m:r>
                          <m:r>
                            <m:rPr/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μ</m:t>
                          </m:r>
                        </m:num>
                        <m:den>
                          <m:r>
                            <m:rPr/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σ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where:</a:t>
            </a:r>
            <a:b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μ=</m:t>
                      </m:r>
                      <m:f>
                        <m:fPr>
                          <m:ctrlPr>
                            <a:rPr lang="it-IT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grow m:val="off"/>
                          <m:limLoc m:val="subSup"/>
                          <m:ctrlPr>
                            <a:rPr lang="it-IT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 = 1</m:t>
                          </m:r>
                        </m:sub>
                        <m:sup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lang="it-IT" sz="2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m:rPr/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 </m:t>
                      </m:r>
                    </m:oMath>
                  </m:oMathPara>
                </a14:m>
              </mc:Choice>
              <mc:Fallback/>
            </mc:AlternateContent>
            <a:b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	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r>
                        <m:rPr/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it-IT" sz="28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>
                          <m:r>
                            <m:rPr>
                              <m:sty m:val="i"/>
                            </m:rPr>
                            <a:rPr lang="it-IT" sz="28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/>
                          </m:r>
                        </m:deg>
                        <m:e>
                          <m:f>
                            <m:fPr>
                              <m:ctrlPr>
                                <a:rPr lang="it-IT" sz="2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  <m:nary>
                            <m:naryPr>
                              <m:chr m:val="∑"/>
                              <m:grow m:val="off"/>
                              <m:limLoc m:val="subSup"/>
                              <m:ctrlPr>
                                <a:rPr lang="it-IT" sz="28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 = 1</m:t>
                              </m:r>
                            </m:sub>
                            <m:sup>
                              <m:r>
                                <m:rPr>
                                  <m:sty m:val="i"/>
                                </m:rPr>
                                <a:rPr lang="it-IT" sz="28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2800" i="1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("/>
                                      <m:endChr m:val=""/>
                                      <m:ctrlPr>
                                        <a:rPr lang="it-IT" sz="2800" u="none" strike="noStrike" cap="none" spc="0">
                                          <a:solidFill>
                                            <a:schemeClr val="tx1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800" b="0" i="1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i"/>
                                            </m:rPr>
                                            <a:rPr lang="it-IT" sz="2800" u="none" strike="noStrike" cap="none" spc="0">
                                              <a:solidFill>
                                                <a:schemeClr val="tx1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-</m:t>
                                  </m:r>
                                  <m:r>
                                    <m:rPr/>
                                    <a:rPr lang="it-IT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μ</m:t>
                                  </m:r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 )</m:t>
                                  </m:r>
                                </m:e>
                                <m:sup>
                                  <m:r>
                                    <m:rPr>
                                      <m:sty m:val="i"/>
                                    </m:rPr>
                                    <a:rPr lang="it-IT" sz="2800" u="none" strike="noStrike" cap="none" spc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</mc:Choice>
              <mc:Fallback/>
            </mc:AlternateContent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“how many std deviation x is far from the mean” or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“how far x is from the group”</a:t>
            </a: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Applying this to battery and backlog level for each agent, it allows to know which is the situation of the node without using three variables</a:t>
            </a:r>
            <a:endParaRPr/>
          </a:p>
        </p:txBody>
      </p:sp>
      <p:pic>
        <p:nvPicPr>
          <p:cNvPr id="2183188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758661" y="1766886"/>
            <a:ext cx="3883730" cy="2333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223010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Limiting the z-score</a:t>
            </a:r>
            <a:endParaRPr/>
          </a:p>
        </p:txBody>
      </p:sp>
      <p:sp>
        <p:nvSpPr>
          <p:cNvPr id="702022161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734038"/>
            <a:ext cx="10740213" cy="23690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Due to the range (-</a:t>
            </a:r>
            <a:r>
              <a:rPr sz="2800" b="0" i="0" u="none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∞, +</a:t>
            </a:r>
            <a:r>
              <a:rPr lang="it-IT" sz="2800" b="0" i="0" u="none" strike="noStrike" cap="none" spc="0">
                <a:solidFill>
                  <a:srgbClr val="000000"/>
                </a:solidFill>
                <a:latin typeface="Asana Math"/>
                <a:ea typeface="Asana Math"/>
                <a:cs typeface="Asana Math"/>
              </a:rPr>
              <a:t>∞)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the output of z(x), it can be applied a limitation of its value to smaller intervals</a:t>
            </a:r>
            <a:endParaRPr lang="it-IT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Ex: hyperbolic tangent function and sigmoid can cope such problem</a:t>
            </a:r>
            <a:endParaRPr lang="it-IT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8049665" name="Segnaposto contenuto 2"/>
          <p:cNvSpPr>
            <a:spLocks noGrp="1"/>
          </p:cNvSpPr>
          <p:nvPr/>
        </p:nvSpPr>
        <p:spPr bwMode="auto">
          <a:xfrm flipH="0" flipV="0">
            <a:off x="880695" y="3498360"/>
            <a:ext cx="5257476" cy="2857744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tanh: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ℝ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rial"/>
                <a:ea typeface="Arial"/>
                <a:cs typeface="Arial"/>
              </a:rPr>
              <a:t>k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→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[-1, +1]</a:t>
            </a: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tanh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f>
                        <m:fPr>
                          <m:ctrlPr>
                            <a:rPr lang="it-IT" sz="26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26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2x</m:t>
                              </m:r>
                            </m:sup>
                          </m:sSup>
                          <m:r>
                            <m:rPr>
                              <m:sty m:val="i"/>
                            </m:r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- 1</m:t>
                          </m:r>
                        </m:num>
                        <m:den>
                          <m:sSup>
                            <m:sSupPr>
                              <m:ctrlPr>
                                <a:rPr lang="it-IT" sz="26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2x</m:t>
                              </m:r>
                            </m:sup>
                          </m:sSup>
                          <m:r>
                            <m:rPr>
                              <m:sty m:val="i"/>
                            </m:r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+ 1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50332902" name="Segnaposto contenuto 2"/>
          <p:cNvSpPr>
            <a:spLocks noGrp="1"/>
          </p:cNvSpPr>
          <p:nvPr/>
        </p:nvSpPr>
        <p:spPr bwMode="auto">
          <a:xfrm flipH="0" flipV="0">
            <a:off x="6299892" y="3467586"/>
            <a:ext cx="5257476" cy="2857743"/>
          </a:xfr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it-IT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sigmoid: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ℝ</a:t>
            </a:r>
            <a:r>
              <a:rPr lang="it-IT" sz="2600" b="0" i="0" u="none" strike="noStrike" cap="none" spc="0" baseline="30000">
                <a:solidFill>
                  <a:schemeClr val="tx1"/>
                </a:solidFill>
                <a:latin typeface="Arial"/>
                <a:ea typeface="Arial"/>
                <a:cs typeface="Arial"/>
              </a:rPr>
              <a:t>k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→ </a:t>
            </a:r>
            <a:r>
              <a:rPr lang="it-IT" sz="26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[0, +1]</a:t>
            </a: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sigmoid</m:t>
                      </m:r>
                      <m:d>
                        <m:dPr>
                          <m:begChr m:val="("/>
                          <m:endChr m:val=")"/>
                          <m:ctrl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it-IT" sz="2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 </m:t>
                      </m:r>
                      <m:f>
                        <m:fPr>
                          <m:ctrlPr>
                            <a:rPr lang="it-IT" sz="26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+ </m:t>
                          </m:r>
                          <m:sSup>
                            <m:sSupPr>
                              <m:ctrlPr>
                                <a:rPr lang="it-IT" sz="26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6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it-IT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1182197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56970" y="4768401"/>
            <a:ext cx="2984928" cy="1989952"/>
          </a:xfrm>
          <a:prstGeom prst="rect">
            <a:avLst/>
          </a:prstGeom>
        </p:spPr>
      </p:pic>
      <p:pic>
        <p:nvPicPr>
          <p:cNvPr id="352821430" name="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 flipH="0" flipV="0">
            <a:off x="7434833" y="4768401"/>
            <a:ext cx="2987596" cy="1989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627485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Formulation with hyperbolic tangent</a:t>
            </a:r>
            <a:endParaRPr/>
          </a:p>
        </p:txBody>
      </p:sp>
      <p:sp>
        <p:nvSpPr>
          <p:cNvPr id="69430385" name="Segnaposto contenuto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10515600" cy="454879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/>
              <a:t>Using z-score for finding position of agent metrics wrt the group</a:t>
            </a:r>
            <a:endParaRPr/>
          </a:p>
          <a:p>
            <a:pPr>
              <a:defRPr/>
            </a:pPr>
            <a:r>
              <a:rPr/>
              <a:t>Using tanh for delimit the z-score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M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28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</m:t>
                      </m:r>
                    </m:oMath>
                  </m:oMathPara>
                </a14:m>
              </mc:Choice>
              <mc:Fallback/>
            </mc:AlternateContent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</a:t>
            </a:r>
            <a:endParaRPr sz="2800"/>
          </a:p>
          <a:p>
            <a:pPr>
              <a:lnSpc>
                <a:spcPct val="114999"/>
              </a:lnSpc>
              <a:defRPr/>
            </a:pPr>
            <a:r>
              <a:rPr/>
              <a:t>To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tz(b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), 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tz(q</a:t>
            </a:r>
            <a:r>
              <a:rPr lang="it-IT" sz="28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8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</a:t>
            </a: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 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defRPr/>
            </a:pPr>
            <a:r>
              <a:rPr lang="it-IT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where:</a:t>
            </a:r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tz(x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 = tanh(z(x)),</a:t>
            </a:r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tanh(z(x))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2z(x)</m:t>
                              </m:r>
                            </m:sup>
                          </m:sSup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- 1</m:t>
                          </m:r>
                        </m:num>
                        <m:den>
                          <m:sSup>
                            <m:sSupPr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2z(x)</m:t>
                              </m:r>
                            </m:sup>
                          </m:sSup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 + 1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lnSpc>
                <a:spcPct val="114999"/>
              </a:lnSpc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z(x)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it-IT" sz="2400" b="0" i="1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i"/>
                            </m:rPr>
                            <a:rPr lang="it-IT" sz="24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 + </m:t>
                          </m:r>
                          <m:sSup>
                            <m:sSupPr>
                              <m:ctrlPr>
                                <a:rPr lang="it-IT" sz="2400" b="0" i="1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it-IT" sz="2400" u="none" strike="noStrike" cap="none" spc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-x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mc:Choice>
              <mc:Fallback/>
            </mc:AlternateContent>
            <a:endParaRPr lang="it-IT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100919037" name=""/>
          <p:cNvSpPr txBox="1"/>
          <p:nvPr/>
        </p:nvSpPr>
        <p:spPr bwMode="auto">
          <a:xfrm rot="0" flipH="0" flipV="0">
            <a:off x="8153076" y="4344865"/>
            <a:ext cx="347241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/>
              <a:t>from 9 dimensions to 5</a:t>
            </a:r>
            <a:endParaRPr/>
          </a:p>
        </p:txBody>
      </p:sp>
      <p:cxnSp>
        <p:nvCxnSpPr>
          <p:cNvPr id="1456069424" name=""/>
          <p:cNvCxnSpPr/>
          <p:nvPr/>
        </p:nvCxnSpPr>
        <p:spPr bwMode="auto">
          <a:xfrm flipH="0" flipV="0">
            <a:off x="5570336" y="3645144"/>
            <a:ext cx="2491153" cy="897548"/>
          </a:xfrm>
          <a:prstGeom prst="curvedConnector3">
            <a:avLst>
              <a:gd name="adj1" fmla="val 50000"/>
            </a:avLst>
          </a:prstGeom>
          <a:ln w="19049" cap="flat" cmpd="sng" algn="ctr">
            <a:solidFill>
              <a:schemeClr val="tx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476161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Formulation with hyperbolic tangent</a:t>
            </a:r>
            <a:endParaRPr sz="4400"/>
          </a:p>
        </p:txBody>
      </p:sp>
      <p:sp>
        <p:nvSpPr>
          <p:cNvPr id="250459672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lnSpc>
                <a:spcPct val="114999"/>
              </a:lnSpc>
              <a:defRPr/>
            </a:pPr>
            <a:r>
              <a:rPr/>
              <a:t>It can be preferred to use tanh instead of sigmoid since, when the node has same metrics values as the others, with sigmoid the variable becomes 0.5 but with tanh 0 (centrality)</a:t>
            </a:r>
            <a:endParaRPr/>
          </a:p>
          <a:p>
            <a:pPr>
              <a:lnSpc>
                <a:spcPct val="114999"/>
              </a:lnSpc>
              <a:defRPr/>
            </a:pPr>
            <a:r>
              <a:rPr/>
              <a:t>It might be possible to extend this formulation with the binary variable which tells to the agent if the offloading successfully happened at t-1, so observation becomes:</a:t>
            </a:r>
            <a:endParaRPr/>
          </a:p>
          <a:p>
            <a:pPr marL="457200" lvl="1" indent="0">
              <a:lnSpc>
                <a:spcPct val="114999"/>
              </a:lnSpc>
              <a:buFont typeface="Arial"/>
              <a:buNone/>
              <a:defRPr/>
            </a:pP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s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[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τ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, tz(b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), 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tz(q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), match</a:t>
            </a:r>
            <a:r>
              <a:rPr lang="it-IT" sz="2400" b="0" i="0" u="none" strike="noStrike" cap="none" spc="0" baseline="-25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t</a:t>
            </a:r>
            <a:r>
              <a:rPr lang="it-IT" sz="2400" b="0" i="0" u="none" strike="noStrike" cap="none" spc="0" baseline="30000">
                <a:solidFill>
                  <a:schemeClr val="tx1"/>
                </a:solidFill>
                <a:latin typeface="Asana Math"/>
                <a:ea typeface="Asana Math"/>
                <a:cs typeface="Asana Math"/>
              </a:rPr>
              <a:t>i</a:t>
            </a:r>
            <a:r>
              <a:rPr lang="it-IT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]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2012-12-03T06:56:55Z</dcterms:created>
  <dcterms:modified xsi:type="dcterms:W3CDTF">2026-02-26T22:17:49Z</dcterms:modified>
</cp:coreProperties>
</file>