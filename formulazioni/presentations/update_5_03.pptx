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267649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625382762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10/30/2013</a:t>
            </a:fld>
            <a:endParaRPr lang="it-IT"/>
          </a:p>
        </p:txBody>
      </p:sp>
      <p:sp>
        <p:nvSpPr>
          <p:cNvPr id="583865494" name="Segnaposto immagin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1574734687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769201620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05258089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‹#›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91272" name="Segnaposto immagin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9339707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261763890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3379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411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3620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6E995F-2077-5E11-CCC8-E8D752908A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F4DB10-F76E-D713-2C2C-F8BEEB6761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9696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343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652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821A90-7DB7-B5BB-64DA-9A5FEFBB1D7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978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87009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664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8A7429-1406-97A1-575E-8143A027B5E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69307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51244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3930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9A066C-6E3A-14CA-439A-26A657BBF8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1500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594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7868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7AEEE7-6342-69F8-D1A9-66D829D16A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2396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3323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866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7C63E9-F27E-753E-6685-0938E15BE49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1646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73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324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A34AF-6DB3-6749-5DFE-40EFC25556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7743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1759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326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CF9FEF-B4BA-CD8B-6477-DFBC61926D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041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8587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1595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4D3E3E-0A7B-F9CB-6C9B-6A38D9FF7D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4458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06392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318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480261-8661-4B62-EBBC-0A07A7F5B0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8676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77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9388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CB931D-03C0-1361-5BFB-13167E1809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2874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39633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66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70F1C6-ACD5-2B7A-1970-72D21C6472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46459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7634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580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CAA8BC-24D8-C43E-842F-4341666CCCD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6977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35908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76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BF4AE4-2B9A-F920-2841-C5AE5D0AF7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995524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803035775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 lang="it-IT"/>
          </a:p>
        </p:txBody>
      </p:sp>
      <p:sp>
        <p:nvSpPr>
          <p:cNvPr id="86180778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440313649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4782265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3581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399982519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239668781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40661784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0099871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537643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583958177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64980801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50587212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6849711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0418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405202687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294107175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236149073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579271916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5392124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350016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454132484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383731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99945023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44329908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656590049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202627972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02871204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194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10808086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976797429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27939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28004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720308855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54837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049204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677617698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240326440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726952223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521220039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9288581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7069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302481383" name="Segnaposto immagin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  <a:endParaRPr lang="it-IT"/>
          </a:p>
        </p:txBody>
      </p:sp>
      <p:sp>
        <p:nvSpPr>
          <p:cNvPr id="136946827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34619571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300506644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9511355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7924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996446887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42501752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92862590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0652962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706778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786599896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75452422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420337648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542035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3360039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17077698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78481611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156022043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881377690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media1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706819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Local Info only</a:t>
            </a:r>
            <a:endParaRPr lang="it-IT"/>
          </a:p>
        </p:txBody>
      </p:sp>
      <p:sp>
        <p:nvSpPr>
          <p:cNvPr id="203016936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887787"/>
            <a:ext cx="9144000" cy="1655761"/>
          </a:xfrm>
        </p:spPr>
        <p:txBody>
          <a:bodyPr/>
          <a:lstStyle/>
          <a:p>
            <a:pPr>
              <a:defRPr/>
            </a:pPr>
            <a:r>
              <a:rPr lang="it-IT"/>
              <a:t>Lorenzo Pecorari - 1885161</a:t>
            </a: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38037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Lighten the observation</a:t>
            </a:r>
            <a:endParaRPr/>
          </a:p>
        </p:txBody>
      </p:sp>
      <p:sp>
        <p:nvSpPr>
          <p:cNvPr id="1538481433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800"/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Agents can rely only on information coming from their local state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Observation with </a:t>
            </a:r>
            <a:r>
              <a:rPr lang="it-IT" sz="2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same dimensionality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of single agent formulation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Smaller observation space wrt initial formulation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Interesting to compare performances between “full” aggregated, partial and no global information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551976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Comparisons</a:t>
            </a:r>
            <a:endParaRPr/>
          </a:p>
        </p:txBody>
      </p:sp>
      <p:sp>
        <p:nvSpPr>
          <p:cNvPr id="1410952574" name="Segnaposto contenuto 2"/>
          <p:cNvSpPr>
            <a:spLocks noGrp="1"/>
          </p:cNvSpPr>
          <p:nvPr>
            <p:ph idx="1"/>
          </p:nvPr>
        </p:nvSpPr>
        <p:spPr bwMode="auto">
          <a:xfrm>
            <a:off x="838199" y="1825624"/>
            <a:ext cx="10515600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 sz="2600"/>
              <a:t>“</a:t>
            </a:r>
            <a:r>
              <a:rPr sz="2600" b="1"/>
              <a:t>Local only</a:t>
            </a:r>
            <a:r>
              <a:rPr sz="2600"/>
              <a:t>” </a:t>
            </a:r>
            <a:r>
              <a:rPr sz="2600">
                <a:latin typeface="Asana Math"/>
                <a:ea typeface="Asana Math"/>
                <a:cs typeface="Asana Math"/>
              </a:rPr>
              <a:t>→</a:t>
            </a:r>
            <a:r>
              <a:rPr sz="2600"/>
              <a:t>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600"/>
          </a:p>
          <a:p>
            <a:pPr lvl="1">
              <a:lnSpc>
                <a:spcPct val="114999"/>
              </a:lnSpc>
              <a:defRPr/>
            </a:pPr>
            <a:r>
              <a:rPr sz="2200"/>
              <a:t>Agent only knows its battery, backlog and time</a:t>
            </a:r>
            <a:endParaRPr sz="2600"/>
          </a:p>
          <a:p>
            <a:pPr>
              <a:lnSpc>
                <a:spcPct val="114999"/>
              </a:lnSpc>
              <a:defRPr/>
            </a:pPr>
            <a:r>
              <a:rPr sz="2600"/>
              <a:t>“</a:t>
            </a:r>
            <a:r>
              <a:rPr sz="2600" b="1"/>
              <a:t>Reduced states</a:t>
            </a:r>
            <a:r>
              <a:rPr sz="2600"/>
              <a:t>”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r>
              <a:rPr lang="it-IT" sz="2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Agent knows also average battery and average backlog status of others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</a:t>
            </a:r>
            <a:r>
              <a:rPr lang="it-IT" sz="2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Aggregated states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”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r>
              <a:rPr lang="it-IT" sz="2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Agent knows also min and max of battery and backlog status of others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34236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Rewards comparison</a:t>
            </a:r>
            <a:endParaRPr/>
          </a:p>
        </p:txBody>
      </p:sp>
      <p:sp>
        <p:nvSpPr>
          <p:cNvPr id="1960113392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4993049" cy="438943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400"/>
              <a:t>State aggregation leads to lower rewards with a more stable curve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Giving only local information to agents determines better rewards than aggregated info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Allowing agents to observe an average of others’ metrics seems to be the better trade-off between the configurations</a:t>
            </a:r>
            <a:endParaRPr sz="2400"/>
          </a:p>
        </p:txBody>
      </p:sp>
      <p:pic>
        <p:nvPicPr>
          <p:cNvPr id="8110494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91224" y="1804986"/>
            <a:ext cx="6000750" cy="44100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421620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 comparison</a:t>
            </a:r>
            <a:endParaRPr/>
          </a:p>
        </p:txBody>
      </p:sp>
      <p:sp>
        <p:nvSpPr>
          <p:cNvPr id="1009582043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5088299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Temporal performances seems to be </a:t>
            </a:r>
            <a:r>
              <a:rPr/>
              <a:t>very similar across the different configurations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No relevant differences between “heavier” informations</a:t>
            </a:r>
            <a:endParaRPr/>
          </a:p>
        </p:txBody>
      </p:sp>
      <p:pic>
        <p:nvPicPr>
          <p:cNvPr id="16168221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10274" y="1785937"/>
            <a:ext cx="6000750" cy="44100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30660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Backlog comparison</a:t>
            </a:r>
            <a:endParaRPr/>
          </a:p>
        </p:txBody>
      </p:sp>
      <p:sp>
        <p:nvSpPr>
          <p:cNvPr id="87216903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5208386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No significa</a:t>
            </a:r>
            <a:r>
              <a:rPr/>
              <a:t>nt differences between different configurations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“Reduced states” slightly better than others two</a:t>
            </a:r>
            <a:endParaRPr/>
          </a:p>
        </p:txBody>
      </p:sp>
      <p:pic>
        <p:nvPicPr>
          <p:cNvPr id="12698344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01469" y="1630240"/>
            <a:ext cx="6067424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305707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Battery comparison</a:t>
            </a:r>
            <a:endParaRPr/>
          </a:p>
        </p:txBody>
      </p:sp>
      <p:sp>
        <p:nvSpPr>
          <p:cNvPr id="902240288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4953366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Better battery management for “reduced states” configuration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“aggregated states” tends to consume more energy than others</a:t>
            </a:r>
            <a:endParaRPr/>
          </a:p>
        </p:txBody>
      </p:sp>
      <p:pic>
        <p:nvPicPr>
          <p:cNvPr id="19642238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74739" y="1690687"/>
            <a:ext cx="6067424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1813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Framerate comparison</a:t>
            </a:r>
            <a:endParaRPr/>
          </a:p>
        </p:txBody>
      </p:sp>
      <p:pic>
        <p:nvPicPr>
          <p:cNvPr id="1661136814" name=""/>
          <p:cNvPicPr>
            <a:picLocks noChangeAspect="1"/>
          </p:cNvPicPr>
          <p:nvPr/>
        </p:nvPicPr>
        <p:blipFill rotWithShape="1">
          <a:blip r:embed="rId3"/>
          <a:srcRect l="0" t="6976" r="1325" b="0"/>
          <a:stretch/>
        </p:blipFill>
        <p:spPr bwMode="auto">
          <a:xfrm flipH="0" flipV="0">
            <a:off x="1681162" y="3752848"/>
            <a:ext cx="4607287" cy="3047999"/>
          </a:xfrm>
          <a:prstGeom prst="rect">
            <a:avLst/>
          </a:prstGeom>
        </p:spPr>
      </p:pic>
      <p:pic>
        <p:nvPicPr>
          <p:cNvPr id="1404542094" name=""/>
          <p:cNvPicPr>
            <a:picLocks noChangeAspect="1"/>
          </p:cNvPicPr>
          <p:nvPr/>
        </p:nvPicPr>
        <p:blipFill rotWithShape="1">
          <a:blip r:embed="rId4"/>
          <a:srcRect l="787" t="6231" r="0" b="1780"/>
          <a:stretch/>
        </p:blipFill>
        <p:spPr bwMode="auto">
          <a:xfrm flipH="0" flipV="0">
            <a:off x="7641000" y="3848099"/>
            <a:ext cx="4443843" cy="2952749"/>
          </a:xfrm>
          <a:prstGeom prst="rect">
            <a:avLst/>
          </a:prstGeom>
        </p:spPr>
      </p:pic>
      <p:pic>
        <p:nvPicPr>
          <p:cNvPr id="39785120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534614" y="933449"/>
            <a:ext cx="4550228" cy="2438399"/>
          </a:xfrm>
          <a:prstGeom prst="rect">
            <a:avLst/>
          </a:prstGeom>
        </p:spPr>
      </p:pic>
      <p:sp>
        <p:nvSpPr>
          <p:cNvPr id="965693423" name=""/>
          <p:cNvSpPr txBox="1"/>
          <p:nvPr/>
        </p:nvSpPr>
        <p:spPr bwMode="auto">
          <a:xfrm rot="0" flipH="0" flipV="0">
            <a:off x="7896634" y="533398"/>
            <a:ext cx="38663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REDUCED STATES</a:t>
            </a:r>
            <a:endParaRPr/>
          </a:p>
        </p:txBody>
      </p:sp>
      <p:sp>
        <p:nvSpPr>
          <p:cNvPr id="1437798046" name=""/>
          <p:cNvSpPr txBox="1"/>
          <p:nvPr/>
        </p:nvSpPr>
        <p:spPr bwMode="auto">
          <a:xfrm rot="0" flipH="0" flipV="0">
            <a:off x="8024855" y="3582864"/>
            <a:ext cx="395797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AGGREGATED STATES</a:t>
            </a:r>
            <a:endParaRPr/>
          </a:p>
        </p:txBody>
      </p:sp>
      <p:sp>
        <p:nvSpPr>
          <p:cNvPr id="961255542" name=""/>
          <p:cNvSpPr txBox="1"/>
          <p:nvPr/>
        </p:nvSpPr>
        <p:spPr bwMode="auto">
          <a:xfrm rot="0" flipH="0" flipV="0">
            <a:off x="2935649" y="3443879"/>
            <a:ext cx="232481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LOCAL INFO ONLY</a:t>
            </a:r>
            <a:endParaRPr/>
          </a:p>
        </p:txBody>
      </p:sp>
      <p:sp>
        <p:nvSpPr>
          <p:cNvPr id="263659207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742948" y="1825624"/>
            <a:ext cx="6478950" cy="1515563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 sz="2400"/>
              <a:t>“Reduced states” configuration shows faster convergence and more stable if compared with others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713699" name="Titolo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>
            <a:lvl1pPr algn="ctr">
              <a:defRPr sz="6000"/>
            </a:lvl1pPr>
          </a:lstStyle>
          <a:p>
            <a:pPr>
              <a:defRPr/>
            </a:pPr>
            <a:r>
              <a:rPr/>
              <a:t>More expressive information</a:t>
            </a:r>
            <a:endParaRPr/>
          </a:p>
        </p:txBody>
      </p:sp>
      <p:sp>
        <p:nvSpPr>
          <p:cNvPr id="1884315868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3999" y="3785211"/>
            <a:ext cx="9144000" cy="165576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/>
              <a:t>Z score and sigmoid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467191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Limiting the z-score</a:t>
            </a:r>
            <a:endParaRPr/>
          </a:p>
        </p:txBody>
      </p:sp>
      <p:sp>
        <p:nvSpPr>
          <p:cNvPr id="83682856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7" y="1734037"/>
            <a:ext cx="10740213" cy="236903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Due to the range (-</a:t>
            </a:r>
            <a:r>
              <a:rPr sz="2800" b="0" i="0" u="none">
                <a:solidFill>
                  <a:srgbClr val="000000"/>
                </a:solidFill>
                <a:latin typeface="Asana Math"/>
                <a:ea typeface="Asana Math"/>
                <a:cs typeface="Asana Math"/>
              </a:rPr>
              <a:t>∞, +</a:t>
            </a:r>
            <a:r>
              <a:rPr lang="it-IT" sz="2800" b="0" i="0" u="none" strike="noStrike" cap="none" spc="0">
                <a:solidFill>
                  <a:srgbClr val="000000"/>
                </a:solidFill>
                <a:latin typeface="Asana Math"/>
                <a:ea typeface="Asana Math"/>
                <a:cs typeface="Asana Math"/>
              </a:rPr>
              <a:t>∞)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of the output of z(x), it can be applied a limitation of its value to smaller intervals</a:t>
            </a:r>
            <a:endParaRPr lang="it-IT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Ex: sigmoid function and sigmoid can cope such problem</a:t>
            </a:r>
            <a:endParaRPr lang="it-IT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505985587" name="Segnaposto contenuto 2"/>
          <p:cNvSpPr>
            <a:spLocks noGrp="1"/>
          </p:cNvSpPr>
          <p:nvPr/>
        </p:nvSpPr>
        <p:spPr bwMode="auto">
          <a:xfrm flipH="0" flipV="0">
            <a:off x="838198" y="3333749"/>
            <a:ext cx="4326021" cy="247869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8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8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sz="2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sigmoid: </a:t>
            </a:r>
            <a:r>
              <a:rPr lang="it-IT" sz="22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ℝ</a:t>
            </a:r>
            <a:r>
              <a:rPr lang="it-IT" sz="2200" b="0" i="0" u="none" strike="noStrike" cap="none" spc="0" baseline="30000">
                <a:solidFill>
                  <a:schemeClr val="tx1"/>
                </a:solidFill>
                <a:latin typeface="Arial"/>
                <a:ea typeface="Arial"/>
                <a:cs typeface="Arial"/>
              </a:rPr>
              <a:t>k </a:t>
            </a:r>
            <a:r>
              <a:rPr lang="it-IT" sz="22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 </a:t>
            </a:r>
            <a:r>
              <a:rPr lang="it-IT" sz="2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[0, +1]</a:t>
            </a:r>
            <a:endParaRPr lang="it-IT" sz="22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sigmoid</m:t>
                      </m:r>
                      <m:d>
                        <m:dPr>
                          <m:begChr m:val="("/>
                          <m:endChr m:val=")"/>
                          <m:ctrlPr>
                            <a:rPr lang="it-IT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it-IT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it-IT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</m:t>
                      </m:r>
                      <m:r>
                        <m:rPr>
                          <m:sty m:val="p"/>
                        </m:rPr>
                        <a:rPr lang="it-IT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z(x</m:t>
                      </m:r>
                      <m:r>
                        <m:rPr>
                          <m:sty m:val="p"/>
                        </m:rPr>
                        <a:rPr lang="it-IT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)) = </m:t>
                      </m:r>
                      <m:f>
                        <m:fPr>
                          <m:ctrlPr>
                            <a:rPr lang="it-IT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it-IT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it-IT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+ </m:t>
                          </m:r>
                          <m:sSup>
                            <m:sSupPr>
                              <m:ctrlPr>
                                <a:rPr lang="it-IT" sz="22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50989618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1296132" y="4359519"/>
            <a:ext cx="3501883" cy="2332504"/>
          </a:xfrm>
          <a:prstGeom prst="rect">
            <a:avLst/>
          </a:prstGeom>
        </p:spPr>
      </p:pic>
      <p:sp>
        <p:nvSpPr>
          <p:cNvPr id="1425205837" name="Segnaposto contenuto 2"/>
          <p:cNvSpPr>
            <a:spLocks noGrp="1"/>
          </p:cNvSpPr>
          <p:nvPr/>
        </p:nvSpPr>
        <p:spPr bwMode="auto">
          <a:xfrm flipH="0" flipV="0">
            <a:off x="6947267" y="3632688"/>
            <a:ext cx="5257476" cy="31197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8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8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8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Agent in: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Similar conditions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 ~0.5</a:t>
            </a:r>
            <a:endParaRPr lang="it-IT"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Better conditions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 &gt;0.5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Worse conditions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 &lt;0.5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844200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Formulation with sigmoid</a:t>
            </a:r>
            <a:endParaRPr/>
          </a:p>
        </p:txBody>
      </p:sp>
      <p:sp>
        <p:nvSpPr>
          <p:cNvPr id="321387212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7" y="1825623"/>
            <a:ext cx="10850119" cy="469533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Using z-score for finding position of agent metrics wrt the group</a:t>
            </a:r>
            <a:endParaRPr/>
          </a:p>
          <a:p>
            <a:pPr>
              <a:defRPr/>
            </a:pPr>
            <a:r>
              <a:rPr/>
              <a:t>Using tanh for delimit the z-score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From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800"/>
          </a:p>
          <a:p>
            <a:pPr>
              <a:lnSpc>
                <a:spcPct val="114999"/>
              </a:lnSpc>
              <a:defRPr/>
            </a:pPr>
            <a:r>
              <a:rPr/>
              <a:t>To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σ(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z(b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)),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σ(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z(q</a:t>
            </a:r>
            <a:r>
              <a:rPr lang="it-IT" sz="3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3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))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 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where: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σ(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z(x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)) =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it-IT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+ </m:t>
                          </m:r>
                          <m:sSup>
                            <m:sSupPr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it-IT"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sp>
        <p:nvSpPr>
          <p:cNvPr id="435837617" name=""/>
          <p:cNvSpPr txBox="1"/>
          <p:nvPr/>
        </p:nvSpPr>
        <p:spPr bwMode="auto">
          <a:xfrm rot="0" flipH="0" flipV="0">
            <a:off x="8244662" y="5352316"/>
            <a:ext cx="3472409" cy="4270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from 9 dimensions to 5</a:t>
            </a:r>
            <a:endParaRPr/>
          </a:p>
        </p:txBody>
      </p:sp>
      <p:cxnSp>
        <p:nvCxnSpPr>
          <p:cNvPr id="1876640054" name=""/>
          <p:cNvCxnSpPr/>
          <p:nvPr/>
        </p:nvCxnSpPr>
        <p:spPr bwMode="auto">
          <a:xfrm flipH="0" flipV="0">
            <a:off x="6815913" y="3864951"/>
            <a:ext cx="1263894" cy="1700903"/>
          </a:xfrm>
          <a:prstGeom prst="curvedConnector3">
            <a:avLst>
              <a:gd name="adj1" fmla="val 50000"/>
            </a:avLst>
          </a:prstGeom>
          <a:ln w="19049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093874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Rewards comparison</a:t>
            </a:r>
            <a:endParaRPr/>
          </a:p>
        </p:txBody>
      </p:sp>
      <p:sp>
        <p:nvSpPr>
          <p:cNvPr id="740135643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746613" y="2008797"/>
            <a:ext cx="5257800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Adoption of sigmoid and z-score introduces more gradual growth of rewards with overtake in final phases of training</a:t>
            </a:r>
            <a:endParaRPr/>
          </a:p>
          <a:p>
            <a:pPr>
              <a:defRPr/>
            </a:pPr>
            <a:endParaRPr/>
          </a:p>
        </p:txBody>
      </p:sp>
      <p:pic>
        <p:nvPicPr>
          <p:cNvPr id="13126116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522836" y="1762918"/>
            <a:ext cx="5457415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221976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 comparison</a:t>
            </a:r>
            <a:endParaRPr/>
          </a:p>
        </p:txBody>
      </p:sp>
      <p:sp>
        <p:nvSpPr>
          <p:cNvPr id="2619952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4896992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Higher time required by newer configuration 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Note: reduced states uses library function “numpy.mean”, which is optimized while sigmoid configuration uses a hand-made version</a:t>
            </a:r>
            <a:endParaRPr/>
          </a:p>
        </p:txBody>
      </p:sp>
      <p:pic>
        <p:nvPicPr>
          <p:cNvPr id="4669646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266394" y="1690687"/>
            <a:ext cx="5610914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17235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Backlog comparison</a:t>
            </a:r>
            <a:endParaRPr/>
          </a:p>
        </p:txBody>
      </p:sp>
      <p:sp>
        <p:nvSpPr>
          <p:cNvPr id="1177673322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5006895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Slightly higher average backlog for configuration using sigmoid and z-score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Convergence to same result after epsilon reaches the min value</a:t>
            </a:r>
            <a:endParaRPr/>
          </a:p>
        </p:txBody>
      </p:sp>
      <p:pic>
        <p:nvPicPr>
          <p:cNvPr id="146085770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11373" y="1648557"/>
            <a:ext cx="6067424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314123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Battery comparison</a:t>
            </a:r>
            <a:endParaRPr/>
          </a:p>
        </p:txBody>
      </p:sp>
      <p:sp>
        <p:nvSpPr>
          <p:cNvPr id="92406884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5257800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Initial advantage of sigmoid configuration with interleaving along the training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Slightly advantage in final phases of episodes for newer configuration</a:t>
            </a:r>
            <a:endParaRPr/>
          </a:p>
        </p:txBody>
      </p:sp>
      <p:pic>
        <p:nvPicPr>
          <p:cNvPr id="41046122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22730" y="1690687"/>
            <a:ext cx="6038849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286343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Framerate comparison</a:t>
            </a:r>
            <a:endParaRPr/>
          </a:p>
        </p:txBody>
      </p:sp>
      <p:sp>
        <p:nvSpPr>
          <p:cNvPr id="924727899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5641730"/>
            <a:ext cx="10515600" cy="993164"/>
          </a:xfrm>
        </p:spPr>
        <p:txBody>
          <a:bodyPr/>
          <a:lstStyle/>
          <a:p>
            <a:pPr>
              <a:defRPr/>
            </a:pPr>
            <a:r>
              <a:rPr sz="2400"/>
              <a:t>No relevant differences between the configuration</a:t>
            </a:r>
            <a:endParaRPr sz="2400"/>
          </a:p>
          <a:p>
            <a:pPr>
              <a:defRPr/>
            </a:pPr>
            <a:r>
              <a:rPr sz="2400"/>
              <a:t>Slightl greater oscillation of second version</a:t>
            </a:r>
            <a:endParaRPr sz="2600"/>
          </a:p>
        </p:txBody>
      </p:sp>
      <p:pic>
        <p:nvPicPr>
          <p:cNvPr id="64248973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9786" y="2008684"/>
            <a:ext cx="4852823" cy="3597518"/>
          </a:xfrm>
          <a:prstGeom prst="rect">
            <a:avLst/>
          </a:prstGeom>
        </p:spPr>
      </p:pic>
      <p:pic>
        <p:nvPicPr>
          <p:cNvPr id="208527875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75102" y="1962435"/>
            <a:ext cx="4966675" cy="3681920"/>
          </a:xfrm>
          <a:prstGeom prst="rect">
            <a:avLst/>
          </a:prstGeom>
        </p:spPr>
      </p:pic>
      <p:sp>
        <p:nvSpPr>
          <p:cNvPr id="173031842" name=""/>
          <p:cNvSpPr txBox="1"/>
          <p:nvPr/>
        </p:nvSpPr>
        <p:spPr bwMode="auto">
          <a:xfrm rot="0" flipH="0" flipV="0">
            <a:off x="1412307" y="1642564"/>
            <a:ext cx="38667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REDUCED STATES</a:t>
            </a:r>
            <a:endParaRPr/>
          </a:p>
        </p:txBody>
      </p:sp>
      <p:sp>
        <p:nvSpPr>
          <p:cNvPr id="358330166" name=""/>
          <p:cNvSpPr txBox="1"/>
          <p:nvPr/>
        </p:nvSpPr>
        <p:spPr bwMode="auto">
          <a:xfrm rot="0" flipH="0" flipV="0">
            <a:off x="7151485" y="1642677"/>
            <a:ext cx="38721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SIGMOID Z SCORE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ONLYOFFICE/9.3.0.140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2026-03-05T15:29:20Z</dcterms:modified>
</cp:coreProperties>
</file>