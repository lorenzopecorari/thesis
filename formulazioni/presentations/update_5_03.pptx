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554915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75461512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10/30/2013</a:t>
            </a:fld>
            <a:endParaRPr lang="it-IT"/>
          </a:p>
        </p:txBody>
      </p:sp>
      <p:sp>
        <p:nvSpPr>
          <p:cNvPr id="1006734371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1281839955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568257502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858392352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6068" name="Segnaposto immagin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73404901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rial"/>
              <a:cs typeface="Arial"/>
            </a:endParaRPr>
          </a:p>
        </p:txBody>
      </p:sp>
      <p:sp>
        <p:nvSpPr>
          <p:cNvPr id="2086837411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97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6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160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6E995F-2077-5E11-CCC8-E8D752908A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99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24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07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821A90-7DB7-B5BB-64DA-9A5FEFBB1D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57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685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A7429-1406-97A1-575E-8143A027B5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043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100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71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9A066C-6E3A-14CA-439A-26A657BBF8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7AEEE7-6342-69F8-D1A9-66D829D16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372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744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145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7C63E9-F27E-753E-6685-0938E15BE4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A34AF-6DB3-6749-5DFE-40EFC25556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253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799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09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CF9FEF-B4BA-CD8B-6477-DFBC61926D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11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426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588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4D3E3E-0A7B-F9CB-6C9B-6A38D9FF7D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480261-8661-4B62-EBBC-0A07A7F5B0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CB931D-03C0-1361-5BFB-13167E1809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70F1C6-ACD5-2B7A-1970-72D21C6472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CAA8BC-24D8-C43E-842F-4341666CCC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BF4AE4-2B9A-F920-2841-C5AE5D0AF7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21298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477104707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950234910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42399160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750789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67618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2513247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815006629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95559588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396371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697966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59939526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557026929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0932930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5783162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572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932018990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025814879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639026853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14309964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62337026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300383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564413096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058336830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41799266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12340000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14787849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24534139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58177237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6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409330522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5878586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51978780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68819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400754013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49587759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566564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68264559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35227552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32729304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005863209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79114399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064069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80180282" name="Segnaposto immagin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  <a:endParaRPr lang="it-IT"/>
          </a:p>
        </p:txBody>
      </p:sp>
      <p:sp>
        <p:nvSpPr>
          <p:cNvPr id="685258671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565893980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46631854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3359965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797048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68422510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851055981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4726515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674114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170555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540701373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37842103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05627879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483951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072558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2044190416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839528239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076348682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7077029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media1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86390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Local Info only</a:t>
            </a:r>
            <a:endParaRPr lang="it-IT"/>
          </a:p>
        </p:txBody>
      </p:sp>
      <p:sp>
        <p:nvSpPr>
          <p:cNvPr id="45192540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887787"/>
            <a:ext cx="9144000" cy="1655761"/>
          </a:xfrm>
        </p:spPr>
        <p:txBody>
          <a:bodyPr/>
          <a:lstStyle/>
          <a:p>
            <a:pPr>
              <a:defRPr/>
            </a:pPr>
            <a:r>
              <a:rPr lang="it-IT"/>
              <a:t>Lorenzo Pecorari - 1885161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15509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Lighten the observation</a:t>
            </a:r>
            <a:endParaRPr/>
          </a:p>
        </p:txBody>
      </p:sp>
      <p:sp>
        <p:nvSpPr>
          <p:cNvPr id="110797580" name="Segnaposto contenut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800"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Agents can rely only on information coming from their local state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Observation with </a:t>
            </a:r>
            <a:r>
              <a:rPr lang="it-IT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same dimensionality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of single agent formulation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Smaller observation space wrt initial formulation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Interesting to compare performances between “full” aggregated, partial and no global information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39826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Rewards comparison</a:t>
            </a:r>
            <a:endParaRPr/>
          </a:p>
        </p:txBody>
      </p:sp>
      <p:sp>
        <p:nvSpPr>
          <p:cNvPr id="368623799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4993049" cy="43894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/>
              <a:t>State aggregation leads to lower rewards with a more stable curve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Giving only local information to agents determines better rewards than aggregated info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Allowing agents to observe an average of others’ metrics seems to be the better trade-off between the configurations</a:t>
            </a:r>
            <a:endParaRPr sz="2400"/>
          </a:p>
        </p:txBody>
      </p:sp>
      <p:pic>
        <p:nvPicPr>
          <p:cNvPr id="4912918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91224" y="1804986"/>
            <a:ext cx="6000750" cy="4410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44916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Time comparison</a:t>
            </a:r>
            <a:endParaRPr/>
          </a:p>
        </p:txBody>
      </p:sp>
      <p:sp>
        <p:nvSpPr>
          <p:cNvPr id="278914905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5088299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Temporal performances seems to be </a:t>
            </a:r>
            <a:r>
              <a:rPr/>
              <a:t>very similar across the different configurations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No relevant differences between “heavier” informations</a:t>
            </a:r>
            <a:endParaRPr/>
          </a:p>
        </p:txBody>
      </p:sp>
      <p:pic>
        <p:nvPicPr>
          <p:cNvPr id="5072349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10274" y="1785937"/>
            <a:ext cx="6000750" cy="4410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67479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Backlog comparison</a:t>
            </a:r>
            <a:endParaRPr/>
          </a:p>
        </p:txBody>
      </p:sp>
      <p:sp>
        <p:nvSpPr>
          <p:cNvPr id="4999755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208386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No significa</a:t>
            </a:r>
            <a:r>
              <a:rPr/>
              <a:t>nt differences between different configurations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“Reduced states” slightly better than others two</a:t>
            </a:r>
            <a:endParaRPr/>
          </a:p>
        </p:txBody>
      </p:sp>
      <p:pic>
        <p:nvPicPr>
          <p:cNvPr id="12358397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01469" y="1630240"/>
            <a:ext cx="6067424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41410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Battery comparison</a:t>
            </a:r>
            <a:endParaRPr/>
          </a:p>
        </p:txBody>
      </p:sp>
      <p:sp>
        <p:nvSpPr>
          <p:cNvPr id="298689013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953366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Better battery management for “reduced states” configuration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“aggregated states” tends to consume more energy than others</a:t>
            </a:r>
            <a:endParaRPr/>
          </a:p>
        </p:txBody>
      </p:sp>
      <p:pic>
        <p:nvPicPr>
          <p:cNvPr id="10510349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74739" y="1690687"/>
            <a:ext cx="6067424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27240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Framerate comparison</a:t>
            </a:r>
            <a:endParaRPr/>
          </a:p>
        </p:txBody>
      </p:sp>
      <p:pic>
        <p:nvPicPr>
          <p:cNvPr id="607764838" name=""/>
          <p:cNvPicPr>
            <a:picLocks noChangeAspect="1"/>
          </p:cNvPicPr>
          <p:nvPr/>
        </p:nvPicPr>
        <p:blipFill rotWithShape="1">
          <a:blip r:embed="rId3"/>
          <a:srcRect l="0" t="6976" r="1325" b="0"/>
          <a:stretch/>
        </p:blipFill>
        <p:spPr bwMode="auto">
          <a:xfrm flipH="0" flipV="0">
            <a:off x="1681162" y="3752848"/>
            <a:ext cx="4607287" cy="3047999"/>
          </a:xfrm>
          <a:prstGeom prst="rect">
            <a:avLst/>
          </a:prstGeom>
        </p:spPr>
      </p:pic>
      <p:pic>
        <p:nvPicPr>
          <p:cNvPr id="536799902" name=""/>
          <p:cNvPicPr>
            <a:picLocks noChangeAspect="1"/>
          </p:cNvPicPr>
          <p:nvPr/>
        </p:nvPicPr>
        <p:blipFill rotWithShape="1">
          <a:blip r:embed="rId4"/>
          <a:srcRect l="787" t="6231" r="0" b="1780"/>
          <a:stretch/>
        </p:blipFill>
        <p:spPr bwMode="auto">
          <a:xfrm flipH="0" flipV="0">
            <a:off x="7641000" y="3848099"/>
            <a:ext cx="4443843" cy="2952749"/>
          </a:xfrm>
          <a:prstGeom prst="rect">
            <a:avLst/>
          </a:prstGeom>
        </p:spPr>
      </p:pic>
      <p:pic>
        <p:nvPicPr>
          <p:cNvPr id="91897652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534614" y="933449"/>
            <a:ext cx="4550228" cy="2438399"/>
          </a:xfrm>
          <a:prstGeom prst="rect">
            <a:avLst/>
          </a:prstGeom>
        </p:spPr>
      </p:pic>
      <p:sp>
        <p:nvSpPr>
          <p:cNvPr id="1262689109" name=""/>
          <p:cNvSpPr txBox="1"/>
          <p:nvPr/>
        </p:nvSpPr>
        <p:spPr bwMode="auto">
          <a:xfrm rot="0" flipH="0" flipV="0">
            <a:off x="7896634" y="533398"/>
            <a:ext cx="38663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REDUCED STATES</a:t>
            </a:r>
            <a:endParaRPr/>
          </a:p>
        </p:txBody>
      </p:sp>
      <p:sp>
        <p:nvSpPr>
          <p:cNvPr id="938963508" name=""/>
          <p:cNvSpPr txBox="1"/>
          <p:nvPr/>
        </p:nvSpPr>
        <p:spPr bwMode="auto">
          <a:xfrm rot="0" flipH="0" flipV="0">
            <a:off x="8024855" y="3582864"/>
            <a:ext cx="39579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AGGREGATED STATES</a:t>
            </a:r>
            <a:endParaRPr/>
          </a:p>
        </p:txBody>
      </p:sp>
      <p:sp>
        <p:nvSpPr>
          <p:cNvPr id="251296006" name=""/>
          <p:cNvSpPr txBox="1"/>
          <p:nvPr/>
        </p:nvSpPr>
        <p:spPr bwMode="auto">
          <a:xfrm rot="0" flipH="0" flipV="0">
            <a:off x="2935649" y="3443879"/>
            <a:ext cx="23248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LOCAL INFO ONLY</a:t>
            </a:r>
            <a:endParaRPr/>
          </a:p>
        </p:txBody>
      </p:sp>
      <p:sp>
        <p:nvSpPr>
          <p:cNvPr id="1714870485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742948" y="1825624"/>
            <a:ext cx="6478950" cy="1515563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400"/>
              <a:t>“Reduced states” configuration shows faster convergence and more stable if compared with others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782590" name="Titolo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/>
              <a:t>More expressive information</a:t>
            </a:r>
            <a:endParaRPr/>
          </a:p>
        </p:txBody>
      </p:sp>
      <p:sp>
        <p:nvSpPr>
          <p:cNvPr id="2127634609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3999" y="3785211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Z score and sigmoid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57536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Limiting the z-score</a:t>
            </a:r>
            <a:endParaRPr/>
          </a:p>
        </p:txBody>
      </p:sp>
      <p:sp>
        <p:nvSpPr>
          <p:cNvPr id="60669217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7" y="1734037"/>
            <a:ext cx="10740213" cy="23690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Due to the range (-</a:t>
            </a:r>
            <a:r>
              <a:rPr sz="2800" b="0" i="0" u="none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∞, +</a:t>
            </a:r>
            <a:r>
              <a:rPr lang="it-IT" sz="28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∞)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of the output of z(x), it can be applied a limitation of its value to smaller intervals</a:t>
            </a:r>
            <a:endParaRPr lang="it-IT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Ex: sigmoid function and sigmoid can cope such problem</a:t>
            </a:r>
            <a:endParaRPr lang="it-IT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29417089" name="Segnaposto contenuto 2"/>
          <p:cNvSpPr>
            <a:spLocks noGrp="1"/>
          </p:cNvSpPr>
          <p:nvPr/>
        </p:nvSpPr>
        <p:spPr bwMode="auto">
          <a:xfrm flipH="0" flipV="0">
            <a:off x="838199" y="3333749"/>
            <a:ext cx="4326021" cy="24786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8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8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sigmoid: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ℝ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rial"/>
                <a:ea typeface="Arial"/>
                <a:cs typeface="Arial"/>
              </a:rPr>
              <a:t>k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[0, +1]</a:t>
            </a:r>
            <a:endParaRPr lang="it-IT"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sigmoid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σ(</m:t>
                      </m:r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z(x</m:t>
                      </m:r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)) = </m:t>
                      </m:r>
                      <m:f>
                        <m:fPr>
                          <m:ctrlPr>
                            <a:rPr lang="it-IT" sz="22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+ </m:t>
                          </m:r>
                          <m:sSup>
                            <m:sSupPr>
                              <m:ctrlPr>
                                <a:rPr lang="it-IT" sz="22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5787443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296132" y="4359519"/>
            <a:ext cx="3501883" cy="2332504"/>
          </a:xfrm>
          <a:prstGeom prst="rect">
            <a:avLst/>
          </a:prstGeom>
        </p:spPr>
      </p:pic>
      <p:sp>
        <p:nvSpPr>
          <p:cNvPr id="148272542" name="Segnaposto contenuto 2"/>
          <p:cNvSpPr>
            <a:spLocks noGrp="1"/>
          </p:cNvSpPr>
          <p:nvPr/>
        </p:nvSpPr>
        <p:spPr bwMode="auto">
          <a:xfrm flipH="0" flipV="0">
            <a:off x="6947267" y="3632688"/>
            <a:ext cx="5257476" cy="31197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8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8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8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Agent in: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Similar conditions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~0.5</a:t>
            </a:r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Better conditions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&gt;0.5</a:t>
            </a: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Worse conditions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&lt;0.5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43630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Formulation with sigmoid</a:t>
            </a:r>
            <a:endParaRPr/>
          </a:p>
        </p:txBody>
      </p:sp>
      <p:sp>
        <p:nvSpPr>
          <p:cNvPr id="996438507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850119" cy="46953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Using z-score for finding position of agent metrics wrt the group</a:t>
            </a:r>
            <a:endParaRPr/>
          </a:p>
          <a:p>
            <a:pPr>
              <a:defRPr/>
            </a:pPr>
            <a:r>
              <a:rPr/>
              <a:t>Using tanh for delimit the z-score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From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800"/>
          </a:p>
          <a:p>
            <a:pPr>
              <a:lnSpc>
                <a:spcPct val="114999"/>
              </a:lnSpc>
              <a:defRPr/>
            </a:pPr>
            <a:r>
              <a:rPr/>
              <a:t>To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σ(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z(b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)),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σ(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z(q</a:t>
            </a:r>
            <a:r>
              <a:rPr lang="it-IT" sz="3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3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))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 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where: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σ(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z(x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+ </m:t>
                          </m:r>
                          <m:sSup>
                            <m:sSupPr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221854602" name=""/>
          <p:cNvSpPr txBox="1"/>
          <p:nvPr/>
        </p:nvSpPr>
        <p:spPr bwMode="auto">
          <a:xfrm rot="0" flipH="0" flipV="0">
            <a:off x="8244662" y="5352316"/>
            <a:ext cx="3472409" cy="427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from 9 dimensions to 5</a:t>
            </a:r>
            <a:endParaRPr/>
          </a:p>
        </p:txBody>
      </p:sp>
      <p:cxnSp>
        <p:nvCxnSpPr>
          <p:cNvPr id="2127170556" name=""/>
          <p:cNvCxnSpPr/>
          <p:nvPr/>
        </p:nvCxnSpPr>
        <p:spPr bwMode="auto">
          <a:xfrm flipH="0" flipV="0">
            <a:off x="6815913" y="3864951"/>
            <a:ext cx="1263894" cy="1700904"/>
          </a:xfrm>
          <a:prstGeom prst="curvedConnector3">
            <a:avLst>
              <a:gd name="adj1" fmla="val 50000"/>
            </a:avLst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31350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Rewards comparison</a:t>
            </a:r>
            <a:endParaRPr/>
          </a:p>
        </p:txBody>
      </p:sp>
      <p:sp>
        <p:nvSpPr>
          <p:cNvPr id="1785861966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746613" y="2008797"/>
            <a:ext cx="5257800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Adoption of sigmoid and z-score introduces more gradual growth of rewards with overtake in final phases of training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0266146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22836" y="1762918"/>
            <a:ext cx="5457415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8165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Time comparison</a:t>
            </a:r>
            <a:endParaRPr/>
          </a:p>
        </p:txBody>
      </p:sp>
      <p:sp>
        <p:nvSpPr>
          <p:cNvPr id="79088061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896992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Higher time required by newer configuration 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Note: reduced states uses library function “numpy.mean”, which is optimized while sigmoid configuration uses a hand-made version</a:t>
            </a:r>
            <a:endParaRPr/>
          </a:p>
        </p:txBody>
      </p:sp>
      <p:pic>
        <p:nvPicPr>
          <p:cNvPr id="4772156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6394" y="1690687"/>
            <a:ext cx="5610914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63328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Backlog comparison</a:t>
            </a:r>
            <a:endParaRPr/>
          </a:p>
        </p:txBody>
      </p:sp>
      <p:sp>
        <p:nvSpPr>
          <p:cNvPr id="1419831003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006895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Slightly higher average backlog for configuration using sigmoid and z-score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Convergence to same result after epsilon reaches the min value</a:t>
            </a:r>
            <a:endParaRPr/>
          </a:p>
        </p:txBody>
      </p:sp>
      <p:pic>
        <p:nvPicPr>
          <p:cNvPr id="17665585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11373" y="1648557"/>
            <a:ext cx="6067424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28872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Battery comparison</a:t>
            </a:r>
            <a:endParaRPr/>
          </a:p>
        </p:txBody>
      </p:sp>
      <p:sp>
        <p:nvSpPr>
          <p:cNvPr id="1688835010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257800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Initial advantage of sigmoid configuration with interleaving along the training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Slightly advantage in final phases of episodes for newer configuration</a:t>
            </a:r>
            <a:endParaRPr/>
          </a:p>
        </p:txBody>
      </p:sp>
      <p:pic>
        <p:nvPicPr>
          <p:cNvPr id="13151104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22730" y="1690687"/>
            <a:ext cx="6038849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80022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Framerate comparison</a:t>
            </a:r>
            <a:endParaRPr/>
          </a:p>
        </p:txBody>
      </p:sp>
      <p:sp>
        <p:nvSpPr>
          <p:cNvPr id="2090303740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9" y="5641730"/>
            <a:ext cx="10515600" cy="993164"/>
          </a:xfrm>
        </p:spPr>
        <p:txBody>
          <a:bodyPr/>
          <a:lstStyle/>
          <a:p>
            <a:pPr>
              <a:defRPr/>
            </a:pPr>
            <a:r>
              <a:rPr sz="2400"/>
              <a:t>No relevant differences between the configuration</a:t>
            </a:r>
            <a:endParaRPr sz="2400"/>
          </a:p>
          <a:p>
            <a:pPr>
              <a:defRPr/>
            </a:pPr>
            <a:r>
              <a:rPr sz="2400"/>
              <a:t>Slightl greater oscillation of second version</a:t>
            </a:r>
            <a:endParaRPr sz="2600"/>
          </a:p>
        </p:txBody>
      </p:sp>
      <p:pic>
        <p:nvPicPr>
          <p:cNvPr id="20563527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9786" y="2008684"/>
            <a:ext cx="4852823" cy="3597518"/>
          </a:xfrm>
          <a:prstGeom prst="rect">
            <a:avLst/>
          </a:prstGeom>
        </p:spPr>
      </p:pic>
      <p:pic>
        <p:nvPicPr>
          <p:cNvPr id="8968714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75102" y="1962435"/>
            <a:ext cx="4966675" cy="3681920"/>
          </a:xfrm>
          <a:prstGeom prst="rect">
            <a:avLst/>
          </a:prstGeom>
        </p:spPr>
      </p:pic>
      <p:sp>
        <p:nvSpPr>
          <p:cNvPr id="141067659" name=""/>
          <p:cNvSpPr txBox="1"/>
          <p:nvPr/>
        </p:nvSpPr>
        <p:spPr bwMode="auto">
          <a:xfrm rot="0" flipH="0" flipV="0">
            <a:off x="1412307" y="1642564"/>
            <a:ext cx="38667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REDUCED STATES</a:t>
            </a:r>
            <a:endParaRPr/>
          </a:p>
        </p:txBody>
      </p:sp>
      <p:sp>
        <p:nvSpPr>
          <p:cNvPr id="355655795" name=""/>
          <p:cNvSpPr txBox="1"/>
          <p:nvPr/>
        </p:nvSpPr>
        <p:spPr bwMode="auto">
          <a:xfrm rot="0" flipH="0" flipV="0">
            <a:off x="7151485" y="1642677"/>
            <a:ext cx="387215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SIGMOID Z SCORE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2026-03-05T10:51:26Z</dcterms:modified>
</cp:coreProperties>
</file>