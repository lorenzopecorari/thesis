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6858000" type="screen4x3"/>
  <p:notesSz cx="6858000" cy="9144000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it-IT" sz="2400" b="0" i="0">
        <a:solidFill>
          <a:schemeClr val="dk1"/>
        </a:solidFill>
        <a:latin typeface="Arial"/>
        <a:ea typeface="ＭＳ Ｐゴシック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it-IT" sz="2400" b="0" i="0">
        <a:solidFill>
          <a:schemeClr val="dk1"/>
        </a:solidFill>
        <a:latin typeface="Arial"/>
        <a:ea typeface="ＭＳ Ｐゴシック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it-IT" sz="2400" b="0" i="0">
        <a:solidFill>
          <a:schemeClr val="dk1"/>
        </a:solidFill>
        <a:latin typeface="Arial"/>
        <a:ea typeface="ＭＳ Ｐゴシック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it-IT" sz="2400" b="0" i="0">
        <a:solidFill>
          <a:schemeClr val="dk1"/>
        </a:solidFill>
        <a:latin typeface="Arial"/>
        <a:ea typeface="ＭＳ Ｐゴシック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it-IT" sz="2400" b="0" i="0">
        <a:solidFill>
          <a:schemeClr val="dk1"/>
        </a:solidFill>
        <a:latin typeface="Arial"/>
        <a:ea typeface="ＭＳ Ｐゴシック"/>
      </a:defRPr>
    </a:lvl5pPr>
    <a:lvl6pPr>
      <a:defRPr lang="it-IT" sz="1800"/>
    </a:lvl6pPr>
    <a:lvl7pPr>
      <a:defRPr lang="it-IT" sz="1800"/>
    </a:lvl7pPr>
    <a:lvl8pPr>
      <a:defRPr lang="it-IT" sz="1800"/>
    </a:lvl8pPr>
    <a:lvl9pPr>
      <a:defRPr lang="it-IT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232098" name="Shape 5122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1981202329" name="Shape 5123"/>
          <p:cNvSpPr>
            <a:spLocks noChangeShapeType="1" noGrp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2055983412" name="Shape 5124"/>
          <p:cNvSpPr>
            <a:spLocks noChangeShapeType="1" noGrp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675630205" name="Shape 5125"/>
          <p:cNvSpPr>
            <a:spLocks noChangeShapeType="1" noGrp="1"/>
          </p:cNvSpPr>
          <p:nvPr>
            <p:ph type="body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  <a:ea typeface="ＭＳ Ｐゴシック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  <a:ea typeface="ＭＳ Ｐゴシック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  <a:ea typeface="ＭＳ Ｐゴシック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  <a:ea typeface="ＭＳ Ｐゴシック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  <a:ea typeface="ＭＳ Ｐゴシック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Fare clic per modificare gli stili del testo dello schema</a:t>
            </a:r>
            <a:endParaRPr/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/>
              <a:t>Secondo livello</a:t>
            </a:r>
            <a:endParaRPr/>
          </a:p>
          <a:p>
            <a:pPr marL="914400" lvl="2" indent="0">
              <a:spcBef>
                <a:spcPts val="0"/>
              </a:spcBef>
              <a:buNone/>
              <a:defRPr/>
            </a:pPr>
            <a:r>
              <a:rPr/>
              <a:t>Terzo livello</a:t>
            </a:r>
            <a:endParaRPr/>
          </a:p>
          <a:p>
            <a:pPr marL="1371600" lvl="3" indent="0">
              <a:spcBef>
                <a:spcPts val="0"/>
              </a:spcBef>
              <a:buNone/>
              <a:defRPr/>
            </a:pPr>
            <a:r>
              <a:rPr/>
              <a:t>Quarto livello</a:t>
            </a:r>
            <a:endParaRPr/>
          </a:p>
          <a:p>
            <a:pPr marL="1828800" lvl="4" indent="0">
              <a:spcBef>
                <a:spcPts val="0"/>
              </a:spcBef>
              <a:buNone/>
              <a:defRPr/>
            </a:pPr>
            <a:r>
              <a:rPr/>
              <a:t>Quinto livello</a:t>
            </a:r>
            <a:endParaRPr/>
          </a:p>
        </p:txBody>
      </p:sp>
      <p:sp>
        <p:nvSpPr>
          <p:cNvPr id="965814505" name="Shape 5126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1514066645" name="Shape 5127"/>
          <p:cNvSpPr>
            <a:spLocks noChangeShapeType="1" noGrp="1"/>
          </p:cNvSpPr>
          <p:nvPr>
            <p:ph type="sldNum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defRPr/>
            </a:pPr>
            <a:fld id="{D038279B-FC19-497E-A7D1-5ADD9CAF016F}" type="slidenum">
              <a:rPr sz="12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1" ftr="1" hdr="0" sldNum="1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64023" name="Shape 35842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098349689" name="Shape 35843"/>
          <p:cNvSpPr>
            <a:spLocks noChangeShapeType="1"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856805" name="Shape 16386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56564197" name="Shape 16387"/>
          <p:cNvSpPr>
            <a:spLocks noChangeShapeType="1"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395929" name="Shape 16386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487530776" name="Shape 16387"/>
          <p:cNvSpPr>
            <a:spLocks noChangeShapeType="1" noGrp="1"/>
          </p:cNvSpPr>
          <p:nvPr>
            <p:ph type="body" idx="1"/>
          </p:nvPr>
        </p:nvSpPr>
        <p:spPr bwMode="auto"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520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201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216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531864-E194-16AF-AEEA-DBAD2C5C0A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346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3915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64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8B047E-A1F8-FEEB-C186-0EF0A2FE94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484099" name="Shape 17410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768588182" name="Shape 17411"/>
          <p:cNvSpPr>
            <a:spLocks noChangeShapeType="1"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892248" name="Shape 17410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895427525" name="Shape 17411"/>
          <p:cNvSpPr>
            <a:spLocks noChangeShapeType="1" noGrp="1"/>
          </p:cNvSpPr>
          <p:nvPr>
            <p:ph type="body" idx="1"/>
          </p:nvPr>
        </p:nvSpPr>
        <p:spPr bwMode="auto"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382296" name="Shape 15362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430413911" name="Shape 15363"/>
          <p:cNvSpPr>
            <a:spLocks noChangeShapeType="1"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451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4803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08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954921-5469-5794-CD04-4911A750FB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7827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273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691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AF8153-EE43-3699-0943-F5FD830DD7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4559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9291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977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AD8A29-3955-061D-8ECD-1790C3B68E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44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1945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27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71E30A-CFA3-B910-A924-C76D2B9717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046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1644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313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5A9EBC-268A-BFC8-54D9-F5F9E21F34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197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745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5421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30DA0-AA12-F776-C60A-A3D7A934A6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129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3640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72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976449-4CA4-0943-5651-526D941947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51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678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9191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42D9E1-C121-D9F2-FAE1-7F3A4937B7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939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7719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043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6B4583-87F3-3158-B168-A987358EF0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118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2217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833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B64512-6DEB-6596-033B-614C764426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93871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559675" cy="5810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Fare clic per modificare stile</a:t>
            </a:r>
            <a:endParaRPr/>
          </a:p>
        </p:txBody>
      </p:sp>
      <p:sp>
        <p:nvSpPr>
          <p:cNvPr id="327547436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1116012" y="1752599"/>
            <a:ext cx="7559675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sz="2400" b="0" i="0">
                <a:solidFill>
                  <a:srgbClr val="000000"/>
                </a:solidFill>
                <a:latin typeface="Arial"/>
                <a:ea typeface="ＭＳ Ｐゴシック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sz="2000" b="0" i="0">
                <a:solidFill>
                  <a:srgbClr val="000000"/>
                </a:solidFill>
                <a:latin typeface="Arial"/>
                <a:ea typeface="ＭＳ Ｐゴシック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sz="1600" b="0" i="0">
                <a:solidFill>
                  <a:srgbClr val="000000"/>
                </a:solidFill>
                <a:latin typeface="Arial"/>
                <a:ea typeface="ＭＳ Ｐゴシック"/>
              </a:defRPr>
            </a:lvl3pPr>
            <a:lvl4pPr marL="1562100" indent="13335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sz="1400" b="0" i="0">
                <a:solidFill>
                  <a:srgbClr val="000000"/>
                </a:solidFill>
                <a:latin typeface="Arial"/>
                <a:ea typeface="ＭＳ Ｐゴシック"/>
              </a:defRPr>
            </a:lvl4pPr>
            <a:lvl5pPr marL="1981200" indent="17525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sz="1200" b="0" i="0">
                <a:solidFill>
                  <a:srgbClr val="000000"/>
                </a:solidFill>
                <a:latin typeface="Arial"/>
                <a:ea typeface="ＭＳ Ｐゴシック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822433"/>
              </a:buClr>
              <a:buChar char="•"/>
              <a:defRPr/>
            </a:pPr>
            <a:r>
              <a:rPr/>
              <a:t>Fare clic per modificare gli stili del testo dello schema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822433"/>
              </a:buClr>
              <a:buChar char="–"/>
              <a:defRPr/>
            </a:pPr>
            <a:r>
              <a:rPr/>
              <a:t>Secondo livello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822433"/>
              </a:buClr>
              <a:buChar char="•"/>
              <a:defRPr/>
            </a:pPr>
            <a:r>
              <a:rPr/>
              <a:t>Terzo livello</a:t>
            </a:r>
            <a:endParaRPr/>
          </a:p>
          <a:p>
            <a:pPr marL="1562100" lvl="3" indent="-228600">
              <a:spcBef>
                <a:spcPts val="0"/>
              </a:spcBef>
              <a:buClr>
                <a:srgbClr val="822433"/>
              </a:buClr>
              <a:buChar char="–"/>
              <a:defRPr/>
            </a:pPr>
            <a:r>
              <a:rPr/>
              <a:t>Quarto livello</a:t>
            </a:r>
            <a:endParaRPr/>
          </a:p>
          <a:p>
            <a:pPr marL="1981200" lvl="4" indent="-228600">
              <a:spcBef>
                <a:spcPts val="0"/>
              </a:spcBef>
              <a:buClr>
                <a:srgbClr val="822433"/>
              </a:buClr>
              <a:buChar char="»"/>
              <a:defRPr/>
            </a:pPr>
            <a:r>
              <a:rPr/>
              <a:t>Quinto livello</a:t>
            </a:r>
            <a:endParaRPr/>
          </a:p>
        </p:txBody>
      </p:sp>
      <p:sp>
        <p:nvSpPr>
          <p:cNvPr id="1289652521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1936563616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296138966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893090" name="Shape 1026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2247900" y="409575"/>
            <a:ext cx="6096000" cy="58102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991816444" name="Shape 1027"/>
          <p:cNvSpPr>
            <a:spLocks noChangeShapeType="1" noGrp="1"/>
          </p:cNvSpPr>
          <p:nvPr>
            <p:ph type="subTitle" idx="1"/>
          </p:nvPr>
        </p:nvSpPr>
        <p:spPr bwMode="auto">
          <a:xfrm>
            <a:off x="2243137" y="795337"/>
            <a:ext cx="6138862" cy="685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087241698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  <p:sp>
        <p:nvSpPr>
          <p:cNvPr id="1208612376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809803577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Titolo Presentazione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AndObj" userDrawn="1">
  <p:cSld name="Text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785199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4812"/>
            <a:ext cx="7416800" cy="509587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965783738" name="Shape 1027"/>
          <p:cNvSpPr>
            <a:spLocks noChangeShapeType="1" noGrp="1"/>
          </p:cNvSpPr>
          <p:nvPr>
            <p:ph type="body" idx="1"/>
          </p:nvPr>
        </p:nvSpPr>
        <p:spPr bwMode="auto">
          <a:xfrm>
            <a:off x="1116012" y="1752599"/>
            <a:ext cx="3213100" cy="4038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263336126" name="Shape 1027"/>
          <p:cNvSpPr>
            <a:spLocks noChangeShapeType="1" noGrp="1"/>
          </p:cNvSpPr>
          <p:nvPr>
            <p:ph type="obj" idx="2"/>
          </p:nvPr>
        </p:nvSpPr>
        <p:spPr bwMode="auto">
          <a:xfrm>
            <a:off x="4551362" y="1752599"/>
            <a:ext cx="3927475" cy="4038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663810527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  <p:sp>
        <p:nvSpPr>
          <p:cNvPr id="2040052550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560001907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Titolo Presentazione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990516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416800" cy="58102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993538301" name="Shape 1027"/>
          <p:cNvSpPr>
            <a:spLocks noChangeShapeType="1" noGrp="1"/>
          </p:cNvSpPr>
          <p:nvPr>
            <p:ph type="body" idx="1"/>
          </p:nvPr>
        </p:nvSpPr>
        <p:spPr bwMode="auto">
          <a:xfrm>
            <a:off x="1123950" y="1752599"/>
            <a:ext cx="7408862" cy="4038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676491436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  <p:sp>
        <p:nvSpPr>
          <p:cNvPr id="1446187118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1397401358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Titolo Presentazione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bl" userDrawn="1">
  <p:cSld name="Title and Tab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701184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416800" cy="58102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186482700" name="Shape 1030"/>
          <p:cNvSpPr>
            <a:spLocks noChangeShapeType="1" noGrp="1"/>
          </p:cNvSpPr>
          <p:nvPr>
            <p:ph type="tbl"/>
          </p:nvPr>
        </p:nvSpPr>
        <p:spPr bwMode="auto"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081440940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  <p:sp>
        <p:nvSpPr>
          <p:cNvPr id="14331875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131196227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Titolo Presentazione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chart" userDrawn="1">
  <p:cSld name="Title and Char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496629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416800" cy="58102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660783664" name="Shape 1035"/>
          <p:cNvSpPr>
            <a:spLocks noChangeShapeType="1" noGrp="1"/>
          </p:cNvSpPr>
          <p:nvPr>
            <p:ph type="chart"/>
          </p:nvPr>
        </p:nvSpPr>
        <p:spPr bwMode="auto"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015659251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  <p:sp>
        <p:nvSpPr>
          <p:cNvPr id="272900577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1245014932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Titolo Presentazione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3833941" name="Group 1039"/>
          <p:cNvGrpSpPr/>
          <p:nvPr/>
        </p:nvGrpSpPr>
        <p:grpSpPr bwMode="auto">
          <a:xfrm>
            <a:off x="0" y="6096000"/>
            <a:ext cx="9144000" cy="762000"/>
            <a:chOff x="0" y="3840"/>
            <a:chExt cx="5760" cy="480"/>
          </a:xfrm>
        </p:grpSpPr>
        <p:sp>
          <p:nvSpPr>
            <p:cNvPr id="1037" name="Shape 1037"/>
            <p:cNvSpPr>
              <a:spLocks noChangeShapeType="1"/>
            </p:cNvSpPr>
            <p:nvPr/>
          </p:nvSpPr>
          <p:spPr bwMode="auto">
            <a:xfrm>
              <a:off x="0" y="3984"/>
              <a:ext cx="5760" cy="336"/>
            </a:xfrm>
            <a:prstGeom prst="rect">
              <a:avLst/>
            </a:prstGeom>
            <a:solidFill>
              <a:srgbClr val="822433"/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1038" name="Shape 1038"/>
            <p:cNvSpPr>
              <a:spLocks noChangeShapeType="1"/>
            </p:cNvSpPr>
            <p:nvPr/>
          </p:nvSpPr>
          <p:spPr bwMode="auto">
            <a:xfrm>
              <a:off x="768" y="3840"/>
              <a:ext cx="4992" cy="480"/>
            </a:xfrm>
            <a:prstGeom prst="rect">
              <a:avLst/>
            </a:prstGeom>
            <a:solidFill>
              <a:srgbClr val="822433"/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</p:grpSp>
      <p:sp>
        <p:nvSpPr>
          <p:cNvPr id="1569826555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559675" cy="5810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Fare clic per modificare stile</a:t>
            </a:r>
            <a:endParaRPr/>
          </a:p>
        </p:txBody>
      </p:sp>
      <p:sp>
        <p:nvSpPr>
          <p:cNvPr id="1092009478" name="Shape 1027"/>
          <p:cNvSpPr>
            <a:spLocks noChangeShapeType="1" noGrp="1"/>
          </p:cNvSpPr>
          <p:nvPr>
            <p:ph type="body" idx="1"/>
          </p:nvPr>
        </p:nvSpPr>
        <p:spPr bwMode="auto">
          <a:xfrm>
            <a:off x="1116012" y="1752599"/>
            <a:ext cx="7559675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sz="2400" b="0" i="0">
                <a:solidFill>
                  <a:srgbClr val="000000"/>
                </a:solidFill>
                <a:latin typeface="Arial"/>
                <a:ea typeface="ＭＳ Ｐゴシック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sz="2000" b="0" i="0">
                <a:solidFill>
                  <a:srgbClr val="000000"/>
                </a:solidFill>
                <a:latin typeface="Arial"/>
                <a:ea typeface="ＭＳ Ｐゴシック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sz="1600" b="0" i="0">
                <a:solidFill>
                  <a:srgbClr val="000000"/>
                </a:solidFill>
                <a:latin typeface="Arial"/>
                <a:ea typeface="ＭＳ Ｐゴシック"/>
              </a:defRPr>
            </a:lvl3pPr>
            <a:lvl4pPr marL="1562100" indent="13335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sz="1400" b="0" i="0">
                <a:solidFill>
                  <a:srgbClr val="000000"/>
                </a:solidFill>
                <a:latin typeface="Arial"/>
                <a:ea typeface="ＭＳ Ｐゴシック"/>
              </a:defRPr>
            </a:lvl4pPr>
            <a:lvl5pPr marL="1981200" indent="17525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sz="1200" b="0" i="0">
                <a:solidFill>
                  <a:srgbClr val="000000"/>
                </a:solidFill>
                <a:latin typeface="Arial"/>
                <a:ea typeface="ＭＳ Ｐゴシック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822433"/>
              </a:buClr>
              <a:buChar char="•"/>
              <a:defRPr/>
            </a:pPr>
            <a:r>
              <a:rPr/>
              <a:t>Fare clic per modificare gli stili del testo dello schema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822433"/>
              </a:buClr>
              <a:buChar char="–"/>
              <a:defRPr/>
            </a:pPr>
            <a:r>
              <a:rPr/>
              <a:t>Secondo livello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822433"/>
              </a:buClr>
              <a:buChar char="•"/>
              <a:defRPr/>
            </a:pPr>
            <a:r>
              <a:rPr/>
              <a:t>Terzo livello</a:t>
            </a:r>
            <a:endParaRPr/>
          </a:p>
          <a:p>
            <a:pPr marL="1562100" lvl="3" indent="-228600">
              <a:spcBef>
                <a:spcPts val="0"/>
              </a:spcBef>
              <a:buClr>
                <a:srgbClr val="822433"/>
              </a:buClr>
              <a:buChar char="–"/>
              <a:defRPr/>
            </a:pPr>
            <a:r>
              <a:rPr/>
              <a:t>Quarto livello</a:t>
            </a:r>
            <a:endParaRPr/>
          </a:p>
          <a:p>
            <a:pPr marL="1981200" lvl="4" indent="-228600">
              <a:spcBef>
                <a:spcPts val="0"/>
              </a:spcBef>
              <a:buClr>
                <a:srgbClr val="822433"/>
              </a:buClr>
              <a:buChar char="»"/>
              <a:defRPr/>
            </a:pPr>
            <a:r>
              <a:rPr/>
              <a:t>Quinto livello</a:t>
            </a:r>
            <a:endParaRPr/>
          </a:p>
        </p:txBody>
      </p:sp>
      <p:sp>
        <p:nvSpPr>
          <p:cNvPr id="543199337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*</a:t>
            </a:r>
            <a:endParaRPr/>
          </a:p>
        </p:txBody>
      </p:sp>
      <p:sp>
        <p:nvSpPr>
          <p:cNvPr id="1027615296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*</a:t>
            </a:r>
            <a:endParaRPr/>
          </a:p>
        </p:txBody>
      </p:sp>
      <p:sp>
        <p:nvSpPr>
          <p:cNvPr id="2019396149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1" ftr="1" hdr="0" sldNum="1"/>
  <p:txStyles>
    <p:title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1" i="0">
          <a:solidFill>
            <a:srgbClr val="822433"/>
          </a:solidFill>
          <a:latin typeface="Arial"/>
          <a:ea typeface="ＭＳ Ｐゴシック"/>
        </a:defRPr>
      </a:lvl1pPr>
      <a:lvl2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1" i="0">
          <a:solidFill>
            <a:srgbClr val="822433"/>
          </a:solidFill>
          <a:latin typeface="Arial"/>
          <a:ea typeface="ＭＳ Ｐゴシック"/>
        </a:defRPr>
      </a:lvl2pPr>
      <a:lvl3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1" i="0">
          <a:solidFill>
            <a:srgbClr val="822433"/>
          </a:solidFill>
          <a:latin typeface="Arial"/>
          <a:ea typeface="ＭＳ Ｐゴシック"/>
        </a:defRPr>
      </a:lvl3pPr>
      <a:lvl4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1" i="0">
          <a:solidFill>
            <a:srgbClr val="822433"/>
          </a:solidFill>
          <a:latin typeface="Arial"/>
          <a:ea typeface="ＭＳ Ｐゴシック"/>
        </a:defRPr>
      </a:lvl4pPr>
      <a:lvl5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1" i="0">
          <a:solidFill>
            <a:srgbClr val="822433"/>
          </a:solidFill>
          <a:latin typeface="Arial"/>
          <a:ea typeface="ＭＳ Ｐゴシック"/>
        </a:defRPr>
      </a:lvl5pPr>
      <a:lvl6pPr>
        <a:defRPr lang="it-IT" sz="1800"/>
      </a:lvl6pPr>
      <a:lvl7pPr>
        <a:defRPr lang="it-IT" sz="1800"/>
      </a:lvl7pPr>
      <a:lvl8pPr>
        <a:defRPr lang="it-IT" sz="1800"/>
      </a:lvl8pPr>
      <a:lvl9pPr>
        <a:defRPr lang="it-IT" sz="1800"/>
      </a:lvl9pPr>
    </p:titleStyle>
    <p:bodyStyle>
      <a:lvl1pPr marL="342900" indent="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822433"/>
        </a:buClr>
        <a:buChar char="•"/>
        <a:defRPr lang="it-IT" sz="2400" b="0" i="0">
          <a:solidFill>
            <a:srgbClr val="000000"/>
          </a:solidFill>
          <a:latin typeface="Arial"/>
          <a:ea typeface="ＭＳ Ｐゴシック"/>
        </a:defRPr>
      </a:lvl1pPr>
      <a:lvl2pPr marL="742950" indent="45720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822433"/>
        </a:buClr>
        <a:buChar char="–"/>
        <a:defRPr lang="it-IT" sz="2000" b="0" i="0">
          <a:solidFill>
            <a:srgbClr val="000000"/>
          </a:solidFill>
          <a:latin typeface="Arial"/>
          <a:ea typeface="ＭＳ Ｐゴシック"/>
        </a:defRPr>
      </a:lvl2pPr>
      <a:lvl3pPr marL="1143000" indent="91440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822433"/>
        </a:buClr>
        <a:buChar char="•"/>
        <a:defRPr lang="it-IT" sz="1600" b="0" i="0">
          <a:solidFill>
            <a:srgbClr val="000000"/>
          </a:solidFill>
          <a:latin typeface="Arial"/>
          <a:ea typeface="ＭＳ Ｐゴシック"/>
        </a:defRPr>
      </a:lvl3pPr>
      <a:lvl4pPr marL="1562100" indent="133350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822433"/>
        </a:buClr>
        <a:buChar char="–"/>
        <a:defRPr lang="it-IT" sz="1400" b="0" i="0">
          <a:solidFill>
            <a:srgbClr val="000000"/>
          </a:solidFill>
          <a:latin typeface="Arial"/>
          <a:ea typeface="ＭＳ Ｐゴシック"/>
        </a:defRPr>
      </a:lvl4pPr>
      <a:lvl5pPr marL="1981200" indent="1752599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822433"/>
        </a:buClr>
        <a:buChar char="»"/>
        <a:defRPr lang="it-IT" sz="1200" b="0" i="0">
          <a:solidFill>
            <a:srgbClr val="000000"/>
          </a:solidFill>
          <a:latin typeface="Arial"/>
          <a:ea typeface="ＭＳ Ｐゴシック"/>
        </a:defRPr>
      </a:lvl5pPr>
      <a:lvl6pPr>
        <a:defRPr lang="it-IT" sz="1800"/>
      </a:lvl6pPr>
      <a:lvl7pPr>
        <a:defRPr lang="it-IT" sz="1800"/>
      </a:lvl7pPr>
      <a:lvl8pPr>
        <a:defRPr lang="it-IT" sz="1800"/>
      </a:lvl8pPr>
      <a:lvl9pPr>
        <a:defRPr lang="it-IT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0" i="0">
          <a:solidFill>
            <a:schemeClr val="dk1"/>
          </a:solidFill>
          <a:latin typeface="Arial"/>
          <a:ea typeface="ＭＳ Ｐゴシック"/>
        </a:defRPr>
      </a:lvl1pPr>
      <a:lvl2pPr marL="457200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0" i="0">
          <a:solidFill>
            <a:schemeClr val="dk1"/>
          </a:solidFill>
          <a:latin typeface="Arial"/>
          <a:ea typeface="ＭＳ Ｐゴシック"/>
        </a:defRPr>
      </a:lvl2pPr>
      <a:lvl3pPr marL="914400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0" i="0">
          <a:solidFill>
            <a:schemeClr val="dk1"/>
          </a:solidFill>
          <a:latin typeface="Arial"/>
          <a:ea typeface="ＭＳ Ｐゴシック"/>
        </a:defRPr>
      </a:lvl3pPr>
      <a:lvl4pPr marL="13716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0" i="0">
          <a:solidFill>
            <a:schemeClr val="dk1"/>
          </a:solidFill>
          <a:latin typeface="Arial"/>
          <a:ea typeface="ＭＳ Ｐゴシック"/>
        </a:defRPr>
      </a:lvl4pPr>
      <a:lvl5pPr marL="18288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0" i="0">
          <a:solidFill>
            <a:schemeClr val="dk1"/>
          </a:solidFill>
          <a:latin typeface="Arial"/>
          <a:ea typeface="ＭＳ Ｐゴシック"/>
        </a:defRPr>
      </a:lvl5pPr>
      <a:lvl6pPr>
        <a:defRPr lang="it-IT" sz="1800"/>
      </a:lvl6pPr>
      <a:lvl7pPr>
        <a:defRPr lang="it-IT" sz="1800"/>
      </a:lvl7pPr>
      <a:lvl8pPr>
        <a:defRPr lang="it-IT" sz="1800"/>
      </a:lvl8pPr>
      <a:lvl9pPr>
        <a:defRPr lang="it-IT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097459" name="Shape 34820"/>
          <p:cNvSpPr>
            <a:spLocks noChangeShapeType="1" noGrp="1"/>
          </p:cNvSpPr>
          <p:nvPr>
            <p:ph type="subTitle" idx="1"/>
          </p:nvPr>
        </p:nvSpPr>
        <p:spPr bwMode="auto">
          <a:xfrm>
            <a:off x="2243137" y="795337"/>
            <a:ext cx="6138862" cy="685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grpSp>
        <p:nvGrpSpPr>
          <p:cNvPr id="455994500" name="Group 34847"/>
          <p:cNvGrpSpPr/>
          <p:nvPr/>
        </p:nvGrpSpPr>
        <p:grpSpPr bwMode="auto">
          <a:xfrm>
            <a:off x="-9524" y="0"/>
            <a:ext cx="9153525" cy="6858000"/>
            <a:chOff x="-6" y="0"/>
            <a:chExt cx="5766" cy="4320"/>
          </a:xfrm>
        </p:grpSpPr>
        <p:sp>
          <p:nvSpPr>
            <p:cNvPr id="34827" name="Shape 34827"/>
            <p:cNvSpPr>
              <a:spLocks noChangeShapeType="1"/>
            </p:cNvSpPr>
            <p:nvPr/>
          </p:nvSpPr>
          <p:spPr bwMode="auto">
            <a:xfrm>
              <a:off x="-6" y="0"/>
              <a:ext cx="5760" cy="2160"/>
            </a:xfrm>
            <a:prstGeom prst="rect">
              <a:avLst/>
            </a:prstGeom>
            <a:solidFill>
              <a:srgbClr val="C0CED9"/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pic>
          <p:nvPicPr>
            <p:cNvPr id="34846" name="Image 34846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0" y="1728"/>
              <a:ext cx="5760" cy="2592"/>
            </a:xfrm>
            <a:prstGeom prst="rect">
              <a:avLst/>
            </a:prstGeom>
            <a:noFill/>
          </p:spPr>
        </p:pic>
      </p:grpSp>
      <p:sp>
        <p:nvSpPr>
          <p:cNvPr id="656262869" name="Shape 34819"/>
          <p:cNvSpPr>
            <a:spLocks noChangeShapeType="1" noGrp="1"/>
          </p:cNvSpPr>
          <p:nvPr>
            <p:ph type="ctrTitle" idx="0"/>
          </p:nvPr>
        </p:nvSpPr>
        <p:spPr bwMode="auto">
          <a:xfrm flipH="0" flipV="0">
            <a:off x="2247899" y="749753"/>
            <a:ext cx="6095999" cy="195466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lang="it-IT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Comparative Study on the Scalability of Multi-Agent</a:t>
            </a:r>
            <a:r>
              <a:rPr lang="it-IT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Reinforcement Learning for Workload Offloading in </a:t>
            </a:r>
            <a:r>
              <a:rPr lang="it-IT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Solar-Powered Edge Networks</a:t>
            </a:r>
            <a:endParaRPr sz="1400" b="1" i="0" u="none" strike="noStrike" cap="none" spc="0">
              <a:solidFill>
                <a:srgbClr val="822433"/>
              </a:solidFill>
              <a:latin typeface="Arial"/>
              <a:cs typeface="Arial"/>
            </a:endParaRPr>
          </a:p>
          <a:p>
            <a:pPr>
              <a:defRPr/>
            </a:pPr>
            <a:endParaRPr sz="1400"/>
          </a:p>
        </p:txBody>
      </p:sp>
      <p:sp>
        <p:nvSpPr>
          <p:cNvPr id="1476056817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475AA6A0-D978-DC54-2F65-3D241AE6DCC9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509678454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893311554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904300" name="Shape 7170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4812"/>
            <a:ext cx="7416800" cy="509587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Introduction</a:t>
            </a:r>
            <a:endParaRPr sz="3600"/>
          </a:p>
        </p:txBody>
      </p:sp>
      <p:sp>
        <p:nvSpPr>
          <p:cNvPr id="1686512908" name="Shape 7171"/>
          <p:cNvSpPr>
            <a:spLocks noChangeShapeType="1" noGrp="1"/>
          </p:cNvSpPr>
          <p:nvPr>
            <p:ph type="body" idx="1"/>
          </p:nvPr>
        </p:nvSpPr>
        <p:spPr bwMode="auto">
          <a:xfrm flipH="0" flipV="0">
            <a:off x="903213" y="1752598"/>
            <a:ext cx="7858125" cy="4038598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lnSpc>
                <a:spcPct val="114999"/>
              </a:lnSpc>
              <a:defRPr/>
            </a:pPr>
            <a:r>
              <a:rPr sz="2200"/>
              <a:t>Solar-powered </a:t>
            </a:r>
            <a:r>
              <a:rPr sz="2200" b="1"/>
              <a:t>edge nodes</a:t>
            </a:r>
            <a:r>
              <a:rPr sz="2200"/>
              <a:t> with constant workload</a:t>
            </a:r>
            <a:endParaRPr sz="2200"/>
          </a:p>
          <a:p>
            <a:pPr>
              <a:lnSpc>
                <a:spcPct val="114999"/>
              </a:lnSpc>
              <a:defRPr/>
            </a:pPr>
            <a:r>
              <a:rPr sz="2200"/>
              <a:t>Energy source coming from </a:t>
            </a:r>
            <a:r>
              <a:rPr sz="2200" b="1"/>
              <a:t>solar irradiance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200"/>
              <a:t>Devices usually adopt static thresholds for balancing computational efficiency and energy availability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200"/>
              <a:t>Variations on solar energy can compromise operability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200" b="1"/>
              <a:t>Reinforcement Learning</a:t>
            </a:r>
            <a:r>
              <a:rPr sz="2200"/>
              <a:t> as approach to make nodes capable to automatically adapt to different situations</a:t>
            </a:r>
            <a:endParaRPr sz="2600"/>
          </a:p>
        </p:txBody>
      </p:sp>
      <p:sp>
        <p:nvSpPr>
          <p:cNvPr id="1372296805" name="Shape 7172"/>
          <p:cNvSpPr>
            <a:spLocks noChangeShapeType="1" noGrp="1"/>
          </p:cNvSpPr>
          <p:nvPr>
            <p:ph type="obj" idx="2"/>
          </p:nvPr>
        </p:nvSpPr>
        <p:spPr bwMode="auto">
          <a:xfrm>
            <a:off x="4551362" y="1752599"/>
            <a:ext cx="3927475" cy="4038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31703814" name="Shape 7176"/>
          <p:cNvSpPr>
            <a:spLocks noChangeShapeType="1" noGrp="1"/>
          </p:cNvSpPr>
          <p:nvPr/>
        </p:nvSpPr>
        <p:spPr bwMode="auto">
          <a:xfrm>
            <a:off x="1954212" y="630236"/>
            <a:ext cx="18415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293085370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512FE412-3611-71FF-A6B3-C0814D04C606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2044393397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66346529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314083" name="Shape 7170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1" y="404811"/>
            <a:ext cx="7416799" cy="509586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General problem</a:t>
            </a:r>
            <a:endParaRPr sz="3600"/>
          </a:p>
        </p:txBody>
      </p:sp>
      <p:sp>
        <p:nvSpPr>
          <p:cNvPr id="1902685417" name="Shape 7171"/>
          <p:cNvSpPr>
            <a:spLocks noChangeShapeType="1" noGrp="1"/>
          </p:cNvSpPr>
          <p:nvPr>
            <p:ph type="body" idx="1"/>
          </p:nvPr>
        </p:nvSpPr>
        <p:spPr bwMode="auto">
          <a:xfrm flipH="0" flipV="0">
            <a:off x="903213" y="1667553"/>
            <a:ext cx="7858125" cy="4038598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lnSpc>
                <a:spcPct val="114999"/>
              </a:lnSpc>
              <a:defRPr/>
            </a:pPr>
            <a:r>
              <a:rPr sz="2200" b="1"/>
              <a:t>Constant </a:t>
            </a:r>
            <a:r>
              <a:rPr sz="2200"/>
              <a:t>arrival rate for incoming frames: </a:t>
            </a:r>
            <a:r>
              <a:rPr sz="2200">
                <a:latin typeface="Asana Math"/>
                <a:ea typeface="Asana Math"/>
                <a:cs typeface="Asana Math"/>
              </a:rPr>
              <a:t>λ </a:t>
            </a:r>
            <a:r>
              <a:rPr sz="2200"/>
              <a:t>= 15fps</a:t>
            </a:r>
            <a:endParaRPr sz="2200"/>
          </a:p>
          <a:p>
            <a:pPr>
              <a:lnSpc>
                <a:spcPct val="114999"/>
              </a:lnSpc>
              <a:defRPr/>
            </a:pPr>
            <a:r>
              <a:rPr sz="2200"/>
              <a:t>Maximum computational rate: </a:t>
            </a:r>
            <a:r>
              <a:rPr sz="2200">
                <a:latin typeface="Asana Math"/>
                <a:ea typeface="Asana Math"/>
                <a:cs typeface="Asana Math"/>
              </a:rPr>
              <a:t>μ </a:t>
            </a:r>
            <a:r>
              <a:rPr sz="2200"/>
              <a:t>= 20fps</a:t>
            </a:r>
            <a:endParaRPr sz="2200"/>
          </a:p>
          <a:p>
            <a:pPr>
              <a:lnSpc>
                <a:spcPct val="114999"/>
              </a:lnSpc>
              <a:defRPr/>
            </a:pPr>
            <a:r>
              <a:rPr sz="2200" b="1"/>
              <a:t>FIFO</a:t>
            </a:r>
            <a:r>
              <a:rPr sz="2200"/>
              <a:t> queue for storing frames, devices adapts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μ </a:t>
            </a:r>
            <a:r>
              <a:rPr sz="2200"/>
              <a:t>for balancing energy and performances</a:t>
            </a:r>
            <a:endParaRPr sz="2200"/>
          </a:p>
          <a:p>
            <a:pPr>
              <a:lnSpc>
                <a:spcPct val="114999"/>
              </a:lnSpc>
              <a:defRPr/>
            </a:pPr>
            <a:r>
              <a:rPr sz="2200"/>
              <a:t>Limited energy availability given by solar panel and battery</a:t>
            </a:r>
            <a:endParaRPr sz="2600"/>
          </a:p>
        </p:txBody>
      </p:sp>
      <p:sp>
        <p:nvSpPr>
          <p:cNvPr id="327785114" name="Shape 7172"/>
          <p:cNvSpPr>
            <a:spLocks noChangeShapeType="1" noGrp="1"/>
          </p:cNvSpPr>
          <p:nvPr>
            <p:ph type="obj" idx="2"/>
          </p:nvPr>
        </p:nvSpPr>
        <p:spPr bwMode="auto">
          <a:xfrm>
            <a:off x="4551361" y="1752599"/>
            <a:ext cx="3927474" cy="4038598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994763928" name="Shape 7176"/>
          <p:cNvSpPr>
            <a:spLocks noChangeShapeType="1" noGrp="1"/>
          </p:cNvSpPr>
          <p:nvPr/>
        </p:nvSpPr>
        <p:spPr bwMode="auto">
          <a:xfrm>
            <a:off x="1954211" y="630236"/>
            <a:ext cx="184149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/>
            </a:pPr>
            <a:endParaRPr sz="1400"/>
          </a:p>
        </p:txBody>
      </p:sp>
      <p:grpSp>
        <p:nvGrpSpPr>
          <p:cNvPr id="1264019238" name=""/>
          <p:cNvGrpSpPr/>
          <p:nvPr/>
        </p:nvGrpSpPr>
        <p:grpSpPr bwMode="auto">
          <a:xfrm flipH="0" flipV="0">
            <a:off x="4881868" y="4606843"/>
            <a:ext cx="3296979" cy="842704"/>
            <a:chOff x="0" y="0"/>
            <a:chExt cx="3296979" cy="842704"/>
          </a:xfrm>
        </p:grpSpPr>
        <p:pic>
          <p:nvPicPr>
            <p:cNvPr id="172789700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733116" y="278916"/>
              <a:ext cx="1790619" cy="563788"/>
            </a:xfrm>
            <a:prstGeom prst="rect">
              <a:avLst/>
            </a:prstGeom>
          </p:spPr>
        </p:pic>
        <p:sp>
          <p:nvSpPr>
            <p:cNvPr id="324841667" name=""/>
            <p:cNvSpPr txBox="1"/>
            <p:nvPr/>
          </p:nvSpPr>
          <p:spPr bwMode="auto">
            <a:xfrm rot="0" flipH="0" flipV="0">
              <a:off x="2016711" y="357119"/>
              <a:ext cx="662511" cy="355665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1600" b="1">
                  <a:latin typeface="Asana Math"/>
                  <a:ea typeface="Asana Math"/>
                  <a:cs typeface="Asana Math"/>
                </a:rPr>
                <a:t>μ</a:t>
              </a:r>
              <a:r>
                <a:rPr sz="1600" b="1" baseline="-25000">
                  <a:latin typeface="Asana Math"/>
                  <a:ea typeface="Asana Math"/>
                  <a:cs typeface="Asana Math"/>
                </a:rPr>
                <a:t>i</a:t>
              </a:r>
              <a:r>
                <a:rPr sz="1600" b="1"/>
                <a:t>(t)</a:t>
              </a:r>
              <a:endParaRPr sz="1600" b="1"/>
            </a:p>
          </p:txBody>
        </p:sp>
        <p:cxnSp>
          <p:nvCxnSpPr>
            <p:cNvPr id="989733813" name=""/>
            <p:cNvCxnSpPr/>
            <p:nvPr/>
          </p:nvCxnSpPr>
          <p:spPr bwMode="auto">
            <a:xfrm flipH="0" flipV="1">
              <a:off x="0" y="544750"/>
              <a:ext cx="644797" cy="0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263190" name=""/>
            <p:cNvCxnSpPr/>
            <p:nvPr/>
          </p:nvCxnSpPr>
          <p:spPr bwMode="auto">
            <a:xfrm flipH="0" flipV="1">
              <a:off x="2652181" y="549031"/>
              <a:ext cx="644797" cy="0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1914211" name=""/>
            <p:cNvSpPr txBox="1"/>
            <p:nvPr/>
          </p:nvSpPr>
          <p:spPr bwMode="auto">
            <a:xfrm rot="0" flipH="0" flipV="0">
              <a:off x="182736" y="160621"/>
              <a:ext cx="44570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1800" b="1">
                  <a:latin typeface="Asana Math"/>
                  <a:ea typeface="Asana Math"/>
                  <a:cs typeface="Asana Math"/>
                </a:rPr>
                <a:t>λ</a:t>
              </a:r>
              <a:endParaRPr sz="1800"/>
            </a:p>
          </p:txBody>
        </p:sp>
        <p:sp>
          <p:nvSpPr>
            <p:cNvPr id="1573173916" name=""/>
            <p:cNvSpPr txBox="1"/>
            <p:nvPr/>
          </p:nvSpPr>
          <p:spPr bwMode="auto">
            <a:xfrm rot="0" flipH="0" flipV="0">
              <a:off x="1239111" y="0"/>
              <a:ext cx="66331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1600" b="1"/>
                <a:t>q</a:t>
              </a:r>
              <a:r>
                <a:rPr sz="1600" b="1" baseline="-25000"/>
                <a:t>i</a:t>
              </a:r>
              <a:r>
                <a:rPr sz="1600" b="1"/>
                <a:t>(t)</a:t>
              </a:r>
              <a:endParaRPr sz="1600" b="1"/>
            </a:p>
          </p:txBody>
        </p:sp>
      </p:grpSp>
      <p:sp>
        <p:nvSpPr>
          <p:cNvPr id="393256410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DF1C7BB-2767-66A9-C38E-79E2E4BE2717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954830234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96158270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grpSp>
        <p:nvGrpSpPr>
          <p:cNvPr id="571593901" name=""/>
          <p:cNvGrpSpPr/>
          <p:nvPr/>
        </p:nvGrpSpPr>
        <p:grpSpPr bwMode="auto">
          <a:xfrm rot="0" flipH="0" flipV="0">
            <a:off x="9955932" y="1876044"/>
            <a:ext cx="1492899" cy="1215558"/>
            <a:chOff x="0" y="0"/>
            <a:chExt cx="1492899" cy="1215558"/>
          </a:xfrm>
        </p:grpSpPr>
        <p:pic>
          <p:nvPicPr>
            <p:cNvPr id="902209184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0" flipH="0" flipV="0">
              <a:off x="232238" y="270525"/>
              <a:ext cx="945027" cy="945027"/>
            </a:xfrm>
            <a:prstGeom prst="rect">
              <a:avLst/>
            </a:prstGeom>
          </p:spPr>
        </p:pic>
        <p:pic>
          <p:nvPicPr>
            <p:cNvPr id="2091919810" name="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rot="0" flipH="0" flipV="0">
              <a:off x="1101258" y="509864"/>
              <a:ext cx="391644" cy="391644"/>
            </a:xfrm>
            <a:prstGeom prst="rect">
              <a:avLst/>
            </a:prstGeom>
          </p:spPr>
        </p:pic>
        <p:pic>
          <p:nvPicPr>
            <p:cNvPr id="2140741540" name=""/>
            <p:cNvPicPr>
              <a:picLocks noChangeAspect="1"/>
            </p:cNvPicPr>
            <p:nvPr/>
          </p:nvPicPr>
          <p:blipFill rotWithShape="1">
            <a:blip r:embed="rId6"/>
            <a:srcRect l="0" t="34132" r="0" b="0"/>
            <a:stretch/>
          </p:blipFill>
          <p:spPr bwMode="auto">
            <a:xfrm rot="0" flipH="0" flipV="0">
              <a:off x="364924" y="0"/>
              <a:ext cx="679655" cy="447671"/>
            </a:xfrm>
            <a:prstGeom prst="rect">
              <a:avLst/>
            </a:prstGeom>
          </p:spPr>
        </p:pic>
        <p:pic>
          <p:nvPicPr>
            <p:cNvPr id="1856034422" name="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 rot="5400000" flipH="1" flipV="0">
              <a:off x="0" y="551889"/>
              <a:ext cx="344952" cy="344952"/>
            </a:xfrm>
            <a:prstGeom prst="rect">
              <a:avLst/>
            </a:prstGeom>
          </p:spPr>
        </p:pic>
      </p:grpSp>
      <p:grpSp>
        <p:nvGrpSpPr>
          <p:cNvPr id="1912081420" name=""/>
          <p:cNvGrpSpPr/>
          <p:nvPr/>
        </p:nvGrpSpPr>
        <p:grpSpPr bwMode="auto">
          <a:xfrm rot="0" flipH="0" flipV="0">
            <a:off x="10108332" y="2028444"/>
            <a:ext cx="1492899" cy="1215558"/>
            <a:chOff x="0" y="0"/>
            <a:chExt cx="1492899" cy="1215558"/>
          </a:xfrm>
        </p:grpSpPr>
        <p:pic>
          <p:nvPicPr>
            <p:cNvPr id="1174280617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0" flipH="0" flipV="0">
              <a:off x="232238" y="270525"/>
              <a:ext cx="945027" cy="945027"/>
            </a:xfrm>
            <a:prstGeom prst="rect">
              <a:avLst/>
            </a:prstGeom>
          </p:spPr>
        </p:pic>
        <p:pic>
          <p:nvPicPr>
            <p:cNvPr id="1540982670" name="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rot="0" flipH="0" flipV="0">
              <a:off x="1101258" y="509864"/>
              <a:ext cx="391644" cy="391644"/>
            </a:xfrm>
            <a:prstGeom prst="rect">
              <a:avLst/>
            </a:prstGeom>
          </p:spPr>
        </p:pic>
        <p:pic>
          <p:nvPicPr>
            <p:cNvPr id="971358309" name=""/>
            <p:cNvPicPr>
              <a:picLocks noChangeAspect="1"/>
            </p:cNvPicPr>
            <p:nvPr/>
          </p:nvPicPr>
          <p:blipFill rotWithShape="1">
            <a:blip r:embed="rId6"/>
            <a:srcRect l="0" t="34132" r="0" b="0"/>
            <a:stretch/>
          </p:blipFill>
          <p:spPr bwMode="auto">
            <a:xfrm rot="0" flipH="0" flipV="0">
              <a:off x="364924" y="0"/>
              <a:ext cx="679655" cy="447671"/>
            </a:xfrm>
            <a:prstGeom prst="rect">
              <a:avLst/>
            </a:prstGeom>
          </p:spPr>
        </p:pic>
        <p:pic>
          <p:nvPicPr>
            <p:cNvPr id="520224446" name="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 rot="5400000" flipH="1" flipV="0">
              <a:off x="0" y="551889"/>
              <a:ext cx="344952" cy="344952"/>
            </a:xfrm>
            <a:prstGeom prst="rect">
              <a:avLst/>
            </a:prstGeom>
          </p:spPr>
        </p:pic>
      </p:grpSp>
      <p:grpSp>
        <p:nvGrpSpPr>
          <p:cNvPr id="1245347096" name=""/>
          <p:cNvGrpSpPr/>
          <p:nvPr/>
        </p:nvGrpSpPr>
        <p:grpSpPr bwMode="auto">
          <a:xfrm rot="0" flipH="0" flipV="0">
            <a:off x="10260732" y="2180844"/>
            <a:ext cx="1492899" cy="1215558"/>
            <a:chOff x="0" y="0"/>
            <a:chExt cx="1492899" cy="1215558"/>
          </a:xfrm>
        </p:grpSpPr>
        <p:pic>
          <p:nvPicPr>
            <p:cNvPr id="1052604737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0" flipH="0" flipV="0">
              <a:off x="232238" y="270525"/>
              <a:ext cx="945027" cy="945027"/>
            </a:xfrm>
            <a:prstGeom prst="rect">
              <a:avLst/>
            </a:prstGeom>
          </p:spPr>
        </p:pic>
        <p:pic>
          <p:nvPicPr>
            <p:cNvPr id="749423996" name="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rot="0" flipH="0" flipV="0">
              <a:off x="1101258" y="509864"/>
              <a:ext cx="391644" cy="391644"/>
            </a:xfrm>
            <a:prstGeom prst="rect">
              <a:avLst/>
            </a:prstGeom>
          </p:spPr>
        </p:pic>
        <p:pic>
          <p:nvPicPr>
            <p:cNvPr id="1745954582" name=""/>
            <p:cNvPicPr>
              <a:picLocks noChangeAspect="1"/>
            </p:cNvPicPr>
            <p:nvPr/>
          </p:nvPicPr>
          <p:blipFill rotWithShape="1">
            <a:blip r:embed="rId6"/>
            <a:srcRect l="0" t="34132" r="0" b="0"/>
            <a:stretch/>
          </p:blipFill>
          <p:spPr bwMode="auto">
            <a:xfrm rot="0" flipH="0" flipV="0">
              <a:off x="364924" y="0"/>
              <a:ext cx="679655" cy="447671"/>
            </a:xfrm>
            <a:prstGeom prst="rect">
              <a:avLst/>
            </a:prstGeom>
          </p:spPr>
        </p:pic>
        <p:pic>
          <p:nvPicPr>
            <p:cNvPr id="68764420" name="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 rot="5400000" flipH="1" flipV="0">
              <a:off x="0" y="551889"/>
              <a:ext cx="344952" cy="344952"/>
            </a:xfrm>
            <a:prstGeom prst="rect">
              <a:avLst/>
            </a:prstGeom>
          </p:spPr>
        </p:pic>
      </p:grpSp>
      <p:grpSp>
        <p:nvGrpSpPr>
          <p:cNvPr id="401208388" name=""/>
          <p:cNvGrpSpPr/>
          <p:nvPr/>
        </p:nvGrpSpPr>
        <p:grpSpPr bwMode="auto">
          <a:xfrm>
            <a:off x="1794161" y="4519186"/>
            <a:ext cx="1492901" cy="1215552"/>
            <a:chOff x="0" y="0"/>
            <a:chExt cx="1492901" cy="1215552"/>
          </a:xfrm>
        </p:grpSpPr>
        <p:pic>
          <p:nvPicPr>
            <p:cNvPr id="1536862318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0" flipH="0" flipV="0">
              <a:off x="232238" y="270525"/>
              <a:ext cx="945027" cy="945027"/>
            </a:xfrm>
            <a:prstGeom prst="rect">
              <a:avLst/>
            </a:prstGeom>
          </p:spPr>
        </p:pic>
        <p:pic>
          <p:nvPicPr>
            <p:cNvPr id="375667572" name="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rot="0" flipH="0" flipV="0">
              <a:off x="1101257" y="509864"/>
              <a:ext cx="391644" cy="391644"/>
            </a:xfrm>
            <a:prstGeom prst="rect">
              <a:avLst/>
            </a:prstGeom>
          </p:spPr>
        </p:pic>
        <p:pic>
          <p:nvPicPr>
            <p:cNvPr id="1182103593" name=""/>
            <p:cNvPicPr>
              <a:picLocks noChangeAspect="1"/>
            </p:cNvPicPr>
            <p:nvPr/>
          </p:nvPicPr>
          <p:blipFill rotWithShape="1">
            <a:blip r:embed="rId6"/>
            <a:srcRect l="0" t="34132" r="0" b="0"/>
            <a:stretch/>
          </p:blipFill>
          <p:spPr bwMode="auto">
            <a:xfrm rot="0" flipH="0" flipV="0">
              <a:off x="364924" y="0"/>
              <a:ext cx="679655" cy="447671"/>
            </a:xfrm>
            <a:prstGeom prst="rect">
              <a:avLst/>
            </a:prstGeom>
          </p:spPr>
        </p:pic>
        <p:pic>
          <p:nvPicPr>
            <p:cNvPr id="1226324092" name="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 rot="5400000" flipH="1" flipV="0">
              <a:off x="0" y="551889"/>
              <a:ext cx="344952" cy="344952"/>
            </a:xfrm>
            <a:prstGeom prst="rect">
              <a:avLst/>
            </a:prstGeom>
          </p:spPr>
        </p:pic>
      </p:grpSp>
      <p:sp>
        <p:nvSpPr>
          <p:cNvPr id="828867272" name=""/>
          <p:cNvSpPr/>
          <p:nvPr/>
        </p:nvSpPr>
        <p:spPr bwMode="auto">
          <a:xfrm rot="0" flipH="0" flipV="0">
            <a:off x="3661319" y="4835881"/>
            <a:ext cx="890040" cy="644896"/>
          </a:xfrm>
          <a:prstGeom prst="mathEqual">
            <a:avLst>
              <a:gd name="adj1" fmla="val 23520"/>
              <a:gd name="adj2" fmla="val 11760"/>
            </a:avLst>
          </a:prstGeom>
          <a:solidFill>
            <a:srgbClr val="8224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341531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1" y="404811"/>
            <a:ext cx="7416799" cy="50958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sz="3600"/>
              <a:t>Energy constraints</a:t>
            </a:r>
            <a:endParaRPr sz="3600"/>
          </a:p>
        </p:txBody>
      </p:sp>
      <p:sp>
        <p:nvSpPr>
          <p:cNvPr id="333634779" name="Shape 1027"/>
          <p:cNvSpPr>
            <a:spLocks noChangeShapeType="1" noGrp="1"/>
          </p:cNvSpPr>
          <p:nvPr>
            <p:ph type="body" idx="1"/>
          </p:nvPr>
        </p:nvSpPr>
        <p:spPr bwMode="auto">
          <a:xfrm flipH="0" flipV="0">
            <a:off x="903213" y="1752599"/>
            <a:ext cx="7722053" cy="403859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 sz="2200" b="1"/>
              <a:t>Irradiance</a:t>
            </a:r>
            <a:r>
              <a:rPr sz="2200"/>
              <a:t>: electomagnetic radiation power incident on a surface,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it-IT" sz="22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G(t)</m:t>
                      </m:r>
                    </m:oMath>
                  </m:oMathPara>
                </a14:m>
              </mc:Choice>
              <mc:Fallback/>
            </mc:AlternateContent>
            <a:r>
              <a:rPr sz="2200"/>
              <a:t> in W/m²</a:t>
            </a:r>
            <a:endParaRPr sz="2200"/>
          </a:p>
          <a:p>
            <a:pPr>
              <a:lnSpc>
                <a:spcPct val="114999"/>
              </a:lnSpc>
              <a:defRPr/>
            </a:pPr>
            <a:r>
              <a:rPr sz="2200"/>
              <a:t>Real data taken from Solcast, referred to year 2024</a:t>
            </a:r>
            <a:endParaRPr sz="2200"/>
          </a:p>
          <a:p>
            <a:pPr>
              <a:lnSpc>
                <a:spcPct val="114999"/>
              </a:lnSpc>
              <a:defRPr/>
            </a:pPr>
            <a:r>
              <a:rPr sz="2200"/>
              <a:t>Solar </a:t>
            </a:r>
            <a:r>
              <a:rPr sz="2200" b="1"/>
              <a:t>panel </a:t>
            </a:r>
            <a:r>
              <a:rPr sz="2200"/>
              <a:t>with area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2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PV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2200"/>
              <a:t> and efficiency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200" b="0" i="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PV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200"/>
          </a:p>
          <a:p>
            <a:pPr>
              <a:lnSpc>
                <a:spcPct val="114999"/>
              </a:lnSpc>
              <a:defRPr/>
            </a:pPr>
            <a:r>
              <a:rPr sz="2200" b="1"/>
              <a:t>Energy</a:t>
            </a:r>
            <a:r>
              <a:rPr sz="2200" b="0"/>
              <a:t>, in J,</a:t>
            </a:r>
            <a:r>
              <a:rPr sz="2200"/>
              <a:t> from solar light:</a:t>
            </a:r>
            <a:br>
              <a:rPr sz="2200"/>
            </a:br>
            <a:endParaRPr sz="2200"/>
          </a:p>
          <a:p>
            <a:pPr marL="742950" lvl="1" indent="0">
              <a:lnSpc>
                <a:spcPct val="114999"/>
              </a:lnSpc>
              <a:buClr>
                <a:srgbClr val="822433"/>
              </a:buClr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PV</m:t>
                          </m:r>
                        </m:sub>
                      </m:sSub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</m:t>
                      </m:r>
                      <m:nary>
                        <m:naryPr>
                          <m:grow m:val="off"/>
                          <m:limLoc m:val="undOvr"/>
                          <m:subHide m:val="on"/>
                          <m:supHide m:val="on"/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G(t)</m:t>
                          </m:r>
                          <m:sSub>
                            <m:sSubPr>
                              <m:ctrlPr>
                                <a:rPr lang="it-IT" sz="1800" b="0" i="1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it-IT" sz="18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18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PV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1800" b="0" i="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8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8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PV</m:t>
                              </m:r>
                            </m:sub>
                          </m:s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dt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br>
              <a:rPr/>
            </a:br>
            <a:endParaRPr sz="2200" i="1" baseline="-25000"/>
          </a:p>
          <a:p>
            <a:pPr>
              <a:lnSpc>
                <a:spcPct val="114999"/>
              </a:lnSpc>
              <a:defRPr/>
            </a:pPr>
            <a:r>
              <a:rPr sz="2200"/>
              <a:t>Battery with nominal </a:t>
            </a:r>
            <a:r>
              <a:rPr sz="2200" b="1"/>
              <a:t>capacity</a:t>
            </a:r>
            <a:r>
              <a:rPr sz="22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it-IT" sz="22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m:oMathPara>
                </a14:m>
              </mc:Choice>
              <mc:Fallback/>
            </mc:AlternateContent>
            <a:r>
              <a:rPr sz="2200"/>
              <a:t> in Wh</a:t>
            </a:r>
            <a:endParaRPr sz="2200"/>
          </a:p>
          <a:p>
            <a:pPr>
              <a:lnSpc>
                <a:spcPct val="114999"/>
              </a:lnSpc>
              <a:defRPr/>
            </a:pPr>
            <a:endParaRPr sz="2200"/>
          </a:p>
          <a:p>
            <a:pPr>
              <a:lnSpc>
                <a:spcPct val="114999"/>
              </a:lnSpc>
              <a:defRPr/>
            </a:pPr>
            <a:endParaRPr/>
          </a:p>
        </p:txBody>
      </p:sp>
      <p:sp>
        <p:nvSpPr>
          <p:cNvPr id="964453343" name="Shape 1027"/>
          <p:cNvSpPr>
            <a:spLocks noChangeShapeType="1" noGrp="1"/>
          </p:cNvSpPr>
          <p:nvPr>
            <p:ph type="obj" idx="2"/>
          </p:nvPr>
        </p:nvSpPr>
        <p:spPr bwMode="auto">
          <a:xfrm>
            <a:off x="4551361" y="1752599"/>
            <a:ext cx="3927474" cy="4038598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/>
          </a:p>
        </p:txBody>
      </p:sp>
      <p:sp>
        <p:nvSpPr>
          <p:cNvPr id="1403821368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412C1784-A7C0-EF48-464E-FF6658039FE8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920365822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225005580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523880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1" y="404811"/>
            <a:ext cx="7416799" cy="50958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sz="3600"/>
              <a:t>Energy constraints</a:t>
            </a:r>
            <a:endParaRPr sz="3600"/>
          </a:p>
        </p:txBody>
      </p:sp>
      <p:sp>
        <p:nvSpPr>
          <p:cNvPr id="1824469362" name="Shape 1027"/>
          <p:cNvSpPr>
            <a:spLocks noChangeShapeType="1" noGrp="1"/>
          </p:cNvSpPr>
          <p:nvPr>
            <p:ph type="body" idx="1"/>
          </p:nvPr>
        </p:nvSpPr>
        <p:spPr bwMode="auto">
          <a:xfrm flipH="0" flipV="0">
            <a:off x="784151" y="1752599"/>
            <a:ext cx="7926159" cy="403859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 sz="2200"/>
              <a:t>Raspberry Pi 4-like devices with idle power consumption of </a:t>
            </a:r>
            <a:r>
              <a:rPr sz="2200" b="1"/>
              <a:t>2.6W</a:t>
            </a:r>
            <a:r>
              <a:rPr sz="2200"/>
              <a:t> and </a:t>
            </a: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6.0W</a:t>
            </a:r>
            <a:r>
              <a:rPr sz="2200"/>
              <a:t> at full load</a:t>
            </a:r>
            <a:endParaRPr sz="2200"/>
          </a:p>
          <a:p>
            <a:pPr>
              <a:lnSpc>
                <a:spcPct val="114999"/>
              </a:lnSpc>
              <a:defRPr/>
            </a:pPr>
            <a:r>
              <a:rPr sz="2200"/>
              <a:t>If local computation only </a:t>
            </a:r>
            <a:r>
              <a:rPr sz="2200">
                <a:latin typeface="Asana Math"/>
                <a:ea typeface="Asana Math"/>
                <a:cs typeface="Asana Math"/>
              </a:rPr>
              <a:t>→</a:t>
            </a:r>
            <a:r>
              <a:rPr sz="2200"/>
              <a:t> </a:t>
            </a:r>
            <a:r>
              <a:rPr sz="2200" b="1"/>
              <a:t>3.4W </a:t>
            </a:r>
            <a:r>
              <a:rPr sz="2200" b="0"/>
              <a:t>for frames elaboration</a:t>
            </a:r>
            <a:endParaRPr sz="2200" b="0"/>
          </a:p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If local and communications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→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3.4W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in 80:20 ratio</a:t>
            </a:r>
            <a:b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</a:b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Dynamics of battery energy:</a:t>
            </a:r>
            <a:b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</a:b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50" lvl="1" indent="0">
              <a:lnSpc>
                <a:spcPct val="114999"/>
              </a:lnSpc>
              <a:buClr>
                <a:srgbClr val="822433"/>
              </a:buClr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Battery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e>
                      </m:d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= </m:t>
                      </m:r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Battery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PV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-(</m:t>
                      </m:r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Frames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TXRX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Idle</m:t>
                          </m:r>
                        </m:sub>
                      </m:sSub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br>
              <a:rPr lang="it-IT" sz="22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</a:br>
            <a:endParaRPr lang="it-IT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50" lvl="1" indent="0">
              <a:lnSpc>
                <a:spcPct val="114999"/>
              </a:lnSpc>
              <a:buClr>
                <a:srgbClr val="822433"/>
              </a:buClr>
              <a:buNone/>
              <a:defRPr/>
            </a:pP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Where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Frames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TXRX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Idle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are energy required in t for processing frames, communicating and idling respectively</a:t>
            </a:r>
            <a:endParaRPr lang="it-IT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0">
              <a:lnSpc>
                <a:spcPct val="114999"/>
              </a:lnSpc>
              <a:buClr>
                <a:srgbClr val="822433"/>
              </a:buClr>
              <a:buFont typeface="Arial"/>
              <a:buChar char="•"/>
              <a:defRPr/>
            </a:pPr>
            <a:endParaRPr lang="it-IT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endParaRPr sz="2200" b="0"/>
          </a:p>
          <a:p>
            <a:pPr>
              <a:lnSpc>
                <a:spcPct val="114999"/>
              </a:lnSpc>
              <a:defRPr/>
            </a:pPr>
            <a:endParaRPr sz="2200"/>
          </a:p>
          <a:p>
            <a:pPr>
              <a:lnSpc>
                <a:spcPct val="114999"/>
              </a:lnSpc>
              <a:defRPr/>
            </a:pPr>
            <a:endParaRPr sz="2200"/>
          </a:p>
          <a:p>
            <a:pPr>
              <a:lnSpc>
                <a:spcPct val="114999"/>
              </a:lnSpc>
              <a:defRPr/>
            </a:pPr>
            <a:endParaRPr/>
          </a:p>
        </p:txBody>
      </p:sp>
      <p:sp>
        <p:nvSpPr>
          <p:cNvPr id="833302695" name="Shape 1027"/>
          <p:cNvSpPr>
            <a:spLocks noChangeShapeType="1" noGrp="1"/>
          </p:cNvSpPr>
          <p:nvPr>
            <p:ph type="obj" idx="2"/>
          </p:nvPr>
        </p:nvSpPr>
        <p:spPr bwMode="auto">
          <a:xfrm>
            <a:off x="4551361" y="1752599"/>
            <a:ext cx="3927474" cy="4038598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/>
          </a:p>
        </p:txBody>
      </p:sp>
      <p:sp>
        <p:nvSpPr>
          <p:cNvPr id="1874830205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6305F88C-B6B3-57A0-9CCD-0E76255BADA7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002312193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10152227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759139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416800" cy="58102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Single-agent and multi-agent RL</a:t>
            </a:r>
            <a:endParaRPr sz="3600"/>
          </a:p>
        </p:txBody>
      </p:sp>
      <p:sp>
        <p:nvSpPr>
          <p:cNvPr id="1637055657" name="Shape 9221"/>
          <p:cNvSpPr>
            <a:spLocks noChangeShapeType="1" noGrp="1"/>
          </p:cNvSpPr>
          <p:nvPr>
            <p:ph type="body" idx="1"/>
          </p:nvPr>
        </p:nvSpPr>
        <p:spPr bwMode="auto">
          <a:xfrm>
            <a:off x="1123950" y="1752599"/>
            <a:ext cx="7408862" cy="4038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lnSpc>
                <a:spcPct val="114999"/>
              </a:lnSpc>
              <a:defRPr/>
            </a:pPr>
            <a:r>
              <a:rPr sz="2200"/>
              <a:t>Energy and transition dynamics encoded in isolated or cooperative environments</a:t>
            </a:r>
            <a:br>
              <a:rPr sz="2200"/>
            </a:br>
            <a:endParaRPr sz="2200"/>
          </a:p>
          <a:p>
            <a:pPr>
              <a:lnSpc>
                <a:spcPct val="114999"/>
              </a:lnSpc>
              <a:defRPr/>
            </a:pPr>
            <a:r>
              <a:rPr sz="2200" b="1"/>
              <a:t>Single-agent</a:t>
            </a:r>
            <a:r>
              <a:rPr sz="2200"/>
              <a:t> RL:</a:t>
            </a:r>
            <a:endParaRPr sz="2200"/>
          </a:p>
          <a:p>
            <a:pPr lvl="1">
              <a:lnSpc>
                <a:spcPct val="114999"/>
              </a:lnSpc>
              <a:defRPr/>
            </a:pPr>
            <a:r>
              <a:rPr sz="1800"/>
              <a:t>Local state only in observations</a:t>
            </a:r>
            <a:endParaRPr sz="1800"/>
          </a:p>
          <a:p>
            <a:pPr lvl="1">
              <a:lnSpc>
                <a:spcPct val="114999"/>
              </a:lnSpc>
              <a:defRPr/>
            </a:pPr>
            <a:r>
              <a:rPr sz="1800"/>
              <a:t>Action space restricted to local framerate</a:t>
            </a:r>
            <a:endParaRPr sz="2200"/>
          </a:p>
          <a:p>
            <a:pPr>
              <a:lnSpc>
                <a:spcPct val="114999"/>
              </a:lnSpc>
              <a:defRPr/>
            </a:pPr>
            <a:r>
              <a:rPr sz="2200" b="1"/>
              <a:t>Multi-agent </a:t>
            </a:r>
            <a:r>
              <a:rPr sz="2200"/>
              <a:t>RL:</a:t>
            </a:r>
            <a:endParaRPr sz="2200"/>
          </a:p>
          <a:p>
            <a:pPr lvl="1">
              <a:lnSpc>
                <a:spcPct val="114999"/>
              </a:lnSpc>
              <a:defRPr/>
            </a:pPr>
            <a:r>
              <a:rPr sz="1800"/>
              <a:t>with indipendent learners</a:t>
            </a:r>
            <a:endParaRPr sz="1800"/>
          </a:p>
          <a:p>
            <a:pPr lvl="1">
              <a:lnSpc>
                <a:spcPct val="114999"/>
              </a:lnSpc>
              <a:defRPr/>
            </a:pPr>
            <a:r>
              <a:rPr sz="1800"/>
              <a:t>different observations design</a:t>
            </a:r>
            <a:endParaRPr sz="1800"/>
          </a:p>
          <a:p>
            <a:pPr lvl="1">
              <a:lnSpc>
                <a:spcPct val="114999"/>
              </a:lnSpc>
              <a:defRPr/>
            </a:pPr>
            <a:r>
              <a:rPr sz="1800"/>
              <a:t>Action space extended with workload offloading</a:t>
            </a:r>
            <a:endParaRPr sz="1800"/>
          </a:p>
        </p:txBody>
      </p:sp>
      <p:sp>
        <p:nvSpPr>
          <p:cNvPr id="1687745285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09204799-9FEE-972A-B2DA-F5577C62687B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283338090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789134600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214423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1" y="409574"/>
            <a:ext cx="7416799" cy="581024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Learning algorithms</a:t>
            </a:r>
            <a:endParaRPr sz="3600"/>
          </a:p>
        </p:txBody>
      </p:sp>
      <p:sp>
        <p:nvSpPr>
          <p:cNvPr id="838487089" name="Shape 9221"/>
          <p:cNvSpPr>
            <a:spLocks noChangeShapeType="1" noGrp="1"/>
          </p:cNvSpPr>
          <p:nvPr>
            <p:ph type="body" idx="1"/>
          </p:nvPr>
        </p:nvSpPr>
        <p:spPr bwMode="auto">
          <a:xfrm flipH="0" flipV="0">
            <a:off x="886205" y="1497465"/>
            <a:ext cx="7646606" cy="4038598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>
              <a:lnSpc>
                <a:spcPct val="114999"/>
              </a:lnSpc>
              <a:defRPr/>
            </a:pPr>
            <a:r>
              <a:rPr sz="2200" b="1"/>
              <a:t>Tabular Q-learning</a:t>
            </a:r>
            <a:r>
              <a:rPr sz="2200"/>
              <a:t>:</a:t>
            </a:r>
            <a:endParaRPr sz="2200"/>
          </a:p>
          <a:p>
            <a:pPr lvl="1">
              <a:lnSpc>
                <a:spcPct val="114999"/>
              </a:lnSpc>
              <a:defRPr/>
            </a:pPr>
            <a:r>
              <a:rPr sz="1800"/>
              <a:t>Multidimensional arrays for representing state-actions tuples</a:t>
            </a:r>
            <a:endParaRPr sz="1800"/>
          </a:p>
          <a:p>
            <a:pPr lvl="1">
              <a:lnSpc>
                <a:spcPct val="114999"/>
              </a:lnSpc>
              <a:defRPr/>
            </a:pPr>
            <a:r>
              <a:rPr sz="1800"/>
              <a:t>Exponential complexity in MARL wrt number of agents</a:t>
            </a:r>
            <a:r>
              <a:rPr sz="1800"/>
              <a:t> (N)</a:t>
            </a:r>
            <a:endParaRPr sz="1800"/>
          </a:p>
          <a:p>
            <a:pPr lvl="1">
              <a:lnSpc>
                <a:spcPct val="114999"/>
              </a:lnSpc>
              <a:defRPr/>
            </a:pPr>
            <a:r>
              <a:rPr sz="1800"/>
              <a:t>Update rule following Bellman equation</a:t>
            </a:r>
            <a:endParaRPr sz="1800"/>
          </a:p>
          <a:p>
            <a:pPr lvl="1">
              <a:lnSpc>
                <a:spcPct val="114999"/>
              </a:lnSpc>
              <a:defRPr/>
            </a:pPr>
            <a:r>
              <a:rPr sz="1800"/>
              <a:t>Useful for understaning initial dynamics</a:t>
            </a:r>
            <a:br>
              <a:rPr sz="1800"/>
            </a:br>
            <a:endParaRPr sz="1800"/>
          </a:p>
          <a:p>
            <a:pPr lvl="0">
              <a:lnSpc>
                <a:spcPct val="114999"/>
              </a:lnSpc>
              <a:defRPr/>
            </a:pPr>
            <a:r>
              <a:rPr sz="2200" b="1"/>
              <a:t>Deep Q-Networks</a:t>
            </a:r>
            <a:r>
              <a:rPr sz="2200"/>
              <a:t> (DQN MLP):</a:t>
            </a:r>
            <a:endParaRPr sz="2200"/>
          </a:p>
          <a:p>
            <a:pPr lvl="1">
              <a:lnSpc>
                <a:spcPct val="114999"/>
              </a:lnSpc>
              <a:defRPr/>
            </a:pPr>
            <a:r>
              <a:rPr sz="1800"/>
              <a:t>Approximators for Q-function, indirect application</a:t>
            </a:r>
            <a:endParaRPr sz="1800"/>
          </a:p>
          <a:p>
            <a:pPr lvl="1">
              <a:lnSpc>
                <a:spcPct val="114999"/>
              </a:lnSpc>
              <a:defRPr/>
            </a:pPr>
            <a:r>
              <a:rPr sz="1800"/>
              <a:t>Linear growth wrt N</a:t>
            </a:r>
            <a:endParaRPr sz="1800"/>
          </a:p>
          <a:p>
            <a:pPr lvl="1">
              <a:lnSpc>
                <a:spcPct val="114999"/>
              </a:lnSpc>
              <a:defRPr/>
            </a:pPr>
            <a:r>
              <a:rPr sz="1800"/>
              <a:t>Higher scalability in MARL</a:t>
            </a:r>
            <a:endParaRPr sz="1800"/>
          </a:p>
          <a:p>
            <a:pPr lvl="1">
              <a:lnSpc>
                <a:spcPct val="114999"/>
              </a:lnSpc>
              <a:defRPr/>
            </a:pPr>
            <a:r>
              <a:rPr sz="1800"/>
              <a:t>Useful for complex scenarios</a:t>
            </a:r>
            <a:endParaRPr sz="1800"/>
          </a:p>
          <a:p>
            <a:pPr lvl="1">
              <a:lnSpc>
                <a:spcPct val="114999"/>
              </a:lnSpc>
              <a:defRPr/>
            </a:pPr>
            <a:endParaRPr sz="1800"/>
          </a:p>
        </p:txBody>
      </p:sp>
      <p:sp>
        <p:nvSpPr>
          <p:cNvPr id="1443491238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3D129D58-CD5E-A41D-7715-380A3A408FE1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566589238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35020808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186593" name="Shape 12306"/>
          <p:cNvSpPr>
            <a:spLocks noChangeShapeType="1" noGrp="1"/>
          </p:cNvSpPr>
          <p:nvPr/>
        </p:nvSpPr>
        <p:spPr bwMode="auto">
          <a:xfrm>
            <a:off x="2382837" y="-349250"/>
            <a:ext cx="18415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270688163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0" y="409573"/>
            <a:ext cx="7416798" cy="581023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Setup</a:t>
            </a:r>
            <a:endParaRPr sz="3600"/>
          </a:p>
        </p:txBody>
      </p:sp>
      <p:sp>
        <p:nvSpPr>
          <p:cNvPr id="836478404" name="Shape 9221"/>
          <p:cNvSpPr>
            <a:spLocks noChangeShapeType="1" noGrp="1"/>
          </p:cNvSpPr>
          <p:nvPr/>
        </p:nvSpPr>
        <p:spPr bwMode="auto">
          <a:xfrm flipH="0" flipV="0">
            <a:off x="886204" y="1497465"/>
            <a:ext cx="7646605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r>
              <a:rPr/>
              <a:t>Simulation of network from </a:t>
            </a:r>
            <a:r>
              <a:rPr b="1"/>
              <a:t>1</a:t>
            </a:r>
            <a:r>
              <a:rPr/>
              <a:t> to </a:t>
            </a:r>
            <a:r>
              <a:rPr b="1"/>
              <a:t>10</a:t>
            </a:r>
            <a:r>
              <a:rPr/>
              <a:t> nodes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Implementation in </a:t>
            </a:r>
            <a:r>
              <a:rPr b="1"/>
              <a:t>Python </a:t>
            </a:r>
            <a:r>
              <a:rPr/>
              <a:t>using Gymnasium, PettingZoo and Stable-Baselines 3 as main libraries</a:t>
            </a:r>
            <a:br>
              <a:rPr/>
            </a:b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Agents specifications:</a:t>
            </a:r>
            <a:endParaRPr/>
          </a:p>
          <a:p>
            <a:pPr lvl="1">
              <a:lnSpc>
                <a:spcPct val="114999"/>
              </a:lnSpc>
              <a:defRPr/>
            </a:pPr>
            <a:r>
              <a:rPr b="1"/>
              <a:t>Battery capacities</a:t>
            </a:r>
            <a:r>
              <a:rPr/>
              <a:t>:</a:t>
            </a:r>
            <a:br>
              <a:rPr/>
            </a:br>
            <a:r>
              <a:rPr/>
              <a:t>	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[25, 100, 50, 37, 65, 80, 40, 75, 55, 90] Wh</a:t>
            </a:r>
            <a:endParaRPr/>
          </a:p>
          <a:p>
            <a:pPr lvl="1">
              <a:lnSpc>
                <a:spcPct val="114999"/>
              </a:lnSpc>
              <a:defRPr/>
            </a:pPr>
            <a:r>
              <a:rPr b="1"/>
              <a:t>PV areas</a:t>
            </a:r>
            <a:r>
              <a:rPr/>
              <a:t>:</a:t>
            </a:r>
            <a:br>
              <a:rPr/>
            </a:br>
            <a:r>
              <a:rPr/>
              <a:t>	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[1.00, 0.50, 0.75, 0.85, 0.65, 0.55, 0.90, 0.30, 0.80, 0.52]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m²</a:t>
            </a:r>
            <a:endParaRPr/>
          </a:p>
          <a:p>
            <a:pPr lvl="1">
              <a:lnSpc>
                <a:spcPct val="114999"/>
              </a:lnSpc>
              <a:defRPr/>
            </a:pPr>
            <a:r>
              <a:rPr/>
              <a:t>Irradiance data of December 21th 2024</a:t>
            </a:r>
            <a:endParaRPr/>
          </a:p>
        </p:txBody>
      </p:sp>
      <p:sp>
        <p:nvSpPr>
          <p:cNvPr id="1004243056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75F5ED29-D0CB-B6D1-C9AD-C2A31ECDD423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944930512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736119635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167034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B0CA9387-6EF7-E374-BE8D-C581EED7532D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2006296553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165118354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924107045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0" y="409573"/>
            <a:ext cx="7416798" cy="581023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Single-agent RL</a:t>
            </a:r>
            <a:r>
              <a:rPr sz="3600"/>
              <a:t>: formulation</a:t>
            </a:r>
            <a:endParaRPr sz="3600"/>
          </a:p>
        </p:txBody>
      </p:sp>
      <p:sp>
        <p:nvSpPr>
          <p:cNvPr id="342830185" name="Shape 9221"/>
          <p:cNvSpPr>
            <a:spLocks noChangeShapeType="1" noGrp="1"/>
          </p:cNvSpPr>
          <p:nvPr/>
        </p:nvSpPr>
        <p:spPr bwMode="auto">
          <a:xfrm flipH="0" flipV="0">
            <a:off x="886204" y="1497465"/>
            <a:ext cx="7646605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r>
              <a:rPr/>
              <a:t>Isolated agents without cooperation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Observations: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o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lang="it-IT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0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0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residual battery energy over capacity</a:t>
            </a:r>
            <a:endParaRPr lang="it-IT" sz="20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0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0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backlog level on a scale 0-4</a:t>
            </a:r>
            <a:endParaRPr lang="it-IT" sz="20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0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0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0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 as timestep over total steps for episode</a:t>
            </a:r>
            <a:endParaRPr sz="20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endParaRPr>
              <a:solidFill>
                <a:schemeClr val="accent5">
                  <a:lumMod val="10000"/>
                </a:schemeClr>
              </a:solidFill>
            </a:endParaRPr>
          </a:p>
          <a:p>
            <a:pPr>
              <a:lnSpc>
                <a:spcPct val="114999"/>
              </a:lnSpc>
              <a:defRPr/>
            </a:pPr>
            <a:r>
              <a:rPr/>
              <a:t>Actions: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∊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[0,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μ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max, 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]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framerate </a:t>
            </a:r>
            <a:r>
              <a:rPr sz="2000"/>
              <a:t>adopted in t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400"/>
              <a:t>Table size: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|O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×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| = |O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|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×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|A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|</a:t>
            </a:r>
            <a:endParaRPr lang="it-IT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State discretization for accessing table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544425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2DC31B1B-3479-3219-5AE5-487A9AB0D80D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45031527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204893262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2116687636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0" y="409573"/>
            <a:ext cx="7416798" cy="581023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Single-agent RL</a:t>
            </a:r>
            <a:r>
              <a:rPr sz="3600"/>
              <a:t>:experiments</a:t>
            </a:r>
            <a:endParaRPr sz="3600"/>
          </a:p>
        </p:txBody>
      </p:sp>
      <p:sp>
        <p:nvSpPr>
          <p:cNvPr id="1785567965" name="Shape 9221"/>
          <p:cNvSpPr>
            <a:spLocks noChangeShapeType="1" noGrp="1"/>
          </p:cNvSpPr>
          <p:nvPr/>
        </p:nvSpPr>
        <p:spPr bwMode="auto">
          <a:xfrm flipH="0" flipV="0">
            <a:off x="886204" y="1497465"/>
            <a:ext cx="7646605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endParaRPr sz="2400"/>
          </a:p>
        </p:txBody>
      </p:sp>
      <p:pic>
        <p:nvPicPr>
          <p:cNvPr id="9379835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39993" y="3601865"/>
            <a:ext cx="3169514" cy="2316484"/>
          </a:xfrm>
          <a:prstGeom prst="rect">
            <a:avLst/>
          </a:prstGeom>
        </p:spPr>
      </p:pic>
      <p:pic>
        <p:nvPicPr>
          <p:cNvPr id="198013081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067152" y="1075866"/>
            <a:ext cx="3169514" cy="2316484"/>
          </a:xfrm>
          <a:prstGeom prst="rect">
            <a:avLst/>
          </a:prstGeom>
        </p:spPr>
      </p:pic>
      <p:pic>
        <p:nvPicPr>
          <p:cNvPr id="57284956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062391" y="3601865"/>
            <a:ext cx="3022887" cy="2209320"/>
          </a:xfrm>
          <a:prstGeom prst="rect">
            <a:avLst/>
          </a:prstGeom>
        </p:spPr>
      </p:pic>
      <p:pic>
        <p:nvPicPr>
          <p:cNvPr id="45543457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387271" y="1120678"/>
            <a:ext cx="3171603" cy="2318011"/>
          </a:xfrm>
          <a:prstGeom prst="rect">
            <a:avLst/>
          </a:prstGeom>
        </p:spPr>
      </p:pic>
      <p:cxnSp>
        <p:nvCxnSpPr>
          <p:cNvPr id="1430119588" name=""/>
          <p:cNvCxnSpPr/>
          <p:nvPr/>
        </p:nvCxnSpPr>
        <p:spPr bwMode="auto">
          <a:xfrm flipH="0" flipV="1">
            <a:off x="1110245" y="3528934"/>
            <a:ext cx="7791762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029573" name=""/>
          <p:cNvCxnSpPr/>
          <p:nvPr/>
        </p:nvCxnSpPr>
        <p:spPr bwMode="auto">
          <a:xfrm flipH="1" flipV="1">
            <a:off x="4904630" y="1276825"/>
            <a:ext cx="0" cy="4415384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633654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24F9D55A-1951-2CFD-E765-36B71F9AB5ED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2126955777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592774955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507483844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0" y="409573"/>
            <a:ext cx="7416798" cy="581023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Multi-agent RL</a:t>
            </a:r>
            <a:r>
              <a:rPr sz="3600"/>
              <a:t>: formulations</a:t>
            </a:r>
            <a:endParaRPr sz="3600"/>
          </a:p>
        </p:txBody>
      </p:sp>
      <p:sp>
        <p:nvSpPr>
          <p:cNvPr id="657065523" name="Shape 9221"/>
          <p:cNvSpPr>
            <a:spLocks noChangeShapeType="1" noGrp="1"/>
          </p:cNvSpPr>
          <p:nvPr/>
        </p:nvSpPr>
        <p:spPr bwMode="auto">
          <a:xfrm flipH="0" flipV="0">
            <a:off x="745671" y="1497465"/>
            <a:ext cx="8156336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Agents can use offloading for cooperation</a:t>
            </a: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Different number of agents in the system</a:t>
            </a: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Action space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: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2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= [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f</a:t>
            </a:r>
            <a:r>
              <a:rPr lang="it-IT" sz="22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x</a:t>
            </a:r>
            <a:r>
              <a:rPr lang="it-IT" sz="22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g</a:t>
            </a:r>
            <a:r>
              <a:rPr lang="it-IT" sz="22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h</a:t>
            </a:r>
            <a:r>
              <a:rPr lang="it-IT" sz="22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f</a:t>
            </a:r>
            <a:r>
              <a:rPr lang="it-IT" sz="1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1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8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local framerate</a:t>
            </a:r>
            <a:endParaRPr lang="it-IT" sz="18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x</a:t>
            </a:r>
            <a:r>
              <a:rPr lang="it-IT" sz="1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1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8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offloading mode (no off., send, receive)</a:t>
            </a:r>
            <a:endParaRPr sz="1800" b="0" i="0" u="none" strike="noStrike" cap="none" spc="0" baseline="-2500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g</a:t>
            </a:r>
            <a:r>
              <a:rPr lang="it-IT" sz="1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1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8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id offloading target</a:t>
            </a:r>
            <a:endParaRPr sz="18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h</a:t>
            </a:r>
            <a:r>
              <a:rPr lang="it-IT" sz="1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1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8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local framerate</a:t>
            </a:r>
            <a:endParaRPr lang="it-IT" sz="18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0"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Different formulation for </a:t>
            </a:r>
            <a:r>
              <a:rPr lang="it-IT" sz="2200" b="1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observation space</a:t>
            </a:r>
            <a:r>
              <a:rPr lang="it-IT" sz="22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:</a:t>
            </a:r>
            <a:endParaRPr lang="it-IT" sz="22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600" b="1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Full-state</a:t>
            </a:r>
            <a:r>
              <a:rPr lang="it-IT" sz="16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: all the local state of others</a:t>
            </a:r>
            <a:endParaRPr lang="it-IT" sz="16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600" b="1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Aggregated-states</a:t>
            </a:r>
            <a:r>
              <a:rPr lang="it-IT" sz="16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: local state min/avg/max of batteries &amp; backlog</a:t>
            </a:r>
            <a:endParaRPr lang="it-IT" sz="16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600" b="1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Reduced-states</a:t>
            </a:r>
            <a:r>
              <a:rPr lang="it-IT" sz="16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: local state and avg of metrics</a:t>
            </a:r>
            <a:endParaRPr lang="it-IT" sz="16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600" b="1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Local-only</a:t>
            </a:r>
            <a:r>
              <a:rPr lang="it-IT" sz="16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: local state</a:t>
            </a:r>
            <a:endParaRPr lang="it-IT" sz="18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849620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416FD562-9FF3-FDE6-D498-A2DED11B983D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049325244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054977234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30101543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0" y="409573"/>
            <a:ext cx="7416798" cy="581023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N=2, full-states</a:t>
            </a:r>
            <a:endParaRPr sz="3600"/>
          </a:p>
        </p:txBody>
      </p:sp>
      <p:sp>
        <p:nvSpPr>
          <p:cNvPr id="2118162288" name="Shape 9221"/>
          <p:cNvSpPr>
            <a:spLocks noChangeShapeType="1" noGrp="1"/>
          </p:cNvSpPr>
          <p:nvPr/>
        </p:nvSpPr>
        <p:spPr bwMode="auto">
          <a:xfrm flipH="0" flipV="0">
            <a:off x="886204" y="1497465"/>
            <a:ext cx="7646605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endParaRPr sz="2400"/>
          </a:p>
        </p:txBody>
      </p:sp>
      <p:cxnSp>
        <p:nvCxnSpPr>
          <p:cNvPr id="2079912653" name=""/>
          <p:cNvCxnSpPr/>
          <p:nvPr/>
        </p:nvCxnSpPr>
        <p:spPr bwMode="auto">
          <a:xfrm flipH="1" flipV="1">
            <a:off x="4748481" y="1497463"/>
            <a:ext cx="0" cy="4415384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98561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088351" y="1352349"/>
            <a:ext cx="3267139" cy="2442186"/>
          </a:xfrm>
          <a:prstGeom prst="rect">
            <a:avLst/>
          </a:prstGeom>
        </p:spPr>
      </p:pic>
      <p:pic>
        <p:nvPicPr>
          <p:cNvPr id="13384273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102901" y="3720895"/>
            <a:ext cx="3174964" cy="2373286"/>
          </a:xfrm>
          <a:prstGeom prst="rect">
            <a:avLst/>
          </a:prstGeom>
        </p:spPr>
      </p:pic>
      <p:pic>
        <p:nvPicPr>
          <p:cNvPr id="411786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116009" y="3821550"/>
            <a:ext cx="3019421" cy="2257017"/>
          </a:xfrm>
          <a:prstGeom prst="rect">
            <a:avLst/>
          </a:prstGeom>
        </p:spPr>
      </p:pic>
      <p:pic>
        <p:nvPicPr>
          <p:cNvPr id="106922462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48895" y="1352349"/>
            <a:ext cx="3300300" cy="2466973"/>
          </a:xfrm>
          <a:prstGeom prst="rect">
            <a:avLst/>
          </a:prstGeom>
        </p:spPr>
      </p:pic>
      <p:sp>
        <p:nvSpPr>
          <p:cNvPr id="1352712139" name="Shape 9218"/>
          <p:cNvSpPr>
            <a:spLocks noChangeShapeType="1" noGrp="1"/>
          </p:cNvSpPr>
          <p:nvPr/>
        </p:nvSpPr>
        <p:spPr bwMode="auto">
          <a:xfrm flipH="0" flipV="0">
            <a:off x="1239834" y="990595"/>
            <a:ext cx="2895596" cy="581022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algn="ctr">
              <a:defRPr/>
            </a:pPr>
            <a:r>
              <a:rPr sz="2200"/>
              <a:t>TABULAR</a:t>
            </a:r>
            <a:endParaRPr sz="2200"/>
          </a:p>
        </p:txBody>
      </p:sp>
      <p:sp>
        <p:nvSpPr>
          <p:cNvPr id="1862696722" name="Shape 9218"/>
          <p:cNvSpPr>
            <a:spLocks noChangeShapeType="1" noGrp="1"/>
          </p:cNvSpPr>
          <p:nvPr/>
        </p:nvSpPr>
        <p:spPr bwMode="auto">
          <a:xfrm flipH="0" flipV="0">
            <a:off x="5295923" y="986847"/>
            <a:ext cx="2895595" cy="581022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algn="ctr">
              <a:defRPr/>
            </a:pPr>
            <a:r>
              <a:rPr sz="2200"/>
              <a:t>DQN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907443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09E1A3CB-3F61-C3B3-45AD-760CD266F1C1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410221383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690656851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961868687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7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N=3 - DQN</a:t>
            </a:r>
            <a:endParaRPr sz="3600"/>
          </a:p>
        </p:txBody>
      </p:sp>
      <p:sp>
        <p:nvSpPr>
          <p:cNvPr id="2100683553" name="Shape 9221"/>
          <p:cNvSpPr>
            <a:spLocks noChangeShapeType="1" noGrp="1"/>
          </p:cNvSpPr>
          <p:nvPr/>
        </p:nvSpPr>
        <p:spPr bwMode="auto">
          <a:xfrm flipH="0" flipV="0">
            <a:off x="886203" y="1497465"/>
            <a:ext cx="7646604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8" indent="13334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8" indent="175259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endParaRPr sz="2400"/>
          </a:p>
        </p:txBody>
      </p:sp>
      <p:pic>
        <p:nvPicPr>
          <p:cNvPr id="461278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56745" y="1296024"/>
            <a:ext cx="3261772" cy="2389057"/>
          </a:xfrm>
          <a:prstGeom prst="rect">
            <a:avLst/>
          </a:prstGeom>
        </p:spPr>
      </p:pic>
      <p:cxnSp>
        <p:nvCxnSpPr>
          <p:cNvPr id="932030659" name=""/>
          <p:cNvCxnSpPr/>
          <p:nvPr/>
        </p:nvCxnSpPr>
        <p:spPr bwMode="auto">
          <a:xfrm flipH="1" flipV="1">
            <a:off x="4748481" y="1497463"/>
            <a:ext cx="0" cy="441538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5553632" name="Shape 9218"/>
          <p:cNvSpPr>
            <a:spLocks noChangeShapeType="1" noGrp="1"/>
          </p:cNvSpPr>
          <p:nvPr/>
        </p:nvSpPr>
        <p:spPr bwMode="auto">
          <a:xfrm flipH="0" flipV="0">
            <a:off x="1239833" y="990594"/>
            <a:ext cx="2895595" cy="581022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algn="ctr">
              <a:defRPr/>
            </a:pPr>
            <a:r>
              <a:rPr sz="1800"/>
              <a:t>FULL-STATES</a:t>
            </a:r>
            <a:endParaRPr sz="1800"/>
          </a:p>
        </p:txBody>
      </p:sp>
      <p:sp>
        <p:nvSpPr>
          <p:cNvPr id="64887312" name="Shape 9218"/>
          <p:cNvSpPr>
            <a:spLocks noChangeShapeType="1" noGrp="1"/>
          </p:cNvSpPr>
          <p:nvPr/>
        </p:nvSpPr>
        <p:spPr bwMode="auto">
          <a:xfrm flipH="0" flipV="0">
            <a:off x="5217849" y="986846"/>
            <a:ext cx="3403093" cy="581022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algn="ctr">
              <a:defRPr/>
            </a:pPr>
            <a:r>
              <a:rPr sz="1800"/>
              <a:t>AGGREGATED-STATES</a:t>
            </a:r>
            <a:endParaRPr sz="1800"/>
          </a:p>
        </p:txBody>
      </p:sp>
      <p:pic>
        <p:nvPicPr>
          <p:cNvPr id="135605598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217849" y="1317963"/>
            <a:ext cx="3201866" cy="2345179"/>
          </a:xfrm>
          <a:prstGeom prst="rect">
            <a:avLst/>
          </a:prstGeom>
        </p:spPr>
      </p:pic>
      <p:pic>
        <p:nvPicPr>
          <p:cNvPr id="7435975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256232" y="3725694"/>
            <a:ext cx="3125099" cy="2288952"/>
          </a:xfrm>
          <a:prstGeom prst="rect">
            <a:avLst/>
          </a:prstGeom>
        </p:spPr>
      </p:pic>
      <p:pic>
        <p:nvPicPr>
          <p:cNvPr id="89531490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148290" y="3759689"/>
            <a:ext cx="3078686" cy="22549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2309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EE07C973-2E63-8431-81AC-70E2132A6761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660139750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481400494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713325653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7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N=5 - DQN (rewards)</a:t>
            </a:r>
            <a:endParaRPr sz="3600"/>
          </a:p>
        </p:txBody>
      </p:sp>
      <p:sp>
        <p:nvSpPr>
          <p:cNvPr id="1346394029" name="Shape 9221"/>
          <p:cNvSpPr>
            <a:spLocks noChangeShapeType="1" noGrp="1"/>
          </p:cNvSpPr>
          <p:nvPr/>
        </p:nvSpPr>
        <p:spPr bwMode="auto">
          <a:xfrm flipH="0" flipV="0">
            <a:off x="886203" y="1497465"/>
            <a:ext cx="7646604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8" indent="13334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8" indent="175259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endParaRPr sz="2400"/>
          </a:p>
        </p:txBody>
      </p:sp>
      <p:cxnSp>
        <p:nvCxnSpPr>
          <p:cNvPr id="1891110836" name=""/>
          <p:cNvCxnSpPr/>
          <p:nvPr/>
        </p:nvCxnSpPr>
        <p:spPr bwMode="auto">
          <a:xfrm flipH="1" flipV="1">
            <a:off x="4592333" y="1497463"/>
            <a:ext cx="0" cy="441538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3721800" name=""/>
          <p:cNvCxnSpPr/>
          <p:nvPr/>
        </p:nvCxnSpPr>
        <p:spPr bwMode="auto">
          <a:xfrm flipH="0" flipV="1">
            <a:off x="1110244" y="3528933"/>
            <a:ext cx="7791761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25458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91977" y="1127033"/>
            <a:ext cx="3262690" cy="2389729"/>
          </a:xfrm>
          <a:prstGeom prst="rect">
            <a:avLst/>
          </a:prstGeom>
        </p:spPr>
      </p:pic>
      <p:pic>
        <p:nvPicPr>
          <p:cNvPr id="123643489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286811" y="1127033"/>
            <a:ext cx="3156096" cy="2311655"/>
          </a:xfrm>
          <a:prstGeom prst="rect">
            <a:avLst/>
          </a:prstGeom>
        </p:spPr>
      </p:pic>
      <p:pic>
        <p:nvPicPr>
          <p:cNvPr id="1390513075" name=""/>
          <p:cNvPicPr>
            <a:picLocks noChangeAspect="1"/>
          </p:cNvPicPr>
          <p:nvPr/>
        </p:nvPicPr>
        <p:blipFill rotWithShape="1">
          <a:blip r:embed="rId5"/>
          <a:srcRect l="0" t="0" r="0" b="3180"/>
          <a:stretch/>
        </p:blipFill>
        <p:spPr bwMode="auto">
          <a:xfrm flipH="0" flipV="0">
            <a:off x="1041971" y="3575778"/>
            <a:ext cx="3479010" cy="2467131"/>
          </a:xfrm>
          <a:prstGeom prst="rect">
            <a:avLst/>
          </a:prstGeom>
        </p:spPr>
      </p:pic>
      <p:pic>
        <p:nvPicPr>
          <p:cNvPr id="73687807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928880" y="3604511"/>
            <a:ext cx="3289909" cy="2409665"/>
          </a:xfrm>
          <a:prstGeom prst="rect">
            <a:avLst/>
          </a:prstGeom>
        </p:spPr>
      </p:pic>
      <p:sp>
        <p:nvSpPr>
          <p:cNvPr id="221951217" name="Shape 9218"/>
          <p:cNvSpPr>
            <a:spLocks noChangeShapeType="1" noGrp="1"/>
          </p:cNvSpPr>
          <p:nvPr/>
        </p:nvSpPr>
        <p:spPr bwMode="auto">
          <a:xfrm flipH="0" flipV="0">
            <a:off x="-149878" y="2723832"/>
            <a:ext cx="1681723" cy="711412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algn="ctr">
              <a:defRPr/>
            </a:pPr>
            <a:r>
              <a:rPr sz="1800"/>
              <a:t>FULL-STATES</a:t>
            </a:r>
            <a:endParaRPr sz="1800"/>
          </a:p>
        </p:txBody>
      </p:sp>
      <p:sp>
        <p:nvSpPr>
          <p:cNvPr id="293935233" name="Shape 9218"/>
          <p:cNvSpPr>
            <a:spLocks noChangeShapeType="1" noGrp="1"/>
          </p:cNvSpPr>
          <p:nvPr/>
        </p:nvSpPr>
        <p:spPr bwMode="auto">
          <a:xfrm flipH="0" flipV="0">
            <a:off x="7747438" y="2735699"/>
            <a:ext cx="1513708" cy="964996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algn="ctr">
              <a:defRPr/>
            </a:pPr>
            <a:r>
              <a:rPr sz="1800"/>
              <a:t>AGGR.-STATES</a:t>
            </a:r>
            <a:endParaRPr sz="1800"/>
          </a:p>
        </p:txBody>
      </p:sp>
      <p:sp>
        <p:nvSpPr>
          <p:cNvPr id="499548608" name="Shape 9218"/>
          <p:cNvSpPr>
            <a:spLocks noChangeShapeType="1" noGrp="1"/>
          </p:cNvSpPr>
          <p:nvPr/>
        </p:nvSpPr>
        <p:spPr bwMode="auto">
          <a:xfrm flipH="0" flipV="0">
            <a:off x="42940" y="5296519"/>
            <a:ext cx="1436690" cy="871308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algn="ctr">
              <a:defRPr/>
            </a:pPr>
            <a:r>
              <a:rPr sz="1800"/>
              <a:t>REDUCED-STATES</a:t>
            </a:r>
            <a:endParaRPr sz="1800"/>
          </a:p>
        </p:txBody>
      </p:sp>
      <p:sp>
        <p:nvSpPr>
          <p:cNvPr id="103571260" name="Shape 9218"/>
          <p:cNvSpPr>
            <a:spLocks noChangeShapeType="1" noGrp="1"/>
          </p:cNvSpPr>
          <p:nvPr/>
        </p:nvSpPr>
        <p:spPr bwMode="auto">
          <a:xfrm flipH="0" flipV="0">
            <a:off x="8158864" y="5296519"/>
            <a:ext cx="1436689" cy="871308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defRPr/>
            </a:pPr>
            <a:r>
              <a:rPr sz="1800"/>
              <a:t>LOCAL-ONLY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107572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13B84B86-2560-23AA-F86F-45E39919CC57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338708274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31764919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408992027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7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N=5 - DQN (backlog)</a:t>
            </a:r>
            <a:endParaRPr sz="3600"/>
          </a:p>
        </p:txBody>
      </p:sp>
      <p:sp>
        <p:nvSpPr>
          <p:cNvPr id="1807554011" name="Shape 9221"/>
          <p:cNvSpPr>
            <a:spLocks noChangeShapeType="1" noGrp="1"/>
          </p:cNvSpPr>
          <p:nvPr/>
        </p:nvSpPr>
        <p:spPr bwMode="auto">
          <a:xfrm flipH="0" flipV="0">
            <a:off x="886203" y="1497465"/>
            <a:ext cx="7646604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8" indent="13334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8" indent="175259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endParaRPr sz="2400"/>
          </a:p>
        </p:txBody>
      </p:sp>
      <p:cxnSp>
        <p:nvCxnSpPr>
          <p:cNvPr id="889769523" name=""/>
          <p:cNvCxnSpPr/>
          <p:nvPr/>
        </p:nvCxnSpPr>
        <p:spPr bwMode="auto">
          <a:xfrm flipH="1" flipV="1">
            <a:off x="4592333" y="1497463"/>
            <a:ext cx="0" cy="441538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657049" name=""/>
          <p:cNvCxnSpPr/>
          <p:nvPr/>
        </p:nvCxnSpPr>
        <p:spPr bwMode="auto">
          <a:xfrm flipH="0" flipV="1">
            <a:off x="1110244" y="3528933"/>
            <a:ext cx="7791761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9095192" name="Shape 9218"/>
          <p:cNvSpPr>
            <a:spLocks noChangeShapeType="1" noGrp="1"/>
          </p:cNvSpPr>
          <p:nvPr/>
        </p:nvSpPr>
        <p:spPr bwMode="auto">
          <a:xfrm flipH="0" flipV="0">
            <a:off x="-149878" y="2723832"/>
            <a:ext cx="1681723" cy="711412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algn="ctr">
              <a:defRPr/>
            </a:pPr>
            <a:r>
              <a:rPr sz="1800"/>
              <a:t>FULL-STATES</a:t>
            </a:r>
            <a:endParaRPr sz="1800"/>
          </a:p>
        </p:txBody>
      </p:sp>
      <p:sp>
        <p:nvSpPr>
          <p:cNvPr id="1139679502" name="Shape 9218"/>
          <p:cNvSpPr>
            <a:spLocks noChangeShapeType="1" noGrp="1"/>
          </p:cNvSpPr>
          <p:nvPr/>
        </p:nvSpPr>
        <p:spPr bwMode="auto">
          <a:xfrm flipH="0" flipV="0">
            <a:off x="7747438" y="2735699"/>
            <a:ext cx="1513708" cy="964996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algn="ctr">
              <a:defRPr/>
            </a:pPr>
            <a:r>
              <a:rPr sz="1800"/>
              <a:t>AGGR.-STATES</a:t>
            </a:r>
            <a:endParaRPr sz="1800"/>
          </a:p>
        </p:txBody>
      </p:sp>
      <p:sp>
        <p:nvSpPr>
          <p:cNvPr id="238524534" name="Shape 9218"/>
          <p:cNvSpPr>
            <a:spLocks noChangeShapeType="1" noGrp="1"/>
          </p:cNvSpPr>
          <p:nvPr/>
        </p:nvSpPr>
        <p:spPr bwMode="auto">
          <a:xfrm flipH="0" flipV="0">
            <a:off x="42940" y="5296519"/>
            <a:ext cx="1436690" cy="871308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algn="ctr">
              <a:defRPr/>
            </a:pPr>
            <a:r>
              <a:rPr sz="1800"/>
              <a:t>REDUCED-STATES</a:t>
            </a:r>
            <a:endParaRPr sz="1800"/>
          </a:p>
        </p:txBody>
      </p:sp>
      <p:sp>
        <p:nvSpPr>
          <p:cNvPr id="1549135568" name="Shape 9218"/>
          <p:cNvSpPr>
            <a:spLocks noChangeShapeType="1" noGrp="1"/>
          </p:cNvSpPr>
          <p:nvPr/>
        </p:nvSpPr>
        <p:spPr bwMode="auto">
          <a:xfrm flipH="0" flipV="0">
            <a:off x="8158864" y="5296519"/>
            <a:ext cx="1436689" cy="871308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1pPr>
            <a:lvl2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2pPr>
            <a:lvl3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3pPr>
            <a:lvl4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4pPr>
            <a:lvl5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1" i="0">
                <a:solidFill>
                  <a:srgbClr val="822433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defRPr/>
            </a:pPr>
            <a:r>
              <a:rPr sz="1800"/>
              <a:t>LOCAL-ONLY</a:t>
            </a:r>
            <a:endParaRPr sz="2000"/>
          </a:p>
        </p:txBody>
      </p:sp>
      <p:pic>
        <p:nvPicPr>
          <p:cNvPr id="6189051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02426" y="1230298"/>
            <a:ext cx="3100383" cy="2270849"/>
          </a:xfrm>
          <a:prstGeom prst="rect">
            <a:avLst/>
          </a:prstGeom>
        </p:spPr>
      </p:pic>
      <p:pic>
        <p:nvPicPr>
          <p:cNvPr id="145786324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882180" y="1199369"/>
            <a:ext cx="3052635" cy="2235876"/>
          </a:xfrm>
          <a:prstGeom prst="rect">
            <a:avLst/>
          </a:prstGeom>
        </p:spPr>
      </p:pic>
      <p:pic>
        <p:nvPicPr>
          <p:cNvPr id="75079136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385942" y="3575357"/>
            <a:ext cx="3092368" cy="2264978"/>
          </a:xfrm>
          <a:prstGeom prst="rect">
            <a:avLst/>
          </a:prstGeom>
        </p:spPr>
      </p:pic>
      <p:pic>
        <p:nvPicPr>
          <p:cNvPr id="143599233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810387" y="3579913"/>
            <a:ext cx="3196220" cy="23410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844493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A804A8A1-92BC-410E-E726-03FF2F45C23F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752712584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9860340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38320373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7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N=10 - DQN </a:t>
            </a:r>
            <a:endParaRPr sz="3600"/>
          </a:p>
        </p:txBody>
      </p:sp>
      <p:sp>
        <p:nvSpPr>
          <p:cNvPr id="2061492120" name="Shape 9221"/>
          <p:cNvSpPr>
            <a:spLocks noChangeShapeType="1" noGrp="1"/>
          </p:cNvSpPr>
          <p:nvPr/>
        </p:nvSpPr>
        <p:spPr bwMode="auto">
          <a:xfrm flipH="0" flipV="0">
            <a:off x="745670" y="1497465"/>
            <a:ext cx="8156335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8" indent="13334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8" indent="175259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Experimental approach: training an agent per time with N-1 acting </a:t>
            </a: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randomly</a:t>
            </a: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Saving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model and retrain another agent </a:t>
            </a: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starting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with the pre-trained model</a:t>
            </a:r>
            <a:endParaRPr lang="it-IT" sz="2200" b="0" i="0" u="none" strike="noStrike" cap="none" spc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Repeat until model has not been trained by </a:t>
            </a: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all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the agents</a:t>
            </a:r>
            <a:endParaRPr lang="it-IT" sz="2200" b="0" i="0" u="none" strike="noStrike" cap="none" spc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Attempt to obtain a model capable to </a:t>
            </a: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generalize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with every node</a:t>
            </a:r>
            <a:endParaRPr lang="it-IT" sz="2200" b="0" i="0" u="none" strike="noStrike" cap="none" spc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Run with all agents having this model</a:t>
            </a: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845604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944C8218-C4FE-EF10-1A77-5164FB61AFDC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206643390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860630265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2050103956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7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N=10 - DQN </a:t>
            </a:r>
            <a:endParaRPr sz="3600"/>
          </a:p>
        </p:txBody>
      </p:sp>
      <p:pic>
        <p:nvPicPr>
          <p:cNvPr id="479312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49270" y="1225197"/>
            <a:ext cx="3008843" cy="2203801"/>
          </a:xfrm>
          <a:prstGeom prst="rect">
            <a:avLst/>
          </a:prstGeom>
        </p:spPr>
      </p:pic>
      <p:pic>
        <p:nvPicPr>
          <p:cNvPr id="141371538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231249" y="1107519"/>
            <a:ext cx="3169509" cy="2321479"/>
          </a:xfrm>
          <a:prstGeom prst="rect">
            <a:avLst/>
          </a:prstGeom>
        </p:spPr>
      </p:pic>
      <p:pic>
        <p:nvPicPr>
          <p:cNvPr id="56424915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318041" y="3608949"/>
            <a:ext cx="3071302" cy="2249549"/>
          </a:xfrm>
          <a:prstGeom prst="rect">
            <a:avLst/>
          </a:prstGeom>
        </p:spPr>
      </p:pic>
      <p:pic>
        <p:nvPicPr>
          <p:cNvPr id="66951259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268791" y="3592013"/>
            <a:ext cx="3094425" cy="2266485"/>
          </a:xfrm>
          <a:prstGeom prst="rect">
            <a:avLst/>
          </a:prstGeom>
        </p:spPr>
      </p:pic>
      <p:cxnSp>
        <p:nvCxnSpPr>
          <p:cNvPr id="776287875" name=""/>
          <p:cNvCxnSpPr/>
          <p:nvPr/>
        </p:nvCxnSpPr>
        <p:spPr bwMode="auto">
          <a:xfrm flipH="1" flipV="1">
            <a:off x="4670407" y="1419390"/>
            <a:ext cx="0" cy="441538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0652243" name=""/>
          <p:cNvCxnSpPr/>
          <p:nvPr/>
        </p:nvCxnSpPr>
        <p:spPr bwMode="auto">
          <a:xfrm flipH="0" flipV="1">
            <a:off x="1188318" y="3450859"/>
            <a:ext cx="7791761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643667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5DFE71E6-D1A7-5406-A6CD-D699932A9B2A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717954478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586270240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348746254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7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</a:t>
            </a:r>
            <a:r>
              <a:rPr sz="2800"/>
              <a:t>N=10 – pre-trained vs zero</a:t>
            </a:r>
            <a:endParaRPr sz="2800"/>
          </a:p>
        </p:txBody>
      </p:sp>
      <p:pic>
        <p:nvPicPr>
          <p:cNvPr id="17174090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35459" y="3525416"/>
            <a:ext cx="3288948" cy="2408962"/>
          </a:xfrm>
          <a:prstGeom prst="rect">
            <a:avLst/>
          </a:prstGeom>
        </p:spPr>
      </p:pic>
      <p:pic>
        <p:nvPicPr>
          <p:cNvPr id="68097116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378627" y="3525416"/>
            <a:ext cx="3154180" cy="2310252"/>
          </a:xfrm>
          <a:prstGeom prst="rect">
            <a:avLst/>
          </a:prstGeom>
        </p:spPr>
      </p:pic>
      <p:pic>
        <p:nvPicPr>
          <p:cNvPr id="170417964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534499" y="1129171"/>
            <a:ext cx="3164991" cy="2318170"/>
          </a:xfrm>
          <a:prstGeom prst="rect">
            <a:avLst/>
          </a:prstGeom>
        </p:spPr>
      </p:pic>
      <p:pic>
        <p:nvPicPr>
          <p:cNvPr id="133689924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405525" y="1152832"/>
            <a:ext cx="3100383" cy="2270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a sapienza">
  <a:themeElements>
    <a:clrScheme name="Default">
      <a:dk1>
        <a:srgbClr val="822433"/>
      </a:dk1>
      <a:lt1>
        <a:srgbClr val="FFFFFF"/>
      </a:lt1>
      <a:dk2>
        <a:srgbClr val="822433"/>
      </a:dk2>
      <a:lt2>
        <a:srgbClr val="808080"/>
      </a:lt2>
      <a:accent1>
        <a:srgbClr val="BBE0E3"/>
      </a:accent1>
      <a:accent2>
        <a:srgbClr val="FFFF00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FF0000"/>
      </a:folHlink>
    </a:clrScheme>
    <a:fontScheme name="default">
      <a:majorFont>
        <a:latin typeface="Arial"/>
        <a:ea typeface="Arial"/>
        <a:cs typeface="Arial"/>
      </a:majorFont>
      <a:minorFont>
        <a:latin typeface="ＭＳ Ｐゴシック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la sapienza 1">
        <a:dk1>
          <a:srgbClr val="000000"/>
        </a:dk1>
        <a:lt1>
          <a:srgbClr val="FFFFFF"/>
        </a:lt1>
        <a:dk2>
          <a:srgbClr val="FFFFFF"/>
        </a:dk2>
        <a:lt2>
          <a:srgbClr val="2D2015"/>
        </a:lt2>
        <a:accent1>
          <a:srgbClr val="7C7C7C"/>
        </a:accent1>
        <a:accent2>
          <a:srgbClr val="FFFF7E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66778"/>
        </a:hlink>
        <a:folHlink>
          <a:srgbClr val="8300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9999"/>
      </a:hlink>
      <a:folHlink>
        <a:srgbClr val="99CC00"/>
      </a:folHlink>
    </a:clrScheme>
    <a:fontScheme name="default">
      <a:majorFont>
        <a:latin typeface="Arial"/>
        <a:ea typeface="Arial"/>
        <a:cs typeface="Arial"/>
      </a:majorFont>
      <a:minorFont>
        <a:latin typeface="ＭＳ Ｐゴシック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Marco:Applications:Microsoft Office 2004:Modelli:Modelli personali:la sapienza.pot</Template>
  <TotalTime>0</TotalTime>
  <Words>0</Words>
  <Application>ONLYOFFICE/9.3.1.8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- -</dc:creator>
  <cp:lastModifiedBy/>
  <cp:revision>32</cp:revision>
  <dcterms:created xsi:type="dcterms:W3CDTF">2006-11-20T16:13:00Z</dcterms:created>
  <dcterms:modified xsi:type="dcterms:W3CDTF">2026-03-20T08:51:52Z</dcterms:modified>
</cp:coreProperties>
</file>