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it-IT" sz="2400" b="0" i="0">
        <a:solidFill>
          <a:schemeClr val="dk1"/>
        </a:solidFill>
        <a:latin typeface="Arial"/>
        <a:ea typeface="ＭＳ Ｐゴシック"/>
      </a:defRPr>
    </a:lvl5pPr>
    <a:lvl6pPr>
      <a:defRPr lang="it-IT" sz="1800"/>
    </a:lvl6pPr>
    <a:lvl7pPr>
      <a:defRPr lang="it-IT" sz="1800"/>
    </a:lvl7pPr>
    <a:lvl8pPr>
      <a:defRPr lang="it-IT" sz="1800"/>
    </a:lvl8pPr>
    <a:lvl9pPr>
      <a:defRPr lang="it-IT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113739" name="Shape 5122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1596836220" name="Shape 5123"/>
          <p:cNvSpPr>
            <a:spLocks noChangeShapeType="1" noGrp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2002039099" name="Shape 5124"/>
          <p:cNvSpPr>
            <a:spLocks noChangeShapeType="1" noGrp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4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84935560" name="Shape 5125"/>
          <p:cNvSpPr>
            <a:spLocks noChangeShapeType="1" noGrp="1"/>
          </p:cNvSpPr>
          <p:nvPr>
            <p:ph type="body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Arial"/>
                <a:ea typeface="ＭＳ Ｐゴシック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Fare clic per modificare gli stili del testo dello schema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/>
              <a:t>Secondo livello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/>
              <a:t>Terzo livello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/>
              <a:t>Quarto livello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/>
              <a:t>Quinto livello</a:t>
            </a:r>
            <a:endParaRPr/>
          </a:p>
        </p:txBody>
      </p:sp>
      <p:sp>
        <p:nvSpPr>
          <p:cNvPr id="897210718" name="Shape 5126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1492512748" name="Shape 5127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defRPr/>
            </a:pPr>
            <a:fld id="{D038279B-FC19-497E-A7D1-5ADD9CAF016F}" type="slidenum">
              <a:rPr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1" hdr="0" sldNum="1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256134" name="Shape 35842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671094848" name="Shape 35843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588403" name="Shape 16386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518094841" name="Shape 16387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935515" name="Shape 16386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127200456" name="Shape 16387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199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187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4539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563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8B047E-A1F8-FEEB-C186-0EF0A2FE94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18374" name="Shape 17410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961253624" name="Shape 17411"/>
          <p:cNvSpPr>
            <a:spLocks noChangeShapeType="1"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0950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246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709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954921-5469-5794-CD04-4911A750FB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941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792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32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AD8A29-3955-061D-8ECD-1790C3B68E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360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002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121646-9218-7976-57B1-E293282521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644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365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833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AF8153-EE43-3699-0943-F5FD830DD7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489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3242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27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71E30A-CFA3-B910-A924-C76D2B9717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17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1200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3360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E290C8-B656-AE77-0D9A-0013B84B39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245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8358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189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30DA0-AA12-F776-C60A-A3D7A934A6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801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8753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266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42D9E1-C121-D9F2-FAE1-7F3A4937B7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5855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792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6B4583-87F3-3158-B168-A987358EF0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380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3210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B64512-6DEB-6596-033B-614C764426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68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8943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481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A61EC2-8D79-0B20-19AF-85257B9B22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889102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559675" cy="5810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Fare clic per modificare stile</a:t>
            </a:r>
            <a:endParaRPr/>
          </a:p>
        </p:txBody>
      </p:sp>
      <p:sp>
        <p:nvSpPr>
          <p:cNvPr id="1735653525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1116012" y="1752599"/>
            <a:ext cx="7559675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2400" b="0" i="0">
                <a:solidFill>
                  <a:srgbClr val="000000"/>
                </a:solidFill>
                <a:latin typeface="Arial"/>
                <a:ea typeface="ＭＳ Ｐゴシック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2000" b="0" i="0">
                <a:solidFill>
                  <a:srgbClr val="000000"/>
                </a:solidFill>
                <a:latin typeface="Arial"/>
                <a:ea typeface="ＭＳ Ｐゴシック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1600" b="0" i="0">
                <a:solidFill>
                  <a:srgbClr val="000000"/>
                </a:solidFill>
                <a:latin typeface="Arial"/>
                <a:ea typeface="ＭＳ Ｐゴシック"/>
              </a:defRPr>
            </a:lvl3pPr>
            <a:lvl4pPr marL="1562100" indent="13335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1400" b="0" i="0">
                <a:solidFill>
                  <a:srgbClr val="000000"/>
                </a:solidFill>
                <a:latin typeface="Arial"/>
                <a:ea typeface="ＭＳ Ｐゴシック"/>
              </a:defRPr>
            </a:lvl4pPr>
            <a:lvl5pPr marL="1981200" indent="17525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sz="1200" b="0" i="0">
                <a:solidFill>
                  <a:srgbClr val="000000"/>
                </a:solidFill>
                <a:latin typeface="Arial"/>
                <a:ea typeface="ＭＳ Ｐゴシック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822433"/>
              </a:buClr>
              <a:buChar char="•"/>
              <a:defRPr/>
            </a:pPr>
            <a:r>
              <a:rPr/>
              <a:t>Fare clic per modificare gli stili del testo dello schema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822433"/>
              </a:buClr>
              <a:buChar char="–"/>
              <a:defRPr/>
            </a:pPr>
            <a:r>
              <a:rPr/>
              <a:t>Secondo livello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822433"/>
              </a:buClr>
              <a:buChar char="•"/>
              <a:defRPr/>
            </a:pPr>
            <a:r>
              <a:rPr/>
              <a:t>Terzo livello</a:t>
            </a:r>
            <a:endParaRPr/>
          </a:p>
          <a:p>
            <a:pPr marL="1562100" lvl="3" indent="-228600">
              <a:spcBef>
                <a:spcPts val="0"/>
              </a:spcBef>
              <a:buClr>
                <a:srgbClr val="822433"/>
              </a:buClr>
              <a:buChar char="–"/>
              <a:defRPr/>
            </a:pPr>
            <a:r>
              <a:rPr/>
              <a:t>Quarto livello</a:t>
            </a:r>
            <a:endParaRPr/>
          </a:p>
          <a:p>
            <a:pPr marL="1981200" lvl="4" indent="-228600">
              <a:spcBef>
                <a:spcPts val="0"/>
              </a:spcBef>
              <a:buClr>
                <a:srgbClr val="822433"/>
              </a:buClr>
              <a:buChar char="»"/>
              <a:defRPr/>
            </a:pPr>
            <a:r>
              <a:rPr/>
              <a:t>Quinto livello</a:t>
            </a:r>
            <a:endParaRPr/>
          </a:p>
        </p:txBody>
      </p:sp>
      <p:sp>
        <p:nvSpPr>
          <p:cNvPr id="2041687875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041516871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27481520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488074" name="Shape 1026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2247900" y="409575"/>
            <a:ext cx="60960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669532274" name="Shape 1027"/>
          <p:cNvSpPr>
            <a:spLocks noChangeShapeType="1" noGrp="1"/>
          </p:cNvSpPr>
          <p:nvPr>
            <p:ph type="subTitle" idx="1"/>
          </p:nvPr>
        </p:nvSpPr>
        <p:spPr bwMode="auto">
          <a:xfrm>
            <a:off x="2243137" y="795337"/>
            <a:ext cx="6138862" cy="685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982945469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45600103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281870999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AndObj" userDrawn="1">
  <p:cSld name="Text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937925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4812"/>
            <a:ext cx="7416800" cy="509587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929444409" name="Shape 1027"/>
          <p:cNvSpPr>
            <a:spLocks noChangeShapeType="1" noGrp="1"/>
          </p:cNvSpPr>
          <p:nvPr>
            <p:ph type="body" idx="1"/>
          </p:nvPr>
        </p:nvSpPr>
        <p:spPr bwMode="auto">
          <a:xfrm>
            <a:off x="1116012" y="1752599"/>
            <a:ext cx="3213100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910149611" name="Shape 1027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2" y="1752599"/>
            <a:ext cx="3927475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056674235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1165543935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55789667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76453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4168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53318174" name="Shape 1027"/>
          <p:cNvSpPr>
            <a:spLocks noChangeShapeType="1" noGrp="1"/>
          </p:cNvSpPr>
          <p:nvPr>
            <p:ph type="body" idx="1"/>
          </p:nvPr>
        </p:nvSpPr>
        <p:spPr bwMode="auto">
          <a:xfrm>
            <a:off x="1123950" y="1752599"/>
            <a:ext cx="7408862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819538705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728789560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207576629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bl" userDrawn="1">
  <p:cSld name="Title and Tab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133446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4168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053143545" name="Shape 1030"/>
          <p:cNvSpPr>
            <a:spLocks noChangeShapeType="1" noGrp="1"/>
          </p:cNvSpPr>
          <p:nvPr>
            <p:ph type="tbl"/>
          </p:nvPr>
        </p:nvSpPr>
        <p:spPr bwMode="auto"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490372659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1283304169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81567685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chart" userDrawn="1">
  <p:cSld name="Title and Char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773636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4168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228239828" name="Shape 1035"/>
          <p:cNvSpPr>
            <a:spLocks noChangeShapeType="1" noGrp="1"/>
          </p:cNvSpPr>
          <p:nvPr>
            <p:ph type="chart"/>
          </p:nvPr>
        </p:nvSpPr>
        <p:spPr bwMode="auto"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57833717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</a:t>
            </a:fld>
            <a:fld id="{D038279B-FC19-497E-A7D1-5ADD9CAF016F}" type="slidenum">
              <a:rPr sz="1100">
                <a:solidFill>
                  <a:schemeClr val="lt1"/>
                </a:solidFill>
              </a:rPr>
              <a:t>&lt;#&gt;</a:t>
            </a:fld>
            <a:endParaRPr/>
          </a:p>
        </p:txBody>
      </p:sp>
      <p:sp>
        <p:nvSpPr>
          <p:cNvPr id="641493887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100"/>
          </a:p>
        </p:txBody>
      </p:sp>
      <p:sp>
        <p:nvSpPr>
          <p:cNvPr id="1841358465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Titolo Presentazione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02083040" name="Group 1039"/>
          <p:cNvGrpSpPr/>
          <p:nvPr/>
        </p:nvGrpSpPr>
        <p:grpSpPr bwMode="auto">
          <a:xfrm>
            <a:off x="0" y="6096000"/>
            <a:ext cx="9144000" cy="762000"/>
            <a:chOff x="0" y="3840"/>
            <a:chExt cx="5760" cy="480"/>
          </a:xfrm>
        </p:grpSpPr>
        <p:sp>
          <p:nvSpPr>
            <p:cNvPr id="1037" name="Shape 1037"/>
            <p:cNvSpPr>
              <a:spLocks noChangeShapeType="1"/>
            </p:cNvSpPr>
            <p:nvPr/>
          </p:nvSpPr>
          <p:spPr bwMode="auto"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1038" name="Shape 1038"/>
            <p:cNvSpPr>
              <a:spLocks noChangeShapeType="1"/>
            </p:cNvSpPr>
            <p:nvPr/>
          </p:nvSpPr>
          <p:spPr bwMode="auto"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sp>
        <p:nvSpPr>
          <p:cNvPr id="433380505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559675" cy="581025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Fare clic per modificare stile</a:t>
            </a:r>
            <a:endParaRPr/>
          </a:p>
        </p:txBody>
      </p:sp>
      <p:sp>
        <p:nvSpPr>
          <p:cNvPr id="1056241787" name="Shape 1027"/>
          <p:cNvSpPr>
            <a:spLocks noChangeShapeType="1" noGrp="1"/>
          </p:cNvSpPr>
          <p:nvPr>
            <p:ph type="body" idx="1"/>
          </p:nvPr>
        </p:nvSpPr>
        <p:spPr bwMode="auto">
          <a:xfrm>
            <a:off x="1116012" y="1752599"/>
            <a:ext cx="7559675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2400" b="0" i="0">
                <a:solidFill>
                  <a:srgbClr val="000000"/>
                </a:solidFill>
                <a:latin typeface="Arial"/>
                <a:ea typeface="ＭＳ Ｐゴシック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2000" b="0" i="0">
                <a:solidFill>
                  <a:srgbClr val="000000"/>
                </a:solidFill>
                <a:latin typeface="Arial"/>
                <a:ea typeface="ＭＳ Ｐゴシック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1600" b="0" i="0">
                <a:solidFill>
                  <a:srgbClr val="000000"/>
                </a:solidFill>
                <a:latin typeface="Arial"/>
                <a:ea typeface="ＭＳ Ｐゴシック"/>
              </a:defRPr>
            </a:lvl3pPr>
            <a:lvl4pPr marL="1562100" indent="13335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1400" b="0" i="0">
                <a:solidFill>
                  <a:srgbClr val="000000"/>
                </a:solidFill>
                <a:latin typeface="Arial"/>
                <a:ea typeface="ＭＳ Ｐゴシック"/>
              </a:defRPr>
            </a:lvl4pPr>
            <a:lvl5pPr marL="1981200" indent="17525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sz="1200" b="0" i="0">
                <a:solidFill>
                  <a:srgbClr val="000000"/>
                </a:solidFill>
                <a:latin typeface="Arial"/>
                <a:ea typeface="ＭＳ Ｐゴシック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822433"/>
              </a:buClr>
              <a:buChar char="•"/>
              <a:defRPr/>
            </a:pPr>
            <a:r>
              <a:rPr/>
              <a:t>Fare clic per modificare gli stili del testo dello schema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822433"/>
              </a:buClr>
              <a:buChar char="–"/>
              <a:defRPr/>
            </a:pPr>
            <a:r>
              <a:rPr/>
              <a:t>Secondo livello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822433"/>
              </a:buClr>
              <a:buChar char="•"/>
              <a:defRPr/>
            </a:pPr>
            <a:r>
              <a:rPr/>
              <a:t>Terzo livello</a:t>
            </a:r>
            <a:endParaRPr/>
          </a:p>
          <a:p>
            <a:pPr marL="1562100" lvl="3" indent="-228600">
              <a:spcBef>
                <a:spcPts val="0"/>
              </a:spcBef>
              <a:buClr>
                <a:srgbClr val="822433"/>
              </a:buClr>
              <a:buChar char="–"/>
              <a:defRPr/>
            </a:pPr>
            <a:r>
              <a:rPr/>
              <a:t>Quarto livello</a:t>
            </a:r>
            <a:endParaRPr/>
          </a:p>
          <a:p>
            <a:pPr marL="1981200" lvl="4" indent="-228600">
              <a:spcBef>
                <a:spcPts val="0"/>
              </a:spcBef>
              <a:buClr>
                <a:srgbClr val="822433"/>
              </a:buClr>
              <a:buChar char="»"/>
              <a:defRPr/>
            </a:pPr>
            <a:r>
              <a:rPr/>
              <a:t>Quinto livello</a:t>
            </a:r>
            <a:endParaRPr/>
          </a:p>
        </p:txBody>
      </p:sp>
      <p:sp>
        <p:nvSpPr>
          <p:cNvPr id="88656832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3434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*</a:t>
            </a:r>
            <a:endParaRPr/>
          </a:p>
        </p:txBody>
      </p:sp>
      <p:sp>
        <p:nvSpPr>
          <p:cNvPr id="1860407765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19200" y="6148387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100">
                <a:solidFill>
                  <a:schemeClr val="lt1"/>
                </a:solidFill>
              </a:rPr>
              <a:t>*</a:t>
            </a:r>
            <a:endParaRPr/>
          </a:p>
        </p:txBody>
      </p:sp>
      <p:sp>
        <p:nvSpPr>
          <p:cNvPr id="110849496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148387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100">
                <a:solidFill>
                  <a:schemeClr val="lt1"/>
                </a:solidFill>
              </a:rPr>
              <a:t>Pagina 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1" ftr="1" hdr="0" sldNum="1"/>
  <p:txStyles>
    <p:title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1pPr>
      <a:lvl2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2pPr>
      <a:lvl3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3pPr>
      <a:lvl4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4pPr>
      <a:lvl5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1" i="0">
          <a:solidFill>
            <a:srgbClr val="822433"/>
          </a:solidFill>
          <a:latin typeface="Arial"/>
          <a:ea typeface="ＭＳ Ｐゴシック"/>
        </a:defRPr>
      </a:lvl5pPr>
      <a:lvl6pPr>
        <a:defRPr lang="it-IT" sz="1800"/>
      </a:lvl6pPr>
      <a:lvl7pPr>
        <a:defRPr lang="it-IT" sz="1800"/>
      </a:lvl7pPr>
      <a:lvl8pPr>
        <a:defRPr lang="it-IT" sz="1800"/>
      </a:lvl8pPr>
      <a:lvl9pPr>
        <a:defRPr lang="it-IT" sz="1800"/>
      </a:lvl9pPr>
    </p:titleStyle>
    <p:bodyStyle>
      <a:lvl1pPr marL="342900" indent="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•"/>
        <a:defRPr lang="it-IT" sz="2400" b="0" i="0">
          <a:solidFill>
            <a:srgbClr val="000000"/>
          </a:solidFill>
          <a:latin typeface="Arial"/>
          <a:ea typeface="ＭＳ Ｐゴシック"/>
        </a:defRPr>
      </a:lvl1pPr>
      <a:lvl2pPr marL="742950" indent="4572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–"/>
        <a:defRPr lang="it-IT" sz="2000" b="0" i="0">
          <a:solidFill>
            <a:srgbClr val="000000"/>
          </a:solidFill>
          <a:latin typeface="Arial"/>
          <a:ea typeface="ＭＳ Ｐゴシック"/>
        </a:defRPr>
      </a:lvl2pPr>
      <a:lvl3pPr marL="1143000" indent="9144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•"/>
        <a:defRPr lang="it-IT" sz="1600" b="0" i="0">
          <a:solidFill>
            <a:srgbClr val="000000"/>
          </a:solidFill>
          <a:latin typeface="Arial"/>
          <a:ea typeface="ＭＳ Ｐゴシック"/>
        </a:defRPr>
      </a:lvl3pPr>
      <a:lvl4pPr marL="1562100" indent="13335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–"/>
        <a:defRPr lang="it-IT" sz="1400" b="0" i="0">
          <a:solidFill>
            <a:srgbClr val="000000"/>
          </a:solidFill>
          <a:latin typeface="Arial"/>
          <a:ea typeface="ＭＳ Ｐゴシック"/>
        </a:defRPr>
      </a:lvl4pPr>
      <a:lvl5pPr marL="1981200" indent="1752599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822433"/>
        </a:buClr>
        <a:buChar char="»"/>
        <a:defRPr lang="it-IT" sz="1200" b="0" i="0">
          <a:solidFill>
            <a:srgbClr val="000000"/>
          </a:solidFill>
          <a:latin typeface="Arial"/>
          <a:ea typeface="ＭＳ Ｐゴシック"/>
        </a:defRPr>
      </a:lvl5pPr>
      <a:lvl6pPr>
        <a:defRPr lang="it-IT" sz="1800"/>
      </a:lvl6pPr>
      <a:lvl7pPr>
        <a:defRPr lang="it-IT" sz="1800"/>
      </a:lvl7pPr>
      <a:lvl8pPr>
        <a:defRPr lang="it-IT" sz="1800"/>
      </a:lvl8pPr>
      <a:lvl9pPr>
        <a:defRPr lang="it-IT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it-IT" sz="2400" b="0" i="0">
          <a:solidFill>
            <a:schemeClr val="dk1"/>
          </a:solidFill>
          <a:latin typeface="Arial"/>
          <a:ea typeface="ＭＳ Ｐゴシック"/>
        </a:defRPr>
      </a:lvl5pPr>
      <a:lvl6pPr>
        <a:defRPr lang="it-IT" sz="1800"/>
      </a:lvl6pPr>
      <a:lvl7pPr>
        <a:defRPr lang="it-IT" sz="1800"/>
      </a:lvl7pPr>
      <a:lvl8pPr>
        <a:defRPr lang="it-IT" sz="1800"/>
      </a:lvl8pPr>
      <a:lvl9pPr>
        <a:defRPr lang="it-IT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762402" name="Shape 34820"/>
          <p:cNvSpPr>
            <a:spLocks noChangeShapeType="1" noGrp="1"/>
          </p:cNvSpPr>
          <p:nvPr>
            <p:ph type="subTitle" idx="1"/>
          </p:nvPr>
        </p:nvSpPr>
        <p:spPr bwMode="auto">
          <a:xfrm>
            <a:off x="2243137" y="795337"/>
            <a:ext cx="6138862" cy="685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grpSp>
        <p:nvGrpSpPr>
          <p:cNvPr id="1899701061" name="Group 34847"/>
          <p:cNvGrpSpPr/>
          <p:nvPr/>
        </p:nvGrpSpPr>
        <p:grpSpPr bwMode="auto">
          <a:xfrm>
            <a:off x="-9524" y="0"/>
            <a:ext cx="9153525" cy="6858000"/>
            <a:chOff x="-6" y="0"/>
            <a:chExt cx="5766" cy="4320"/>
          </a:xfrm>
        </p:grpSpPr>
        <p:sp>
          <p:nvSpPr>
            <p:cNvPr id="34827" name="Shape 34827"/>
            <p:cNvSpPr>
              <a:spLocks noChangeShapeType="1"/>
            </p:cNvSpPr>
            <p:nvPr/>
          </p:nvSpPr>
          <p:spPr bwMode="auto">
            <a:xfrm>
              <a:off x="-6" y="0"/>
              <a:ext cx="5760" cy="2160"/>
            </a:xfrm>
            <a:prstGeom prst="rect">
              <a:avLst/>
            </a:prstGeom>
            <a:solidFill>
              <a:srgbClr val="C0CED9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pic>
          <p:nvPicPr>
            <p:cNvPr id="34846" name="Image 34846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0" y="1728"/>
              <a:ext cx="5760" cy="2592"/>
            </a:xfrm>
            <a:prstGeom prst="rect">
              <a:avLst/>
            </a:prstGeom>
            <a:noFill/>
          </p:spPr>
        </p:pic>
      </p:grpSp>
      <p:sp>
        <p:nvSpPr>
          <p:cNvPr id="1975674455" name="Shape 34819"/>
          <p:cNvSpPr>
            <a:spLocks noChangeShapeType="1" noGrp="1"/>
          </p:cNvSpPr>
          <p:nvPr>
            <p:ph type="ctrTitle" idx="0"/>
          </p:nvPr>
        </p:nvSpPr>
        <p:spPr bwMode="auto">
          <a:xfrm flipH="0" flipV="0">
            <a:off x="2247899" y="749753"/>
            <a:ext cx="6095999" cy="195466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lang="it-IT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Comparative Study on the Scalability of Multi-Agent</a:t>
            </a:r>
            <a:r>
              <a:rPr lang="it-IT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Reinforcement Learning for Workload Offloading in </a:t>
            </a:r>
            <a:r>
              <a:rPr lang="it-IT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Solar-Powered Edge Networks</a:t>
            </a:r>
            <a:endParaRPr sz="1400" b="1" i="0" u="none" strike="noStrike" cap="none" spc="0">
              <a:solidFill>
                <a:srgbClr val="822433"/>
              </a:solidFill>
              <a:latin typeface="Arial"/>
              <a:cs typeface="Arial"/>
            </a:endParaRPr>
          </a:p>
          <a:p>
            <a:pPr>
              <a:defRPr/>
            </a:pPr>
            <a:endParaRPr sz="1400"/>
          </a:p>
        </p:txBody>
      </p:sp>
      <p:sp>
        <p:nvSpPr>
          <p:cNvPr id="187524245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475AA6A0-D978-DC54-2F65-3D241AE6DCC9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219769155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1163253" y="4910655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</a:t>
            </a:r>
            <a:endParaRPr lang="it-IT" sz="1400" b="1">
              <a:solidFill>
                <a:schemeClr val="bg1"/>
              </a:solidFill>
            </a:endParaRPr>
          </a:p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326029804" name="Shape 1028"/>
          <p:cNvSpPr>
            <a:spLocks noChangeShapeType="1" noGrp="1"/>
          </p:cNvSpPr>
          <p:nvPr/>
        </p:nvSpPr>
        <p:spPr bwMode="auto">
          <a:xfrm flipH="0" flipV="0">
            <a:off x="1156902" y="5729805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0" i="0">
                <a:solidFill>
                  <a:schemeClr val="dk1"/>
                </a:solidFill>
                <a:latin typeface="Arial"/>
                <a:ea typeface="ＭＳ Ｐゴシック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0" i="0">
                <a:solidFill>
                  <a:schemeClr val="dk1"/>
                </a:solidFill>
                <a:latin typeface="Arial"/>
                <a:ea typeface="ＭＳ Ｐゴシック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0" i="0">
                <a:solidFill>
                  <a:schemeClr val="dk1"/>
                </a:solidFill>
                <a:latin typeface="Arial"/>
                <a:ea typeface="ＭＳ Ｐゴシック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0" i="0">
                <a:solidFill>
                  <a:schemeClr val="dk1"/>
                </a:solidFill>
                <a:latin typeface="Arial"/>
                <a:ea typeface="ＭＳ Ｐゴシック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it-IT" sz="2400" b="0" i="0">
                <a:solidFill>
                  <a:schemeClr val="dk1"/>
                </a:solidFill>
                <a:latin typeface="Arial"/>
                <a:ea typeface="ＭＳ Ｐゴシック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 marL="0" lvl="0" indent="0" algn="l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bg1"/>
                </a:solidFill>
              </a:rPr>
              <a:t>Advisor</a:t>
            </a:r>
            <a:endParaRPr sz="1400" b="1">
              <a:solidFill>
                <a:schemeClr val="bg1"/>
              </a:solidFill>
            </a:endParaRPr>
          </a:p>
          <a:p>
            <a:pPr marL="0" lvl="0" indent="0" algn="l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bg1"/>
                </a:solidFill>
              </a:rPr>
              <a:t>Prof. Roberto Beraldi</a:t>
            </a:r>
            <a:endParaRPr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197212" name="Shape 7170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4812"/>
            <a:ext cx="7416800" cy="509587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Introduction</a:t>
            </a:r>
            <a:endParaRPr sz="3600"/>
          </a:p>
        </p:txBody>
      </p:sp>
      <p:sp>
        <p:nvSpPr>
          <p:cNvPr id="563211176" name="Shape 7171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903213" y="1752598"/>
            <a:ext cx="7858125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lnSpc>
                <a:spcPct val="114999"/>
              </a:lnSpc>
              <a:defRPr/>
            </a:pPr>
            <a:r>
              <a:rPr sz="2200"/>
              <a:t>Solar-powered </a:t>
            </a:r>
            <a:r>
              <a:rPr sz="2200" b="1"/>
              <a:t>edge nodes</a:t>
            </a:r>
            <a:r>
              <a:rPr sz="2200"/>
              <a:t> with constant workload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/>
              <a:t>Energy source coming from </a:t>
            </a:r>
            <a:r>
              <a:rPr sz="2200" b="1"/>
              <a:t>solar irradiance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200"/>
              <a:t>Devices usually adopt static thresholds for balancing computational efficiency and energy availability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200"/>
              <a:t>Variations on solar energy can compromise operability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200" b="1"/>
              <a:t>Reinforcement Learning</a:t>
            </a:r>
            <a:r>
              <a:rPr sz="2200"/>
              <a:t> as approach to make nodes capable to automatically adapt to different situations</a:t>
            </a:r>
            <a:endParaRPr sz="2600"/>
          </a:p>
        </p:txBody>
      </p:sp>
      <p:sp>
        <p:nvSpPr>
          <p:cNvPr id="176655593" name="Shape 7172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2" y="1752599"/>
            <a:ext cx="3927475" cy="4038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989460472" name="Shape 7176"/>
          <p:cNvSpPr>
            <a:spLocks noChangeShapeType="1" noGrp="1"/>
          </p:cNvSpPr>
          <p:nvPr/>
        </p:nvSpPr>
        <p:spPr bwMode="auto">
          <a:xfrm>
            <a:off x="1954212" y="630236"/>
            <a:ext cx="18415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705894883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512FE412-3611-71FF-A6B3-C0814D04C606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270248214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201023281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250779" name="Shape 7170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1" y="404811"/>
            <a:ext cx="7416799" cy="509586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Problem</a:t>
            </a:r>
            <a:endParaRPr sz="3600"/>
          </a:p>
        </p:txBody>
      </p:sp>
      <p:sp>
        <p:nvSpPr>
          <p:cNvPr id="90569499" name="Shape 7171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903212" y="1355257"/>
            <a:ext cx="7858125" cy="4344127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lnSpc>
                <a:spcPct val="114999"/>
              </a:lnSpc>
              <a:defRPr/>
            </a:pPr>
            <a:r>
              <a:rPr sz="2000" b="1"/>
              <a:t>Constant </a:t>
            </a:r>
            <a:r>
              <a:rPr sz="2000"/>
              <a:t>arrival rate for incoming frames: </a:t>
            </a:r>
            <a:r>
              <a:rPr sz="2000">
                <a:latin typeface="Asana Math"/>
                <a:ea typeface="Asana Math"/>
                <a:cs typeface="Asana Math"/>
              </a:rPr>
              <a:t>λ </a:t>
            </a:r>
            <a:r>
              <a:rPr sz="2000"/>
              <a:t>= 15fps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000"/>
              <a:t>Maximum computational rate: </a:t>
            </a:r>
            <a:r>
              <a:rPr sz="2000">
                <a:latin typeface="Asana Math"/>
                <a:ea typeface="Asana Math"/>
                <a:cs typeface="Asana Math"/>
              </a:rPr>
              <a:t>μ</a:t>
            </a:r>
            <a:r>
              <a:rPr sz="2000" baseline="-25000">
                <a:latin typeface="Asana Math"/>
                <a:ea typeface="Asana Math"/>
                <a:cs typeface="Asana Math"/>
              </a:rPr>
              <a:t>max</a:t>
            </a:r>
            <a:r>
              <a:rPr sz="2000">
                <a:latin typeface="Asana Math"/>
                <a:ea typeface="Asana Math"/>
                <a:cs typeface="Asana Math"/>
              </a:rPr>
              <a:t> </a:t>
            </a:r>
            <a:r>
              <a:rPr sz="2000"/>
              <a:t>= 20fps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000" b="1"/>
              <a:t>FIFO</a:t>
            </a:r>
            <a:r>
              <a:rPr sz="2000"/>
              <a:t> queue for storing frames, needed to adapt 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μ </a:t>
            </a:r>
            <a:r>
              <a:rPr sz="2000"/>
              <a:t>:</a:t>
            </a:r>
            <a:br>
              <a:rPr sz="2000"/>
            </a:br>
            <a:br>
              <a:rPr sz="2000"/>
            </a:br>
            <a:br>
              <a:rPr sz="2000"/>
            </a:br>
            <a:endParaRPr sz="2000"/>
          </a:p>
          <a:p>
            <a:pPr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Real data taken from Solcast, referred to year 2024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Battery capacity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B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in Wh, solar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panel 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with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0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20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20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PV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in m² and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0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0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0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PV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lnSpc>
                <a:spcPct val="114999"/>
              </a:lnSpc>
              <a:defRPr/>
            </a:pP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Energy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, in J,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from solar light:</a:t>
            </a:r>
            <a:endParaRPr sz="2200"/>
          </a:p>
          <a:p>
            <a:pPr marL="742950" lvl="1" indent="0">
              <a:lnSpc>
                <a:spcPct val="114999"/>
              </a:lnSpc>
              <a:buClr>
                <a:srgbClr val="822433"/>
              </a:buClr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2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PV</m:t>
                          </m:r>
                        </m:sub>
                      </m:sSub>
                      <m:r>
                        <m:rPr/>
                        <a:rPr lang="it-IT" sz="22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/>
                        <a:rPr lang="it-IT" sz="22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nary>
                        <m:naryPr>
                          <m:grow m:val="off"/>
                          <m:limLoc m:val="undOvr"/>
                          <m:subHide m:val="on"/>
                          <m:supHide m:val="on"/>
                          <m:ctrlPr>
                            <a:rPr lang="it-IT" sz="22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G(t)</m:t>
                          </m:r>
                          <m:sSub>
                            <m:sSubPr>
                              <m:ctrlPr>
                                <a:rPr lang="it-IT" sz="2200" b="0" i="1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it-IT" sz="22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2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PV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sz="2200" b="0" i="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22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22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PV</m:t>
                              </m:r>
                            </m:sub>
                          </m:sSub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dt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lnSpc>
                <a:spcPct val="114999"/>
              </a:lnSpc>
              <a:buClr>
                <a:srgbClr val="822433"/>
              </a:buClr>
              <a:buFont typeface="Arial"/>
              <a:buChar char="•"/>
              <a:defRPr/>
            </a:pP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Solar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irradiance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it-IT" sz="20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G(t)</m:t>
                      </m:r>
                    </m:oMath>
                  </m:oMathPara>
                </a14:m>
              </mc:Choice>
              <mc:Fallback/>
            </mc:AlternateContent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in W/m²  </a:t>
            </a:r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09303060" name="Shape 1027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1" y="1752598"/>
            <a:ext cx="3927474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/>
          </a:p>
        </p:txBody>
      </p:sp>
      <p:sp>
        <p:nvSpPr>
          <p:cNvPr id="1893711705" name="Shape 7176"/>
          <p:cNvSpPr>
            <a:spLocks noChangeShapeType="1" noGrp="1"/>
          </p:cNvSpPr>
          <p:nvPr/>
        </p:nvSpPr>
        <p:spPr bwMode="auto">
          <a:xfrm>
            <a:off x="1954211" y="630236"/>
            <a:ext cx="184149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540095635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DF1C7BB-2767-66A9-C38E-79E2E4BE2717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495520030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158491707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grpSp>
        <p:nvGrpSpPr>
          <p:cNvPr id="1150496905" name=""/>
          <p:cNvGrpSpPr/>
          <p:nvPr/>
        </p:nvGrpSpPr>
        <p:grpSpPr bwMode="auto">
          <a:xfrm flipH="0" flipV="0">
            <a:off x="1466250" y="2576433"/>
            <a:ext cx="6384685" cy="987850"/>
            <a:chOff x="0" y="0"/>
            <a:chExt cx="6384685" cy="987850"/>
          </a:xfrm>
        </p:grpSpPr>
        <p:grpSp>
          <p:nvGrpSpPr>
            <p:cNvPr id="1757584203" name=""/>
            <p:cNvGrpSpPr/>
            <p:nvPr/>
          </p:nvGrpSpPr>
          <p:grpSpPr bwMode="auto">
            <a:xfrm flipH="0" flipV="0">
              <a:off x="3087707" y="71235"/>
              <a:ext cx="3296977" cy="684845"/>
              <a:chOff x="0" y="0"/>
              <a:chExt cx="3296977" cy="684845"/>
            </a:xfrm>
          </p:grpSpPr>
          <p:pic>
            <p:nvPicPr>
              <p:cNvPr id="1822859845" name=""/>
              <p:cNvPicPr>
                <a:picLocks noChangeAspect="1"/>
              </p:cNvPicPr>
              <p:nvPr/>
            </p:nvPicPr>
            <p:blipFill rotWithShape="1">
              <a:blip r:embed="rId3"/>
              <a:stretch/>
            </p:blipFill>
            <p:spPr bwMode="auto">
              <a:xfrm>
                <a:off x="733115" y="226667"/>
                <a:ext cx="1790618" cy="458177"/>
              </a:xfrm>
              <a:prstGeom prst="rect">
                <a:avLst/>
              </a:prstGeom>
            </p:spPr>
          </p:pic>
          <p:sp>
            <p:nvSpPr>
              <p:cNvPr id="618721217" name=""/>
              <p:cNvSpPr txBox="1"/>
              <p:nvPr/>
            </p:nvSpPr>
            <p:spPr bwMode="auto">
              <a:xfrm rot="0" flipH="0" flipV="0">
                <a:off x="2016711" y="290221"/>
                <a:ext cx="663230" cy="35566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600" b="1">
                    <a:latin typeface="Asana Math"/>
                    <a:ea typeface="Asana Math"/>
                    <a:cs typeface="Asana Math"/>
                  </a:rPr>
                  <a:t>μ</a:t>
                </a:r>
                <a:r>
                  <a:rPr sz="1600" b="1" baseline="-25000">
                    <a:latin typeface="Asana Math"/>
                    <a:ea typeface="Asana Math"/>
                    <a:cs typeface="Asana Math"/>
                  </a:rPr>
                  <a:t>i</a:t>
                </a:r>
                <a:r>
                  <a:rPr sz="1600" b="1"/>
                  <a:t>(t)</a:t>
                </a:r>
                <a:endParaRPr sz="1600" b="1"/>
              </a:p>
            </p:txBody>
          </p:sp>
          <p:cxnSp>
            <p:nvCxnSpPr>
              <p:cNvPr id="35301102" name=""/>
              <p:cNvCxnSpPr/>
              <p:nvPr/>
            </p:nvCxnSpPr>
            <p:spPr bwMode="auto">
              <a:xfrm flipH="0" flipV="1">
                <a:off x="0" y="442705"/>
                <a:ext cx="644796" cy="0"/>
              </a:xfrm>
              <a:prstGeom prst="line">
                <a:avLst/>
              </a:prstGeom>
              <a:ln w="28575" cap="flat" cmpd="sng" algn="ctr">
                <a:solidFill>
                  <a:schemeClr val="tx1"/>
                </a:solidFill>
                <a:prstDash val="solid"/>
                <a:miter lim="800000"/>
                <a:tailEnd type="arrow" len="med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343331" name=""/>
              <p:cNvCxnSpPr/>
              <p:nvPr/>
            </p:nvCxnSpPr>
            <p:spPr bwMode="auto">
              <a:xfrm flipH="0" flipV="1">
                <a:off x="2652180" y="446184"/>
                <a:ext cx="644796" cy="0"/>
              </a:xfrm>
              <a:prstGeom prst="line">
                <a:avLst/>
              </a:prstGeom>
              <a:ln w="28575" cap="flat" cmpd="sng" algn="ctr">
                <a:solidFill>
                  <a:schemeClr val="tx1"/>
                </a:solidFill>
                <a:prstDash val="solid"/>
                <a:miter lim="800000"/>
                <a:tailEnd type="arrow" len="med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3110804" name=""/>
              <p:cNvSpPr txBox="1"/>
              <p:nvPr/>
            </p:nvSpPr>
            <p:spPr bwMode="auto">
              <a:xfrm rot="0" flipH="0" flipV="0">
                <a:off x="182734" y="52459"/>
                <a:ext cx="446419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800" b="1">
                    <a:latin typeface="Asana Math"/>
                    <a:ea typeface="Asana Math"/>
                    <a:cs typeface="Asana Math"/>
                  </a:rPr>
                  <a:t>λ</a:t>
                </a:r>
                <a:endParaRPr sz="1800"/>
              </a:p>
            </p:txBody>
          </p:sp>
          <p:sp>
            <p:nvSpPr>
              <p:cNvPr id="1753829784" name=""/>
              <p:cNvSpPr txBox="1"/>
              <p:nvPr/>
            </p:nvSpPr>
            <p:spPr bwMode="auto">
              <a:xfrm rot="0" flipH="0" flipV="0">
                <a:off x="1239111" y="0"/>
                <a:ext cx="664038" cy="33563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600" b="1"/>
                  <a:t>q</a:t>
                </a:r>
                <a:r>
                  <a:rPr sz="1600" b="1" baseline="-25000"/>
                  <a:t>i</a:t>
                </a:r>
                <a:r>
                  <a:rPr sz="1600" b="1"/>
                  <a:t>(t)</a:t>
                </a:r>
                <a:endParaRPr sz="1600" b="1"/>
              </a:p>
            </p:txBody>
          </p:sp>
        </p:grpSp>
        <p:grpSp>
          <p:nvGrpSpPr>
            <p:cNvPr id="1608644558" name=""/>
            <p:cNvGrpSpPr/>
            <p:nvPr/>
          </p:nvGrpSpPr>
          <p:grpSpPr bwMode="auto">
            <a:xfrm flipH="0" flipV="0">
              <a:off x="0" y="0"/>
              <a:ext cx="1492901" cy="987850"/>
              <a:chOff x="0" y="0"/>
              <a:chExt cx="1492901" cy="987850"/>
            </a:xfrm>
          </p:grpSpPr>
          <p:pic>
            <p:nvPicPr>
              <p:cNvPr id="1659204938" name=""/>
              <p:cNvPicPr>
                <a:picLocks noChangeAspect="1"/>
              </p:cNvPicPr>
              <p:nvPr/>
            </p:nvPicPr>
            <p:blipFill rotWithShape="1">
              <a:blip r:embed="rId4"/>
              <a:stretch/>
            </p:blipFill>
            <p:spPr bwMode="auto">
              <a:xfrm rot="0" flipH="0" flipV="0">
                <a:off x="232237" y="219848"/>
                <a:ext cx="945027" cy="768001"/>
              </a:xfrm>
              <a:prstGeom prst="rect">
                <a:avLst/>
              </a:prstGeom>
            </p:spPr>
          </p:pic>
          <p:pic>
            <p:nvPicPr>
              <p:cNvPr id="1300492430" name="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 rot="0" flipH="0" flipV="0">
                <a:off x="1101257" y="414354"/>
                <a:ext cx="391644" cy="318279"/>
              </a:xfrm>
              <a:prstGeom prst="rect">
                <a:avLst/>
              </a:prstGeom>
            </p:spPr>
          </p:pic>
          <p:pic>
            <p:nvPicPr>
              <p:cNvPr id="1522566465" name=""/>
              <p:cNvPicPr>
                <a:picLocks noChangeAspect="1"/>
              </p:cNvPicPr>
              <p:nvPr/>
            </p:nvPicPr>
            <p:blipFill rotWithShape="1">
              <a:blip r:embed="rId6"/>
              <a:srcRect l="0" t="34132" r="0" b="0"/>
              <a:stretch/>
            </p:blipFill>
            <p:spPr bwMode="auto">
              <a:xfrm rot="0" flipH="0" flipV="0">
                <a:off x="364923" y="0"/>
                <a:ext cx="679654" cy="363811"/>
              </a:xfrm>
              <a:prstGeom prst="rect">
                <a:avLst/>
              </a:prstGeom>
            </p:spPr>
          </p:pic>
          <p:pic>
            <p:nvPicPr>
              <p:cNvPr id="1552620203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5400000" flipH="1" flipV="0">
                <a:off x="32308" y="416198"/>
                <a:ext cx="280334" cy="344952"/>
              </a:xfrm>
              <a:prstGeom prst="rect">
                <a:avLst/>
              </a:prstGeom>
            </p:spPr>
          </p:pic>
        </p:grpSp>
        <p:sp>
          <p:nvSpPr>
            <p:cNvPr id="1344767732" name=""/>
            <p:cNvSpPr/>
            <p:nvPr/>
          </p:nvSpPr>
          <p:spPr bwMode="auto">
            <a:xfrm rot="0" flipH="0" flipV="0">
              <a:off x="1867158" y="257370"/>
              <a:ext cx="890039" cy="524091"/>
            </a:xfrm>
            <a:prstGeom prst="mathEqual">
              <a:avLst>
                <a:gd name="adj1" fmla="val 23520"/>
                <a:gd name="adj2" fmla="val 11760"/>
              </a:avLst>
            </a:prstGeom>
            <a:solidFill>
              <a:srgbClr val="8224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066869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1" y="404811"/>
            <a:ext cx="7416799" cy="50958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sz="3600"/>
              <a:t>Energy constraints</a:t>
            </a:r>
            <a:endParaRPr sz="3600"/>
          </a:p>
        </p:txBody>
      </p:sp>
      <p:sp>
        <p:nvSpPr>
          <p:cNvPr id="1862981236" name="Shape 1027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784150" y="1362229"/>
            <a:ext cx="7926159" cy="403859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 sz="2200"/>
              <a:t>Raspberry Pi 4-like devices with idle power consumption of </a:t>
            </a:r>
            <a:r>
              <a:rPr sz="2200" b="1"/>
              <a:t>2.6W</a:t>
            </a:r>
            <a:r>
              <a:rPr sz="2200"/>
              <a:t> and </a:t>
            </a: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6.0W</a:t>
            </a:r>
            <a:r>
              <a:rPr sz="2200"/>
              <a:t> at full load</a:t>
            </a:r>
            <a:endParaRPr sz="2200"/>
          </a:p>
          <a:p>
            <a:pPr>
              <a:lnSpc>
                <a:spcPct val="114999"/>
              </a:lnSpc>
              <a:defRPr/>
            </a:pPr>
            <a:r>
              <a:rPr sz="2200"/>
              <a:t>If local computation only </a:t>
            </a:r>
            <a:r>
              <a:rPr sz="2200">
                <a:latin typeface="Asana Math"/>
                <a:ea typeface="Asana Math"/>
                <a:cs typeface="Asana Math"/>
              </a:rPr>
              <a:t>→</a:t>
            </a:r>
            <a:r>
              <a:rPr sz="2200"/>
              <a:t> </a:t>
            </a:r>
            <a:r>
              <a:rPr sz="2200" b="1"/>
              <a:t>3.4W </a:t>
            </a:r>
            <a:r>
              <a:rPr sz="2200" b="0"/>
              <a:t>for frames elaboration</a:t>
            </a:r>
            <a:endParaRPr sz="2200" b="0"/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If local and communications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→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3.4W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in 80:20 ratio</a:t>
            </a:r>
            <a:b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Dynamics of battery energy:</a:t>
            </a:r>
            <a:b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0">
              <a:lnSpc>
                <a:spcPct val="114999"/>
              </a:lnSpc>
              <a:buClr>
                <a:srgbClr val="822433"/>
              </a:buClr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Battery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= 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Battery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PV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-(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Frames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TXRX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Idle</m:t>
                          </m:r>
                        </m:sub>
                      </m:sSub>
                      <m:r>
                        <m:rPr/>
                        <a:rPr lang="it-IT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br>
              <a:rPr lang="it-IT" sz="2200" b="0" i="0" u="none" strike="noStrike" cap="none" spc="0">
                <a:solidFill>
                  <a:srgbClr val="000000"/>
                </a:solidFill>
                <a:latin typeface="Times New Roman"/>
                <a:cs typeface="Times New Roman"/>
              </a:rPr>
            </a:br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0">
              <a:lnSpc>
                <a:spcPct val="114999"/>
              </a:lnSpc>
              <a:buClr>
                <a:srgbClr val="822433"/>
              </a:buClr>
              <a:buNone/>
              <a:defRPr/>
            </a:pP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Where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Frames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TXRX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Idle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are energy required in t for </a:t>
            </a:r>
            <a:r>
              <a:rPr lang="it-IT" sz="18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processing</a:t>
            </a: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frames, </a:t>
            </a:r>
            <a:r>
              <a:rPr lang="it-IT" sz="18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communicating </a:t>
            </a: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and </a:t>
            </a:r>
            <a:r>
              <a:rPr lang="it-IT" sz="18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idling </a:t>
            </a: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respectively</a:t>
            </a:r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lnSpc>
                <a:spcPct val="114999"/>
              </a:lnSpc>
              <a:buClr>
                <a:srgbClr val="822433"/>
              </a:buClr>
              <a:buFont typeface="Arial"/>
              <a:buChar char="•"/>
              <a:defRPr/>
            </a:pPr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endParaRPr sz="2200" b="0"/>
          </a:p>
          <a:p>
            <a:pPr>
              <a:lnSpc>
                <a:spcPct val="114999"/>
              </a:lnSpc>
              <a:defRPr/>
            </a:pPr>
            <a:endParaRPr sz="2200"/>
          </a:p>
          <a:p>
            <a:pPr>
              <a:lnSpc>
                <a:spcPct val="114999"/>
              </a:lnSpc>
              <a:defRPr/>
            </a:pPr>
            <a:endParaRPr sz="2200"/>
          </a:p>
          <a:p>
            <a:pPr>
              <a:lnSpc>
                <a:spcPct val="114999"/>
              </a:lnSpc>
              <a:defRPr/>
            </a:pPr>
            <a:endParaRPr/>
          </a:p>
        </p:txBody>
      </p:sp>
      <p:sp>
        <p:nvSpPr>
          <p:cNvPr id="1263317560" name="Shape 1027"/>
          <p:cNvSpPr>
            <a:spLocks noChangeShapeType="1" noGrp="1"/>
          </p:cNvSpPr>
          <p:nvPr>
            <p:ph type="obj" idx="2"/>
          </p:nvPr>
        </p:nvSpPr>
        <p:spPr bwMode="auto">
          <a:xfrm>
            <a:off x="4551361" y="1752599"/>
            <a:ext cx="3927474" cy="4038598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/>
          </a:p>
        </p:txBody>
      </p:sp>
      <p:sp>
        <p:nvSpPr>
          <p:cNvPr id="5043831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6305F88C-B6B3-57A0-9CCD-0E76255BADA7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257808343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2088678967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31286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2" y="409575"/>
            <a:ext cx="7416800" cy="581025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RL and setup</a:t>
            </a:r>
            <a:endParaRPr sz="3600"/>
          </a:p>
        </p:txBody>
      </p:sp>
      <p:sp>
        <p:nvSpPr>
          <p:cNvPr id="1486240229" name="Shape 9221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838200" y="1113555"/>
            <a:ext cx="7408861" cy="4914900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>
              <a:lnSpc>
                <a:spcPct val="114999"/>
              </a:lnSpc>
              <a:defRPr/>
            </a:pPr>
            <a:r>
              <a:rPr sz="2000"/>
              <a:t>Paradigms for describing the problem:</a:t>
            </a:r>
            <a:endParaRPr sz="2000"/>
          </a:p>
          <a:p>
            <a:pPr lvl="1">
              <a:lnSpc>
                <a:spcPct val="114999"/>
              </a:lnSpc>
              <a:defRPr/>
            </a:pPr>
            <a:r>
              <a:rPr sz="1600" b="1"/>
              <a:t>Single-Agent</a:t>
            </a:r>
            <a:r>
              <a:rPr sz="1600"/>
              <a:t> RL based on MDP</a:t>
            </a:r>
            <a:endParaRPr sz="1600"/>
          </a:p>
          <a:p>
            <a:pPr lvl="1">
              <a:lnSpc>
                <a:spcPct val="114999"/>
              </a:lnSpc>
              <a:defRPr/>
            </a:pPr>
            <a:r>
              <a:rPr sz="1600" b="1"/>
              <a:t>Multi-Agent RL</a:t>
            </a:r>
            <a:r>
              <a:rPr sz="1600"/>
              <a:t> based on Stochastic games</a:t>
            </a:r>
            <a:endParaRPr sz="1600"/>
          </a:p>
          <a:p>
            <a:pPr lvl="1">
              <a:lnSpc>
                <a:spcPct val="114999"/>
              </a:lnSpc>
              <a:defRPr/>
            </a:pPr>
            <a:r>
              <a:rPr sz="1600"/>
              <a:t>both with independent </a:t>
            </a:r>
            <a:r>
              <a:rPr sz="1600"/>
              <a:t>learners</a:t>
            </a:r>
            <a:endParaRPr sz="1600"/>
          </a:p>
          <a:p>
            <a:pPr lvl="0">
              <a:lnSpc>
                <a:spcPct val="114999"/>
              </a:lnSpc>
              <a:defRPr/>
            </a:pPr>
            <a:r>
              <a:rPr sz="2000"/>
              <a:t>Learning algorithms:</a:t>
            </a:r>
            <a:endParaRPr sz="2000"/>
          </a:p>
          <a:p>
            <a:pPr lvl="1">
              <a:lnSpc>
                <a:spcPct val="114999"/>
              </a:lnSpc>
              <a:defRPr/>
            </a:pPr>
            <a:r>
              <a:rPr sz="1600" b="1"/>
              <a:t>Tabular Q-Learning </a:t>
            </a:r>
            <a:r>
              <a:rPr sz="1600"/>
              <a:t>using multidimensional arrays</a:t>
            </a:r>
            <a:endParaRPr sz="1600"/>
          </a:p>
          <a:p>
            <a:pPr lvl="1">
              <a:lnSpc>
                <a:spcPct val="114999"/>
              </a:lnSpc>
              <a:defRPr/>
            </a:pPr>
            <a:r>
              <a:rPr sz="1600" b="1"/>
              <a:t>Deep Q-Networks</a:t>
            </a:r>
            <a:r>
              <a:rPr sz="1600"/>
              <a:t> adopting MLP approximators</a:t>
            </a:r>
            <a:br>
              <a:rPr sz="1600"/>
            </a:br>
            <a:endParaRPr sz="1600"/>
          </a:p>
          <a:p>
            <a:pPr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Simulation of network from </a:t>
            </a:r>
            <a:r>
              <a:rPr lang="it-IT" sz="18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1</a:t>
            </a: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to </a:t>
            </a:r>
            <a:r>
              <a:rPr lang="it-IT" sz="18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10</a:t>
            </a: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nodes</a:t>
            </a:r>
            <a:endParaRPr sz="1800"/>
          </a:p>
          <a:p>
            <a:pPr>
              <a:lnSpc>
                <a:spcPct val="114999"/>
              </a:lnSpc>
              <a:defRPr/>
            </a:pPr>
            <a:r>
              <a:rPr lang="it-IT" sz="18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Python </a:t>
            </a: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with Gymnasium, PettingZoo and Stable-Baselines 3</a:t>
            </a:r>
            <a:endParaRPr sz="1800"/>
          </a:p>
          <a:p>
            <a:pPr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Agents specifications:</a:t>
            </a:r>
            <a:endParaRPr sz="1800"/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Battery capacities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:</a:t>
            </a:r>
            <a:br>
              <a:rPr lang="it-IT" sz="16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r>
              <a:rPr lang="it-IT" sz="16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		</a:t>
            </a:r>
            <a:r>
              <a:rPr lang="it-IT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[25, 100, 50, 37, 65, 80, 40, 75, 55, 90] Wh</a:t>
            </a:r>
            <a:endParaRPr sz="1600"/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PV areas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:</a:t>
            </a:r>
            <a:br>
              <a:rPr lang="it-IT" sz="16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r>
              <a:rPr lang="it-IT" sz="16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		</a:t>
            </a:r>
            <a:r>
              <a:rPr lang="it-IT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[1.00, 0.50, 0.75, 0.85, 0.65, 0.55, 0.90, 0.30, 0.80, 0.52]</a:t>
            </a:r>
            <a:r>
              <a:rPr lang="it-IT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m²</a:t>
            </a:r>
            <a:endParaRPr sz="1800"/>
          </a:p>
          <a:p>
            <a:pPr lvl="0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Irradiance data of December 21th 2024</a:t>
            </a:r>
            <a:endParaRPr sz="1600"/>
          </a:p>
          <a:p>
            <a:pPr marL="342900" lvl="0" indent="0">
              <a:lnSpc>
                <a:spcPct val="114999"/>
              </a:lnSpc>
              <a:buClr>
                <a:srgbClr val="822433"/>
              </a:buClr>
              <a:buNone/>
              <a:defRPr/>
            </a:pPr>
            <a:endParaRPr sz="1200"/>
          </a:p>
          <a:p>
            <a:pPr lvl="1">
              <a:lnSpc>
                <a:spcPct val="114999"/>
              </a:lnSpc>
              <a:defRPr/>
            </a:pPr>
            <a:endParaRPr sz="1600"/>
          </a:p>
        </p:txBody>
      </p:sp>
      <p:sp>
        <p:nvSpPr>
          <p:cNvPr id="2118496971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09204799-9FEE-972A-B2DA-F5577C62687B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579537789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2095578394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096122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B0CA9387-6EF7-E374-BE8D-C581EED7532D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736167166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26898439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848201991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Single-agent RL</a:t>
            </a:r>
            <a:r>
              <a:rPr sz="3600"/>
              <a:t>: </a:t>
            </a:r>
            <a:r>
              <a:rPr sz="3200"/>
              <a:t>formulation</a:t>
            </a:r>
            <a:endParaRPr sz="3200"/>
          </a:p>
        </p:txBody>
      </p:sp>
      <p:sp>
        <p:nvSpPr>
          <p:cNvPr id="729621666" name="Shape 9221"/>
          <p:cNvSpPr>
            <a:spLocks noChangeShapeType="1" noGrp="1"/>
          </p:cNvSpPr>
          <p:nvPr/>
        </p:nvSpPr>
        <p:spPr bwMode="auto">
          <a:xfrm flipH="0" flipV="0">
            <a:off x="886204" y="1497465"/>
            <a:ext cx="764660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/>
              <a:t>Isolated agents without cooperation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 b="1"/>
              <a:t>Observations</a:t>
            </a:r>
            <a:r>
              <a:rPr/>
              <a:t>: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o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lang="it-IT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0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0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residual battery energy over capacity</a:t>
            </a:r>
            <a:endParaRPr lang="it-IT" sz="20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0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0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backlog level on a scale 0-4</a:t>
            </a:r>
            <a:endParaRPr lang="it-IT" sz="20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0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0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0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 as timestep over total steps for episode</a:t>
            </a:r>
            <a:endParaRPr sz="20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b="1"/>
              <a:t>Actions</a:t>
            </a:r>
            <a:r>
              <a:rPr/>
              <a:t>: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∊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[0,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μ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max, 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]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framerate </a:t>
            </a:r>
            <a:r>
              <a:rPr sz="2000"/>
              <a:t>adopted in t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200"/>
              <a:t>Tabular Q-Learning with </a:t>
            </a:r>
            <a:r>
              <a:rPr sz="2200"/>
              <a:t>table size:</a:t>
            </a:r>
            <a:r>
              <a:rPr sz="2400"/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|O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×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 = |O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×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|A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|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State discretization for accessing table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797454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24F9D55A-1951-2CFD-E765-36B71F9AB5ED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689148979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374044490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541556645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Multi-agent RL</a:t>
            </a:r>
            <a:r>
              <a:rPr sz="3600"/>
              <a:t>: </a:t>
            </a:r>
            <a:r>
              <a:rPr sz="3200"/>
              <a:t>formulations</a:t>
            </a:r>
            <a:endParaRPr sz="3200"/>
          </a:p>
        </p:txBody>
      </p:sp>
      <p:sp>
        <p:nvSpPr>
          <p:cNvPr id="1168383722" name="Shape 9221"/>
          <p:cNvSpPr>
            <a:spLocks noChangeShapeType="1" noGrp="1"/>
          </p:cNvSpPr>
          <p:nvPr/>
        </p:nvSpPr>
        <p:spPr bwMode="auto">
          <a:xfrm flipH="0" flipV="0">
            <a:off x="745671" y="1497465"/>
            <a:ext cx="8156336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Agents can use offloading for cooperation</a:t>
            </a: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Different number of agents in the system</a:t>
            </a: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2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Action space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: </a:t>
            </a:r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= [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f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x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g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h</a:t>
            </a:r>
            <a:r>
              <a:rPr lang="it-IT" sz="22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2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a:r>
              <a:rPr lang="it-IT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f</a:t>
            </a:r>
            <a:r>
              <a:rPr lang="it-IT" sz="1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1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local framerate</a:t>
            </a:r>
            <a:endParaRPr lang="it-IT" sz="18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x</a:t>
            </a:r>
            <a:r>
              <a:rPr lang="it-IT" sz="1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1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offloading mode (no off., send, receive)</a:t>
            </a:r>
            <a:endParaRPr sz="1800" b="0" i="0" u="none" strike="noStrike" cap="none" spc="0" baseline="-2500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g</a:t>
            </a:r>
            <a:r>
              <a:rPr lang="it-IT" sz="1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1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id offloading target</a:t>
            </a:r>
            <a:endParaRPr sz="18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h</a:t>
            </a:r>
            <a:r>
              <a:rPr lang="it-IT" sz="1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1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as offloading framerate</a:t>
            </a:r>
            <a:endParaRPr lang="it-IT" sz="18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0">
              <a:lnSpc>
                <a:spcPct val="114999"/>
              </a:lnSpc>
              <a:defRPr/>
            </a:pPr>
            <a:r>
              <a:rPr lang="it-IT" sz="22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Different formulation for </a:t>
            </a:r>
            <a:r>
              <a:rPr lang="it-IT" sz="22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observation space</a:t>
            </a:r>
            <a:r>
              <a:rPr lang="it-IT" sz="22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</a:t>
            </a:r>
            <a:endParaRPr lang="it-IT" sz="22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Full-state</a:t>
            </a:r>
            <a:r>
              <a:rPr lang="it-IT" sz="16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 all the local state of others</a:t>
            </a:r>
            <a:endParaRPr lang="it-IT" sz="16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Aggregated-states</a:t>
            </a:r>
            <a:r>
              <a:rPr lang="it-IT" sz="16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 local state min/avg/max of batteries &amp; backlog</a:t>
            </a:r>
            <a:endParaRPr lang="it-IT" sz="16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Reduced-states</a:t>
            </a:r>
            <a:r>
              <a:rPr lang="it-IT" sz="16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 local state and avg of metrics</a:t>
            </a:r>
            <a:endParaRPr lang="it-IT" sz="16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1600" b="1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Local-only</a:t>
            </a:r>
            <a:r>
              <a:rPr lang="it-IT" sz="1600" b="0" i="0" u="none" strike="noStrike" cap="none" spc="0">
                <a:solidFill>
                  <a:schemeClr val="accent5">
                    <a:lumMod val="10000"/>
                  </a:schemeClr>
                </a:solidFill>
                <a:latin typeface="Arial"/>
                <a:ea typeface="Arial"/>
                <a:cs typeface="Arial"/>
              </a:rPr>
              <a:t>: local state</a:t>
            </a:r>
            <a:endParaRPr lang="it-IT" sz="1800" b="0" i="0" u="none" strike="noStrike" cap="none" spc="0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50454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8A22FDDD-A6AE-D448-1A5A-3CB6B4B01D63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029379060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6447594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681022489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Reward function</a:t>
            </a:r>
            <a:endParaRPr sz="3600"/>
          </a:p>
        </p:txBody>
      </p:sp>
      <p:sp>
        <p:nvSpPr>
          <p:cNvPr id="1933139306" name="Shape 9221"/>
          <p:cNvSpPr>
            <a:spLocks noChangeShapeType="1" noGrp="1"/>
          </p:cNvSpPr>
          <p:nvPr/>
        </p:nvSpPr>
        <p:spPr bwMode="auto">
          <a:xfrm flipH="0" flipV="0">
            <a:off x="673032" y="1107096"/>
            <a:ext cx="8307047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8" indent="13334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8" indent="17525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Combination of local and offloading actions:</a:t>
            </a:r>
            <a:b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endParaRPr lang="it-IT" sz="2200" b="0" i="0" u="none" strike="noStrike" cap="none" spc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 marL="742950" lvl="1" indent="0">
              <a:lnSpc>
                <a:spcPct val="114999"/>
              </a:lnSpc>
              <a:buClr>
                <a:srgbClr val="822433"/>
              </a:buClr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 , local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+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 , offloading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br>
              <a:rPr lang="it-IT" sz="18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endParaRPr lang="it-IT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lnSpc>
                <a:spcPct val="114999"/>
              </a:lnSpc>
              <a:buClr>
                <a:srgbClr val="822433"/>
              </a:buClr>
              <a:buFont typeface="Arial"/>
              <a:buChar char="•"/>
              <a:defRPr/>
            </a:pP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Each component takes in consideration various metrics as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backlog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, remaining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battery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, computable and comptued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frames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:</a:t>
            </a:r>
            <a:b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</a:b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0">
              <a:lnSpc>
                <a:spcPct val="114999"/>
              </a:lnSpc>
              <a:buClr>
                <a:srgbClr val="822433"/>
              </a:buClr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2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 , *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2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processed frames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processable frames</m:t>
                          </m:r>
                        </m:den>
                      </m:f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+ </m:t>
                      </m:r>
                      <m:f>
                        <m:fPr>
                          <m:ctrlPr>
                            <a:rPr lang="it-IT" sz="22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remaining battery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battery capacity</m:t>
                          </m:r>
                        </m:den>
                      </m:f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+ </m:t>
                      </m:r>
                      <m:f>
                        <m:fPr>
                          <m:ctrlPr>
                            <a:rPr lang="it-IT" sz="22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processed frames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frmaes in backlog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it-IT" sz="22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lnSpc>
                <a:spcPct val="114999"/>
              </a:lnSpc>
              <a:buClr>
                <a:srgbClr val="822433"/>
              </a:buClr>
              <a:buFont typeface="Arial"/>
              <a:buChar char="•"/>
              <a:defRPr/>
            </a:pPr>
            <a:endParaRPr lang="it-IT"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lvl="0" indent="0">
              <a:lnSpc>
                <a:spcPct val="114999"/>
              </a:lnSpc>
              <a:buClr>
                <a:srgbClr val="822433"/>
              </a:buClr>
              <a:buFont typeface="Arial"/>
              <a:buNone/>
              <a:defRPr/>
            </a:pPr>
            <a:r>
              <a:rPr lang="it-IT" sz="2000"/>
              <a:t>Where:</a:t>
            </a:r>
            <a:endParaRPr lang="it-IT"/>
          </a:p>
          <a:p>
            <a:pPr lvl="1">
              <a:lnSpc>
                <a:spcPct val="114999"/>
              </a:lnSpc>
              <a:buClr>
                <a:srgbClr val="822433"/>
              </a:buClr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processable frames = 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max min (backlog,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0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0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remaining battery - </m:t>
                          </m:r>
                          <m:sSub>
                            <m:sSubPr>
                              <m:ctrlPr>
                                <a:rPr lang="it-IT" sz="2000" b="0" i="1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it-IT" sz="20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0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idle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2000" b="0" i="1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it-IT" sz="20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0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it-IT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, framerate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‧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it-IT" sz="20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∆t</m:t>
                      </m:r>
                    </m:oMath>
                  </m:oMathPara>
                </a14:m>
              </mc:Choice>
              <mc:Fallback/>
            </mc:AlternateContent>
            <a:r>
              <a:rPr lang="it-IT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),0)</a:t>
            </a:r>
            <a:endParaRPr sz="20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Clr>
                <a:srgbClr val="822433"/>
              </a:buClr>
              <a:buFont typeface="Arial"/>
              <a:buChar char="•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processed frames = min(framerate </a:t>
            </a:r>
            <a:r>
              <a:rPr sz="1600">
                <a:latin typeface="Times New Roman"/>
                <a:ea typeface="Times New Roman"/>
                <a:cs typeface="Times New Roman"/>
              </a:rPr>
              <a:t>•</a:t>
            </a:r>
            <a:r>
              <a:rPr sz="1600">
                <a:latin typeface="Times New Roman"/>
                <a:ea typeface="Times New Roman"/>
                <a:cs typeface="Times New Roman"/>
              </a:rPr>
              <a:t>Δ</a:t>
            </a:r>
            <a:r>
              <a:rPr sz="1600">
                <a:latin typeface="Times New Roman"/>
                <a:ea typeface="Times New Roman"/>
                <a:cs typeface="Times New Roman"/>
              </a:rPr>
              <a:t>t, processable)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05283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2DC31B1B-3479-3219-5AE5-487A9AB0D80D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014315776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83539921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888204491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Single-agent RL</a:t>
            </a:r>
            <a:r>
              <a:rPr sz="3600"/>
              <a:t>: </a:t>
            </a:r>
            <a:r>
              <a:rPr sz="3200"/>
              <a:t>experiments</a:t>
            </a:r>
            <a:endParaRPr sz="3600"/>
          </a:p>
        </p:txBody>
      </p:sp>
      <p:sp>
        <p:nvSpPr>
          <p:cNvPr id="1791566809" name="Shape 9221"/>
          <p:cNvSpPr>
            <a:spLocks noChangeShapeType="1" noGrp="1"/>
          </p:cNvSpPr>
          <p:nvPr/>
        </p:nvSpPr>
        <p:spPr bwMode="auto">
          <a:xfrm flipH="0" flipV="0">
            <a:off x="886204" y="1497465"/>
            <a:ext cx="764660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pic>
        <p:nvPicPr>
          <p:cNvPr id="3273613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129610" y="1037707"/>
            <a:ext cx="3349221" cy="2447825"/>
          </a:xfrm>
          <a:prstGeom prst="rect">
            <a:avLst/>
          </a:prstGeom>
        </p:spPr>
      </p:pic>
      <p:pic>
        <p:nvPicPr>
          <p:cNvPr id="127386475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87308" y="3547915"/>
            <a:ext cx="3246256" cy="2372572"/>
          </a:xfrm>
          <a:prstGeom prst="rect">
            <a:avLst/>
          </a:prstGeom>
        </p:spPr>
      </p:pic>
      <p:pic>
        <p:nvPicPr>
          <p:cNvPr id="46572003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340426" y="1136292"/>
            <a:ext cx="3171603" cy="2318011"/>
          </a:xfrm>
          <a:prstGeom prst="rect">
            <a:avLst/>
          </a:prstGeom>
        </p:spPr>
      </p:pic>
      <p:cxnSp>
        <p:nvCxnSpPr>
          <p:cNvPr id="1653573374" name=""/>
          <p:cNvCxnSpPr/>
          <p:nvPr/>
        </p:nvCxnSpPr>
        <p:spPr bwMode="auto">
          <a:xfrm flipH="0" flipV="1">
            <a:off x="1110245" y="3528934"/>
            <a:ext cx="7791762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3241739" name=""/>
          <p:cNvCxnSpPr/>
          <p:nvPr/>
        </p:nvCxnSpPr>
        <p:spPr bwMode="auto">
          <a:xfrm flipH="1" flipV="1">
            <a:off x="4904630" y="1276825"/>
            <a:ext cx="0" cy="441538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694347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333523" y="3585637"/>
            <a:ext cx="3272193" cy="2375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11329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5" y="6117156"/>
            <a:ext cx="1904998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416FD562-9FF3-FDE6-D498-A2DED11B983D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400967654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6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461033925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5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010223790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10" y="409573"/>
            <a:ext cx="7416798" cy="581023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</a:t>
            </a:r>
            <a:r>
              <a:rPr sz="3200"/>
              <a:t>Tabular-DQN</a:t>
            </a:r>
            <a:r>
              <a:rPr sz="3200"/>
              <a:t> full-state, N=2</a:t>
            </a:r>
            <a:endParaRPr sz="3200"/>
          </a:p>
        </p:txBody>
      </p:sp>
      <p:sp>
        <p:nvSpPr>
          <p:cNvPr id="1849344036" name="Shape 9221"/>
          <p:cNvSpPr>
            <a:spLocks noChangeShapeType="1" noGrp="1"/>
          </p:cNvSpPr>
          <p:nvPr/>
        </p:nvSpPr>
        <p:spPr bwMode="auto">
          <a:xfrm flipH="0" flipV="0">
            <a:off x="886204" y="1497465"/>
            <a:ext cx="764660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cxnSp>
        <p:nvCxnSpPr>
          <p:cNvPr id="772061807" name=""/>
          <p:cNvCxnSpPr/>
          <p:nvPr/>
        </p:nvCxnSpPr>
        <p:spPr bwMode="auto">
          <a:xfrm flipH="1" flipV="1">
            <a:off x="4982700" y="1088465"/>
            <a:ext cx="0" cy="474630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7829662" name=""/>
          <p:cNvCxnSpPr/>
          <p:nvPr/>
        </p:nvCxnSpPr>
        <p:spPr bwMode="auto">
          <a:xfrm flipH="0" flipV="1">
            <a:off x="1266391" y="3560161"/>
            <a:ext cx="7791759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69738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63422" y="1088465"/>
            <a:ext cx="3301804" cy="2428599"/>
          </a:xfrm>
          <a:prstGeom prst="rect">
            <a:avLst/>
          </a:prstGeom>
        </p:spPr>
      </p:pic>
      <p:pic>
        <p:nvPicPr>
          <p:cNvPr id="127792461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66885" y="1041303"/>
            <a:ext cx="3365922" cy="2475761"/>
          </a:xfrm>
          <a:prstGeom prst="rect">
            <a:avLst/>
          </a:prstGeom>
        </p:spPr>
      </p:pic>
      <p:pic>
        <p:nvPicPr>
          <p:cNvPr id="143650646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379037" y="3579881"/>
            <a:ext cx="3400731" cy="2522994"/>
          </a:xfrm>
          <a:prstGeom prst="rect">
            <a:avLst/>
          </a:prstGeom>
        </p:spPr>
      </p:pic>
      <p:pic>
        <p:nvPicPr>
          <p:cNvPr id="109216185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093623" y="3591108"/>
            <a:ext cx="3449244" cy="2461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70607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6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F9AB5747-2BA2-D43C-D8F0-09E8316E1A36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745154790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610110805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3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095697644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6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</a:t>
            </a:r>
            <a:r>
              <a:rPr sz="3200"/>
              <a:t>N=3 - DQN</a:t>
            </a:r>
            <a:endParaRPr sz="3600"/>
          </a:p>
        </p:txBody>
      </p:sp>
      <p:sp>
        <p:nvSpPr>
          <p:cNvPr id="1379281213" name="Shape 9221"/>
          <p:cNvSpPr>
            <a:spLocks noChangeShapeType="1" noGrp="1"/>
          </p:cNvSpPr>
          <p:nvPr/>
        </p:nvSpPr>
        <p:spPr bwMode="auto">
          <a:xfrm flipH="0" flipV="0">
            <a:off x="886203" y="1497465"/>
            <a:ext cx="7646603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7" indent="13334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7" indent="17525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cxnSp>
        <p:nvCxnSpPr>
          <p:cNvPr id="1029673001" name=""/>
          <p:cNvCxnSpPr/>
          <p:nvPr/>
        </p:nvCxnSpPr>
        <p:spPr bwMode="auto">
          <a:xfrm flipH="1" flipV="1">
            <a:off x="4748479" y="1040142"/>
            <a:ext cx="0" cy="48727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984843" name=""/>
          <p:cNvCxnSpPr/>
          <p:nvPr/>
        </p:nvCxnSpPr>
        <p:spPr bwMode="auto">
          <a:xfrm flipH="0" flipV="1">
            <a:off x="1110243" y="3607005"/>
            <a:ext cx="7791759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57157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00581" y="1040143"/>
            <a:ext cx="3293344" cy="2445390"/>
          </a:xfrm>
          <a:prstGeom prst="rect">
            <a:avLst/>
          </a:prstGeom>
        </p:spPr>
      </p:pic>
      <p:pic>
        <p:nvPicPr>
          <p:cNvPr id="136198019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176049" y="3623744"/>
            <a:ext cx="3317874" cy="2461660"/>
          </a:xfrm>
          <a:prstGeom prst="rect">
            <a:avLst/>
          </a:prstGeom>
        </p:spPr>
      </p:pic>
      <p:pic>
        <p:nvPicPr>
          <p:cNvPr id="75295942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938745" y="3623744"/>
            <a:ext cx="3540083" cy="2461660"/>
          </a:xfrm>
          <a:prstGeom prst="rect">
            <a:avLst/>
          </a:prstGeom>
        </p:spPr>
      </p:pic>
      <p:pic>
        <p:nvPicPr>
          <p:cNvPr id="196080507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006122" y="987966"/>
            <a:ext cx="3472705" cy="25878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17221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EE07C973-2E63-8431-81AC-70E2132A6761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548682559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550076871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049103608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</a:t>
            </a:r>
            <a:r>
              <a:rPr sz="3200"/>
              <a:t>N=5 - DQN</a:t>
            </a:r>
            <a:endParaRPr sz="3600"/>
          </a:p>
        </p:txBody>
      </p:sp>
      <p:sp>
        <p:nvSpPr>
          <p:cNvPr id="128678966" name="Shape 9221"/>
          <p:cNvSpPr>
            <a:spLocks noChangeShapeType="1" noGrp="1"/>
          </p:cNvSpPr>
          <p:nvPr/>
        </p:nvSpPr>
        <p:spPr bwMode="auto">
          <a:xfrm flipH="0" flipV="0">
            <a:off x="886203" y="1497465"/>
            <a:ext cx="7646604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8" indent="13334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8" indent="17525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endParaRPr sz="2400"/>
          </a:p>
        </p:txBody>
      </p:sp>
      <p:cxnSp>
        <p:nvCxnSpPr>
          <p:cNvPr id="1225782255" name=""/>
          <p:cNvCxnSpPr/>
          <p:nvPr/>
        </p:nvCxnSpPr>
        <p:spPr bwMode="auto">
          <a:xfrm flipH="1" flipV="1">
            <a:off x="4732865" y="1108647"/>
            <a:ext cx="0" cy="480419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6794176" name=""/>
          <p:cNvCxnSpPr/>
          <p:nvPr/>
        </p:nvCxnSpPr>
        <p:spPr bwMode="auto">
          <a:xfrm flipH="0" flipV="1">
            <a:off x="1110244" y="3528932"/>
            <a:ext cx="779176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334942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70833" y="1055559"/>
            <a:ext cx="3234124" cy="2424261"/>
          </a:xfrm>
          <a:prstGeom prst="rect">
            <a:avLst/>
          </a:prstGeom>
        </p:spPr>
      </p:pic>
      <p:pic>
        <p:nvPicPr>
          <p:cNvPr id="59895065" name=""/>
          <p:cNvPicPr>
            <a:picLocks noChangeAspect="1"/>
          </p:cNvPicPr>
          <p:nvPr/>
        </p:nvPicPr>
        <p:blipFill rotWithShape="1">
          <a:blip r:embed="rId4"/>
          <a:srcRect l="0" t="1231" r="0" b="0"/>
          <a:stretch/>
        </p:blipFill>
        <p:spPr bwMode="auto">
          <a:xfrm flipH="0" flipV="0">
            <a:off x="1239833" y="3550168"/>
            <a:ext cx="3323788" cy="2504215"/>
          </a:xfrm>
          <a:prstGeom prst="rect">
            <a:avLst/>
          </a:prstGeom>
        </p:spPr>
      </p:pic>
      <p:pic>
        <p:nvPicPr>
          <p:cNvPr id="156793088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969507" y="3550168"/>
            <a:ext cx="3432516" cy="2512621"/>
          </a:xfrm>
          <a:prstGeom prst="rect">
            <a:avLst/>
          </a:prstGeom>
        </p:spPr>
      </p:pic>
      <p:pic>
        <p:nvPicPr>
          <p:cNvPr id="18214703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074243" y="1055558"/>
            <a:ext cx="3390551" cy="2442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702245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A804A8A1-92BC-410E-E726-03FF2F45C23F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771973735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841797024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945470168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</a:t>
            </a:r>
            <a:r>
              <a:rPr sz="3200"/>
              <a:t>N=10 - DQN </a:t>
            </a:r>
            <a:endParaRPr sz="3600"/>
          </a:p>
        </p:txBody>
      </p:sp>
      <p:sp>
        <p:nvSpPr>
          <p:cNvPr id="1246490564" name="Shape 9221"/>
          <p:cNvSpPr>
            <a:spLocks noChangeShapeType="1" noGrp="1"/>
          </p:cNvSpPr>
          <p:nvPr/>
        </p:nvSpPr>
        <p:spPr bwMode="auto">
          <a:xfrm flipH="0" flipV="0">
            <a:off x="745670" y="1497465"/>
            <a:ext cx="8156335" cy="4038597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8" indent="13334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8" indent="175259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Experimental approach: training an agent per time with N-1 acting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randomly</a:t>
            </a:r>
            <a:endParaRPr sz="20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Saving 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model and retrain another agent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starting 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with the pre-trained model</a:t>
            </a:r>
            <a:endParaRPr sz="2000" b="0" i="0" u="none" strike="noStrike" cap="none" spc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Repeat until model has not been trained by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all 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the agents</a:t>
            </a:r>
            <a:endParaRPr sz="2000" b="0" i="0" u="none" strike="noStrike" cap="none" spc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  <a:p>
            <a:pPr>
              <a:lnSpc>
                <a:spcPct val="114999"/>
              </a:lnSpc>
              <a:defRPr/>
            </a:pP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Attempt to obtain a model capable to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generalize </a:t>
            </a:r>
            <a:r>
              <a:rPr lang="it-IT" sz="2000" b="0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with every node through </a:t>
            </a:r>
            <a:r>
              <a:rPr lang="it-IT" sz="2000" b="1" i="0" u="none" strike="noStrike" cap="none" spc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fine-tuning</a:t>
            </a:r>
            <a:endParaRPr lang="it-IT" sz="2200" b="0" i="0" u="none" strike="noStrike" cap="none" spc="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pic>
        <p:nvPicPr>
          <p:cNvPr id="10018403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02269" y="3983020"/>
            <a:ext cx="382542" cy="312934"/>
          </a:xfrm>
          <a:prstGeom prst="rect">
            <a:avLst/>
          </a:prstGeom>
        </p:spPr>
      </p:pic>
      <p:grpSp>
        <p:nvGrpSpPr>
          <p:cNvPr id="1444128835" name=""/>
          <p:cNvGrpSpPr/>
          <p:nvPr/>
        </p:nvGrpSpPr>
        <p:grpSpPr bwMode="auto">
          <a:xfrm>
            <a:off x="1151208" y="4083834"/>
            <a:ext cx="7225448" cy="1916763"/>
            <a:chOff x="0" y="0"/>
            <a:chExt cx="7225448" cy="1916763"/>
          </a:xfrm>
        </p:grpSpPr>
        <p:grpSp>
          <p:nvGrpSpPr>
            <p:cNvPr id="2094202133" name=""/>
            <p:cNvGrpSpPr/>
            <p:nvPr/>
          </p:nvGrpSpPr>
          <p:grpSpPr bwMode="auto">
            <a:xfrm rot="0" flipH="0" flipV="0">
              <a:off x="112354" y="808858"/>
              <a:ext cx="453097" cy="366210"/>
              <a:chOff x="0" y="0"/>
              <a:chExt cx="453097" cy="366210"/>
            </a:xfrm>
          </p:grpSpPr>
          <p:pic>
            <p:nvPicPr>
              <p:cNvPr id="1198883136" name=""/>
              <p:cNvPicPr>
                <a:picLocks noChangeAspect="1"/>
              </p:cNvPicPr>
              <p:nvPr/>
            </p:nvPicPr>
            <p:blipFill rotWithShape="1">
              <a:blip r:embed="rId4"/>
              <a:stretch/>
            </p:blipFill>
            <p:spPr bwMode="auto">
              <a:xfrm rot="0" flipH="0" flipV="0">
                <a:off x="70484" y="81501"/>
                <a:ext cx="286816" cy="284709"/>
              </a:xfrm>
              <a:prstGeom prst="rect">
                <a:avLst/>
              </a:prstGeom>
            </p:spPr>
          </p:pic>
          <p:pic>
            <p:nvPicPr>
              <p:cNvPr id="1021684788" name="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 rot="0" flipH="0" flipV="0">
                <a:off x="334233" y="153607"/>
                <a:ext cx="118864" cy="117990"/>
              </a:xfrm>
              <a:prstGeom prst="rect">
                <a:avLst/>
              </a:prstGeom>
            </p:spPr>
          </p:pic>
          <p:pic>
            <p:nvPicPr>
              <p:cNvPr id="1570706894" name=""/>
              <p:cNvPicPr>
                <a:picLocks noChangeAspect="1"/>
              </p:cNvPicPr>
              <p:nvPr/>
            </p:nvPicPr>
            <p:blipFill rotWithShape="1">
              <a:blip r:embed="rId6"/>
              <a:srcRect l="0" t="34132" r="0" b="0"/>
              <a:stretch/>
            </p:blipFill>
            <p:spPr bwMode="auto">
              <a:xfrm rot="0" flipH="0" flipV="0">
                <a:off x="110755" y="0"/>
                <a:ext cx="206276" cy="134870"/>
              </a:xfrm>
              <a:prstGeom prst="rect">
                <a:avLst/>
              </a:prstGeom>
            </p:spPr>
          </p:pic>
          <p:pic>
            <p:nvPicPr>
              <p:cNvPr id="337720501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5400000" flipH="1" flipV="0">
                <a:off x="384" y="165882"/>
                <a:ext cx="103923" cy="104693"/>
              </a:xfrm>
              <a:prstGeom prst="rect">
                <a:avLst/>
              </a:prstGeom>
            </p:spPr>
          </p:pic>
        </p:grpSp>
        <p:cxnSp>
          <p:nvCxnSpPr>
            <p:cNvPr id="1650463093" name=""/>
            <p:cNvCxnSpPr/>
            <p:nvPr/>
          </p:nvCxnSpPr>
          <p:spPr bwMode="auto">
            <a:xfrm rot="0" flipH="0" flipV="1">
              <a:off x="558915" y="517824"/>
              <a:ext cx="561830" cy="283296"/>
            </a:xfrm>
            <a:prstGeom prst="line">
              <a:avLst/>
            </a:prstGeom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1780348" name=""/>
            <p:cNvCxnSpPr/>
            <p:nvPr/>
          </p:nvCxnSpPr>
          <p:spPr bwMode="auto">
            <a:xfrm rot="0" flipH="0" flipV="0">
              <a:off x="558915" y="1199625"/>
              <a:ext cx="561830" cy="293517"/>
            </a:xfrm>
            <a:prstGeom prst="line">
              <a:avLst/>
            </a:prstGeom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46556464" name=""/>
            <p:cNvGrpSpPr/>
            <p:nvPr/>
          </p:nvGrpSpPr>
          <p:grpSpPr bwMode="auto">
            <a:xfrm rot="0" flipH="0" flipV="0">
              <a:off x="1179468" y="283058"/>
              <a:ext cx="453097" cy="366210"/>
              <a:chOff x="0" y="0"/>
              <a:chExt cx="453097" cy="366210"/>
            </a:xfrm>
          </p:grpSpPr>
          <p:pic>
            <p:nvPicPr>
              <p:cNvPr id="2088479162" name=""/>
              <p:cNvPicPr>
                <a:picLocks noChangeAspect="1"/>
              </p:cNvPicPr>
              <p:nvPr/>
            </p:nvPicPr>
            <p:blipFill rotWithShape="1">
              <a:blip r:embed="rId4"/>
              <a:stretch/>
            </p:blipFill>
            <p:spPr bwMode="auto">
              <a:xfrm rot="0" flipH="0" flipV="0">
                <a:off x="70484" y="81501"/>
                <a:ext cx="286816" cy="284708"/>
              </a:xfrm>
              <a:prstGeom prst="rect">
                <a:avLst/>
              </a:prstGeom>
            </p:spPr>
          </p:pic>
          <p:pic>
            <p:nvPicPr>
              <p:cNvPr id="1975767587" name="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 rot="0" flipH="0" flipV="0">
                <a:off x="334233" y="153606"/>
                <a:ext cx="118864" cy="117990"/>
              </a:xfrm>
              <a:prstGeom prst="rect">
                <a:avLst/>
              </a:prstGeom>
            </p:spPr>
          </p:pic>
          <p:pic>
            <p:nvPicPr>
              <p:cNvPr id="1620515426" name=""/>
              <p:cNvPicPr>
                <a:picLocks noChangeAspect="1"/>
              </p:cNvPicPr>
              <p:nvPr/>
            </p:nvPicPr>
            <p:blipFill rotWithShape="1">
              <a:blip r:embed="rId6"/>
              <a:srcRect l="0" t="34132" r="0" b="0"/>
              <a:stretch/>
            </p:blipFill>
            <p:spPr bwMode="auto">
              <a:xfrm rot="0" flipH="0" flipV="0">
                <a:off x="110753" y="0"/>
                <a:ext cx="206276" cy="134870"/>
              </a:xfrm>
              <a:prstGeom prst="rect">
                <a:avLst/>
              </a:prstGeom>
            </p:spPr>
          </p:pic>
          <p:pic>
            <p:nvPicPr>
              <p:cNvPr id="2000173412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5400000" flipH="1" flipV="0">
                <a:off x="384" y="165882"/>
                <a:ext cx="103923" cy="104693"/>
              </a:xfrm>
              <a:prstGeom prst="rect">
                <a:avLst/>
              </a:prstGeom>
            </p:spPr>
          </p:pic>
        </p:grpSp>
        <p:grpSp>
          <p:nvGrpSpPr>
            <p:cNvPr id="588495585" name=""/>
            <p:cNvGrpSpPr/>
            <p:nvPr/>
          </p:nvGrpSpPr>
          <p:grpSpPr bwMode="auto">
            <a:xfrm rot="0" flipH="0" flipV="0">
              <a:off x="1191395" y="1550553"/>
              <a:ext cx="453097" cy="366210"/>
              <a:chOff x="0" y="0"/>
              <a:chExt cx="453097" cy="366210"/>
            </a:xfrm>
          </p:grpSpPr>
          <p:pic>
            <p:nvPicPr>
              <p:cNvPr id="1423297194" name=""/>
              <p:cNvPicPr>
                <a:picLocks noChangeAspect="1"/>
              </p:cNvPicPr>
              <p:nvPr/>
            </p:nvPicPr>
            <p:blipFill rotWithShape="1">
              <a:blip r:embed="rId4"/>
              <a:stretch/>
            </p:blipFill>
            <p:spPr bwMode="auto">
              <a:xfrm rot="0" flipH="0" flipV="0">
                <a:off x="70484" y="81501"/>
                <a:ext cx="286816" cy="284708"/>
              </a:xfrm>
              <a:prstGeom prst="rect">
                <a:avLst/>
              </a:prstGeom>
            </p:spPr>
          </p:pic>
          <p:pic>
            <p:nvPicPr>
              <p:cNvPr id="380764162" name="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 rot="0" flipH="0" flipV="0">
                <a:off x="334233" y="153606"/>
                <a:ext cx="118864" cy="117990"/>
              </a:xfrm>
              <a:prstGeom prst="rect">
                <a:avLst/>
              </a:prstGeom>
            </p:spPr>
          </p:pic>
          <p:pic>
            <p:nvPicPr>
              <p:cNvPr id="809880299" name=""/>
              <p:cNvPicPr>
                <a:picLocks noChangeAspect="1"/>
              </p:cNvPicPr>
              <p:nvPr/>
            </p:nvPicPr>
            <p:blipFill rotWithShape="1">
              <a:blip r:embed="rId6"/>
              <a:srcRect l="0" t="34132" r="0" b="0"/>
              <a:stretch/>
            </p:blipFill>
            <p:spPr bwMode="auto">
              <a:xfrm rot="0" flipH="0" flipV="0">
                <a:off x="110753" y="0"/>
                <a:ext cx="206276" cy="134870"/>
              </a:xfrm>
              <a:prstGeom prst="rect">
                <a:avLst/>
              </a:prstGeom>
            </p:spPr>
          </p:pic>
          <p:pic>
            <p:nvPicPr>
              <p:cNvPr id="1068905726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5400000" flipH="1" flipV="0">
                <a:off x="384" y="165882"/>
                <a:ext cx="103923" cy="104693"/>
              </a:xfrm>
              <a:prstGeom prst="rect">
                <a:avLst/>
              </a:prstGeom>
            </p:spPr>
          </p:pic>
        </p:grpSp>
        <p:cxnSp>
          <p:nvCxnSpPr>
            <p:cNvPr id="667704470" name=""/>
            <p:cNvCxnSpPr/>
            <p:nvPr/>
          </p:nvCxnSpPr>
          <p:spPr bwMode="auto">
            <a:xfrm rot="0" flipH="0" flipV="0">
              <a:off x="1402346" y="740666"/>
              <a:ext cx="0" cy="418356"/>
            </a:xfrm>
            <a:prstGeom prst="line">
              <a:avLst/>
            </a:prstGeom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2959508" name="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 rot="0" flipH="0" flipV="0">
              <a:off x="1291591" y="0"/>
              <a:ext cx="235108" cy="229197"/>
            </a:xfrm>
            <a:prstGeom prst="rect">
              <a:avLst/>
            </a:prstGeom>
          </p:spPr>
        </p:pic>
        <p:pic>
          <p:nvPicPr>
            <p:cNvPr id="1934860989" name="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 rot="0" flipH="0" flipV="0">
              <a:off x="1289289" y="1240046"/>
              <a:ext cx="235107" cy="229197"/>
            </a:xfrm>
            <a:prstGeom prst="rect">
              <a:avLst/>
            </a:prstGeom>
          </p:spPr>
        </p:pic>
        <p:sp>
          <p:nvSpPr>
            <p:cNvPr id="1194020363" name=""/>
            <p:cNvSpPr/>
            <p:nvPr/>
          </p:nvSpPr>
          <p:spPr bwMode="auto">
            <a:xfrm rot="0" flipH="0" flipV="0">
              <a:off x="1827173" y="775581"/>
              <a:ext cx="753328" cy="39509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8575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 lim="800000"/>
            </a:ln>
            <a:effectLst>
              <a:outerShdw blurRad="508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pic>
          <p:nvPicPr>
            <p:cNvPr id="1902334736" name="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 rot="0" flipH="0" flipV="0">
              <a:off x="2873101" y="551311"/>
              <a:ext cx="1125333" cy="784835"/>
            </a:xfrm>
            <a:prstGeom prst="rect">
              <a:avLst/>
            </a:prstGeom>
          </p:spPr>
        </p:pic>
        <p:grpSp>
          <p:nvGrpSpPr>
            <p:cNvPr id="891620859" name=""/>
            <p:cNvGrpSpPr/>
            <p:nvPr/>
          </p:nvGrpSpPr>
          <p:grpSpPr bwMode="auto">
            <a:xfrm rot="0" flipH="0" flipV="0">
              <a:off x="5693311" y="777369"/>
              <a:ext cx="453097" cy="366210"/>
              <a:chOff x="0" y="0"/>
              <a:chExt cx="453097" cy="366210"/>
            </a:xfrm>
          </p:grpSpPr>
          <p:pic>
            <p:nvPicPr>
              <p:cNvPr id="1481343019" name=""/>
              <p:cNvPicPr>
                <a:picLocks noChangeAspect="1"/>
              </p:cNvPicPr>
              <p:nvPr/>
            </p:nvPicPr>
            <p:blipFill rotWithShape="1">
              <a:blip r:embed="rId4"/>
              <a:stretch/>
            </p:blipFill>
            <p:spPr bwMode="auto">
              <a:xfrm rot="0" flipH="0" flipV="0">
                <a:off x="70484" y="81501"/>
                <a:ext cx="286816" cy="284708"/>
              </a:xfrm>
              <a:prstGeom prst="rect">
                <a:avLst/>
              </a:prstGeom>
            </p:spPr>
          </p:pic>
          <p:pic>
            <p:nvPicPr>
              <p:cNvPr id="2061842002" name="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 rot="0" flipH="0" flipV="0">
                <a:off x="334233" y="153606"/>
                <a:ext cx="118864" cy="117990"/>
              </a:xfrm>
              <a:prstGeom prst="rect">
                <a:avLst/>
              </a:prstGeom>
            </p:spPr>
          </p:pic>
          <p:pic>
            <p:nvPicPr>
              <p:cNvPr id="188154249" name=""/>
              <p:cNvPicPr>
                <a:picLocks noChangeAspect="1"/>
              </p:cNvPicPr>
              <p:nvPr/>
            </p:nvPicPr>
            <p:blipFill rotWithShape="1">
              <a:blip r:embed="rId6"/>
              <a:srcRect l="0" t="34132" r="0" b="0"/>
              <a:stretch/>
            </p:blipFill>
            <p:spPr bwMode="auto">
              <a:xfrm rot="0" flipH="0" flipV="0">
                <a:off x="110755" y="0"/>
                <a:ext cx="206276" cy="134870"/>
              </a:xfrm>
              <a:prstGeom prst="rect">
                <a:avLst/>
              </a:prstGeom>
            </p:spPr>
          </p:pic>
          <p:pic>
            <p:nvPicPr>
              <p:cNvPr id="579950693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5400000" flipH="1" flipV="0">
                <a:off x="385" y="165882"/>
                <a:ext cx="103923" cy="104693"/>
              </a:xfrm>
              <a:prstGeom prst="rect">
                <a:avLst/>
              </a:prstGeom>
            </p:spPr>
          </p:pic>
        </p:grpSp>
        <p:cxnSp>
          <p:nvCxnSpPr>
            <p:cNvPr id="199587279" name=""/>
            <p:cNvCxnSpPr/>
            <p:nvPr/>
          </p:nvCxnSpPr>
          <p:spPr bwMode="auto">
            <a:xfrm rot="0" flipH="0" flipV="1">
              <a:off x="6139871" y="486336"/>
              <a:ext cx="561830" cy="283296"/>
            </a:xfrm>
            <a:prstGeom prst="line">
              <a:avLst/>
            </a:prstGeom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638503" name=""/>
            <p:cNvCxnSpPr/>
            <p:nvPr/>
          </p:nvCxnSpPr>
          <p:spPr bwMode="auto">
            <a:xfrm rot="0" flipH="0" flipV="0">
              <a:off x="6139871" y="1168137"/>
              <a:ext cx="561829" cy="293517"/>
            </a:xfrm>
            <a:prstGeom prst="line">
              <a:avLst/>
            </a:prstGeom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7082658" name=""/>
            <p:cNvGrpSpPr/>
            <p:nvPr/>
          </p:nvGrpSpPr>
          <p:grpSpPr bwMode="auto">
            <a:xfrm rot="0" flipH="0" flipV="0">
              <a:off x="6760424" y="251570"/>
              <a:ext cx="453095" cy="366209"/>
              <a:chOff x="0" y="0"/>
              <a:chExt cx="453095" cy="366209"/>
            </a:xfrm>
          </p:grpSpPr>
          <p:pic>
            <p:nvPicPr>
              <p:cNvPr id="844052871" name=""/>
              <p:cNvPicPr>
                <a:picLocks noChangeAspect="1"/>
              </p:cNvPicPr>
              <p:nvPr/>
            </p:nvPicPr>
            <p:blipFill rotWithShape="1">
              <a:blip r:embed="rId4"/>
              <a:stretch/>
            </p:blipFill>
            <p:spPr bwMode="auto">
              <a:xfrm rot="0" flipH="0" flipV="0">
                <a:off x="70482" y="81500"/>
                <a:ext cx="286816" cy="284708"/>
              </a:xfrm>
              <a:prstGeom prst="rect">
                <a:avLst/>
              </a:prstGeom>
            </p:spPr>
          </p:pic>
          <p:pic>
            <p:nvPicPr>
              <p:cNvPr id="705543050" name="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 rot="0" flipH="0" flipV="0">
                <a:off x="334231" y="153606"/>
                <a:ext cx="118863" cy="117989"/>
              </a:xfrm>
              <a:prstGeom prst="rect">
                <a:avLst/>
              </a:prstGeom>
            </p:spPr>
          </p:pic>
          <p:pic>
            <p:nvPicPr>
              <p:cNvPr id="1339071930" name=""/>
              <p:cNvPicPr>
                <a:picLocks noChangeAspect="1"/>
              </p:cNvPicPr>
              <p:nvPr/>
            </p:nvPicPr>
            <p:blipFill rotWithShape="1">
              <a:blip r:embed="rId6"/>
              <a:srcRect l="0" t="34132" r="0" b="0"/>
              <a:stretch/>
            </p:blipFill>
            <p:spPr bwMode="auto">
              <a:xfrm rot="0" flipH="0" flipV="0">
                <a:off x="110753" y="0"/>
                <a:ext cx="206276" cy="134869"/>
              </a:xfrm>
              <a:prstGeom prst="rect">
                <a:avLst/>
              </a:prstGeom>
            </p:spPr>
          </p:pic>
          <p:pic>
            <p:nvPicPr>
              <p:cNvPr id="73461343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5400000" flipH="1" flipV="0">
                <a:off x="384" y="165882"/>
                <a:ext cx="103923" cy="104692"/>
              </a:xfrm>
              <a:prstGeom prst="rect">
                <a:avLst/>
              </a:prstGeom>
            </p:spPr>
          </p:pic>
        </p:grpSp>
        <p:grpSp>
          <p:nvGrpSpPr>
            <p:cNvPr id="504972584" name=""/>
            <p:cNvGrpSpPr/>
            <p:nvPr/>
          </p:nvGrpSpPr>
          <p:grpSpPr bwMode="auto">
            <a:xfrm rot="0" flipH="0" flipV="0">
              <a:off x="6772352" y="1519065"/>
              <a:ext cx="453095" cy="366209"/>
              <a:chOff x="0" y="0"/>
              <a:chExt cx="453095" cy="366209"/>
            </a:xfrm>
          </p:grpSpPr>
          <p:pic>
            <p:nvPicPr>
              <p:cNvPr id="192142350" name=""/>
              <p:cNvPicPr>
                <a:picLocks noChangeAspect="1"/>
              </p:cNvPicPr>
              <p:nvPr/>
            </p:nvPicPr>
            <p:blipFill rotWithShape="1">
              <a:blip r:embed="rId4"/>
              <a:stretch/>
            </p:blipFill>
            <p:spPr bwMode="auto">
              <a:xfrm rot="0" flipH="0" flipV="0">
                <a:off x="70482" y="81500"/>
                <a:ext cx="286816" cy="284708"/>
              </a:xfrm>
              <a:prstGeom prst="rect">
                <a:avLst/>
              </a:prstGeom>
            </p:spPr>
          </p:pic>
          <p:pic>
            <p:nvPicPr>
              <p:cNvPr id="1988406518" name="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 rot="0" flipH="0" flipV="0">
                <a:off x="334231" y="153606"/>
                <a:ext cx="118863" cy="117989"/>
              </a:xfrm>
              <a:prstGeom prst="rect">
                <a:avLst/>
              </a:prstGeom>
            </p:spPr>
          </p:pic>
          <p:pic>
            <p:nvPicPr>
              <p:cNvPr id="1916932484" name=""/>
              <p:cNvPicPr>
                <a:picLocks noChangeAspect="1"/>
              </p:cNvPicPr>
              <p:nvPr/>
            </p:nvPicPr>
            <p:blipFill rotWithShape="1">
              <a:blip r:embed="rId6"/>
              <a:srcRect l="0" t="34132" r="0" b="0"/>
              <a:stretch/>
            </p:blipFill>
            <p:spPr bwMode="auto">
              <a:xfrm rot="0" flipH="0" flipV="0">
                <a:off x="110753" y="0"/>
                <a:ext cx="206276" cy="134869"/>
              </a:xfrm>
              <a:prstGeom prst="rect">
                <a:avLst/>
              </a:prstGeom>
            </p:spPr>
          </p:pic>
          <p:pic>
            <p:nvPicPr>
              <p:cNvPr id="1782927304" name=""/>
              <p:cNvPicPr>
                <a:picLocks noChangeAspect="1"/>
              </p:cNvPicPr>
              <p:nvPr/>
            </p:nvPicPr>
            <p:blipFill rotWithShape="1">
              <a:blip r:embed="rId7"/>
              <a:stretch/>
            </p:blipFill>
            <p:spPr bwMode="auto">
              <a:xfrm rot="5400000" flipH="1" flipV="0">
                <a:off x="384" y="165882"/>
                <a:ext cx="103923" cy="104692"/>
              </a:xfrm>
              <a:prstGeom prst="rect">
                <a:avLst/>
              </a:prstGeom>
            </p:spPr>
          </p:pic>
        </p:grpSp>
        <p:cxnSp>
          <p:nvCxnSpPr>
            <p:cNvPr id="827477551" name=""/>
            <p:cNvCxnSpPr/>
            <p:nvPr/>
          </p:nvCxnSpPr>
          <p:spPr bwMode="auto">
            <a:xfrm rot="0" flipH="0" flipV="0">
              <a:off x="6983302" y="709178"/>
              <a:ext cx="0" cy="418355"/>
            </a:xfrm>
            <a:prstGeom prst="line">
              <a:avLst/>
            </a:prstGeom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8084101" name=""/>
            <p:cNvSpPr/>
            <p:nvPr/>
          </p:nvSpPr>
          <p:spPr bwMode="auto">
            <a:xfrm rot="0" flipH="0" flipV="0">
              <a:off x="4249006" y="767590"/>
              <a:ext cx="753328" cy="39509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28575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 lim="800000"/>
            </a:ln>
            <a:effectLst>
              <a:outerShdw blurRad="508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pic>
          <p:nvPicPr>
            <p:cNvPr id="1724714181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0" flipV="0">
              <a:off x="0" y="357889"/>
              <a:ext cx="518607" cy="424241"/>
            </a:xfrm>
            <a:prstGeom prst="rect">
              <a:avLst/>
            </a:prstGeom>
          </p:spPr>
        </p:pic>
        <p:pic>
          <p:nvPicPr>
            <p:cNvPr id="1043862956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0" flipV="0">
              <a:off x="3176464" y="743896"/>
              <a:ext cx="518607" cy="424240"/>
            </a:xfrm>
            <a:prstGeom prst="rect">
              <a:avLst/>
            </a:prstGeom>
          </p:spPr>
        </p:pic>
        <p:pic>
          <p:nvPicPr>
            <p:cNvPr id="15704386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0" flipV="0">
              <a:off x="5741668" y="430311"/>
              <a:ext cx="382542" cy="312934"/>
            </a:xfrm>
            <a:prstGeom prst="rect">
              <a:avLst/>
            </a:prstGeom>
          </p:spPr>
        </p:pic>
        <p:pic>
          <p:nvPicPr>
            <p:cNvPr id="58841429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0" flipV="0">
              <a:off x="6803556" y="1191763"/>
              <a:ext cx="382542" cy="31293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885461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944C8218-C4FE-EF10-1A77-5164FB61AFDC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20954432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254922729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222084527" name="Shape 9218"/>
          <p:cNvSpPr>
            <a:spLocks noChangeShapeType="1" noGrp="1"/>
          </p:cNvSpPr>
          <p:nvPr>
            <p:ph type="title" idx="0"/>
          </p:nvPr>
        </p:nvSpPr>
        <p:spPr bwMode="auto">
          <a:xfrm>
            <a:off x="1116009" y="409572"/>
            <a:ext cx="7416797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</a:t>
            </a:r>
            <a:r>
              <a:rPr sz="3200"/>
              <a:t>N=10 - DQN </a:t>
            </a:r>
            <a:endParaRPr sz="3200"/>
          </a:p>
        </p:txBody>
      </p:sp>
      <p:pic>
        <p:nvPicPr>
          <p:cNvPr id="5568246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49269" y="1107518"/>
            <a:ext cx="3169508" cy="2321478"/>
          </a:xfrm>
          <a:prstGeom prst="rect">
            <a:avLst/>
          </a:prstGeom>
        </p:spPr>
      </p:pic>
      <p:pic>
        <p:nvPicPr>
          <p:cNvPr id="48545857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50886" y="1050334"/>
            <a:ext cx="3381917" cy="2378662"/>
          </a:xfrm>
          <a:prstGeom prst="rect">
            <a:avLst/>
          </a:prstGeom>
        </p:spPr>
      </p:pic>
      <p:pic>
        <p:nvPicPr>
          <p:cNvPr id="199364801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245669" y="3498192"/>
            <a:ext cx="3268591" cy="2394052"/>
          </a:xfrm>
          <a:prstGeom prst="rect">
            <a:avLst/>
          </a:prstGeom>
        </p:spPr>
      </p:pic>
      <p:cxnSp>
        <p:nvCxnSpPr>
          <p:cNvPr id="1147747687" name=""/>
          <p:cNvCxnSpPr/>
          <p:nvPr/>
        </p:nvCxnSpPr>
        <p:spPr bwMode="auto">
          <a:xfrm flipH="1" flipV="1">
            <a:off x="4826554" y="1419390"/>
            <a:ext cx="0" cy="441538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346051" name=""/>
          <p:cNvCxnSpPr/>
          <p:nvPr/>
        </p:nvCxnSpPr>
        <p:spPr bwMode="auto">
          <a:xfrm flipH="0" flipV="1">
            <a:off x="1188318" y="3450859"/>
            <a:ext cx="779176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489962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018839" y="3498191"/>
            <a:ext cx="3594326" cy="2571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061062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7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5DFE71E6-D1A7-5406-A6CD-D699932A9B2A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639207298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959794184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4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  <p:sp>
        <p:nvSpPr>
          <p:cNvPr id="1256154205" name="Shape 9218"/>
          <p:cNvSpPr>
            <a:spLocks noChangeShapeType="1" noGrp="1"/>
          </p:cNvSpPr>
          <p:nvPr>
            <p:ph type="title" idx="0"/>
          </p:nvPr>
        </p:nvSpPr>
        <p:spPr bwMode="auto">
          <a:xfrm flipH="0" flipV="0">
            <a:off x="1116009" y="409572"/>
            <a:ext cx="7614236" cy="581022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</a:t>
            </a:r>
            <a:r>
              <a:rPr sz="3200"/>
              <a:t>N=10 - fine vs </a:t>
            </a:r>
            <a:r>
              <a:rPr sz="3200"/>
              <a:t>“heavy” tuning</a:t>
            </a:r>
            <a:endParaRPr sz="3200"/>
          </a:p>
        </p:txBody>
      </p:sp>
      <p:cxnSp>
        <p:nvCxnSpPr>
          <p:cNvPr id="1917493220" name=""/>
          <p:cNvCxnSpPr/>
          <p:nvPr/>
        </p:nvCxnSpPr>
        <p:spPr bwMode="auto">
          <a:xfrm flipH="1" flipV="1">
            <a:off x="4826552" y="1108647"/>
            <a:ext cx="0" cy="472612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8078151" name=""/>
          <p:cNvCxnSpPr/>
          <p:nvPr/>
        </p:nvCxnSpPr>
        <p:spPr bwMode="auto">
          <a:xfrm flipH="0" flipV="1">
            <a:off x="1188317" y="3450858"/>
            <a:ext cx="7791759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77821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42777" y="1029546"/>
            <a:ext cx="3456709" cy="2390081"/>
          </a:xfrm>
          <a:prstGeom prst="rect">
            <a:avLst/>
          </a:prstGeom>
        </p:spPr>
      </p:pic>
      <p:pic>
        <p:nvPicPr>
          <p:cNvPr id="11983098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84196" y="1029546"/>
            <a:ext cx="3394634" cy="2390081"/>
          </a:xfrm>
          <a:prstGeom prst="rect">
            <a:avLst/>
          </a:prstGeom>
        </p:spPr>
      </p:pic>
      <p:pic>
        <p:nvPicPr>
          <p:cNvPr id="150796477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969971" y="3477949"/>
            <a:ext cx="3508859" cy="2588800"/>
          </a:xfrm>
          <a:prstGeom prst="rect">
            <a:avLst/>
          </a:prstGeom>
        </p:spPr>
      </p:pic>
      <p:pic>
        <p:nvPicPr>
          <p:cNvPr id="95714599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241861" y="3477949"/>
            <a:ext cx="3416749" cy="258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380665" name="Shape 9218"/>
          <p:cNvSpPr>
            <a:spLocks noChangeShapeType="1" noGrp="1"/>
          </p:cNvSpPr>
          <p:nvPr>
            <p:ph type="title" idx="0"/>
          </p:nvPr>
        </p:nvSpPr>
        <p:spPr bwMode="auto"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r>
              <a:rPr sz="3600"/>
              <a:t>MARL: </a:t>
            </a:r>
            <a:r>
              <a:rPr sz="3200"/>
              <a:t>N=10 - fine vs </a:t>
            </a:r>
            <a:r>
              <a:rPr sz="3200"/>
              <a:t>“heavy” tuning</a:t>
            </a:r>
            <a:endParaRPr sz="3200"/>
          </a:p>
        </p:txBody>
      </p:sp>
      <p:pic>
        <p:nvPicPr>
          <p:cNvPr id="11874350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30178" y="2905100"/>
            <a:ext cx="3531709" cy="2699839"/>
          </a:xfrm>
          <a:prstGeom prst="rect">
            <a:avLst/>
          </a:prstGeom>
        </p:spPr>
      </p:pic>
      <p:sp>
        <p:nvSpPr>
          <p:cNvPr id="678531093" name="Shape 1027"/>
          <p:cNvSpPr>
            <a:spLocks noChangeShapeType="1" noGrp="1"/>
          </p:cNvSpPr>
          <p:nvPr>
            <p:ph idx="1"/>
          </p:nvPr>
        </p:nvSpPr>
        <p:spPr bwMode="auto">
          <a:xfrm flipH="0" flipV="0">
            <a:off x="1116011" y="1440303"/>
            <a:ext cx="7559674" cy="1870023"/>
          </a:xfrm>
          <a:prstGeom prst="rect">
            <a:avLst/>
          </a:prstGeom>
          <a:noFill/>
        </p:spPr>
        <p:txBody>
          <a:bodyPr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2400" b="0" i="0">
                <a:solidFill>
                  <a:srgbClr val="000000"/>
                </a:solidFill>
                <a:latin typeface="Arial"/>
                <a:ea typeface="ＭＳ Ｐゴシック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2000" b="0" i="0">
                <a:solidFill>
                  <a:srgbClr val="000000"/>
                </a:solidFill>
                <a:latin typeface="Arial"/>
                <a:ea typeface="ＭＳ Ｐゴシック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sz="1600" b="0" i="0">
                <a:solidFill>
                  <a:srgbClr val="000000"/>
                </a:solidFill>
                <a:latin typeface="Arial"/>
                <a:ea typeface="ＭＳ Ｐゴシック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sz="1400" b="0" i="0">
                <a:solidFill>
                  <a:srgbClr val="000000"/>
                </a:solidFill>
                <a:latin typeface="Arial"/>
                <a:ea typeface="ＭＳ Ｐゴシック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sz="1200" b="0" i="0">
                <a:solidFill>
                  <a:srgbClr val="000000"/>
                </a:solidFill>
                <a:latin typeface="Arial"/>
                <a:ea typeface="ＭＳ Ｐゴシック"/>
              </a:defRPr>
            </a:lvl5pPr>
          </a:lstStyle>
          <a:p>
            <a:pPr>
              <a:lnSpc>
                <a:spcPct val="114999"/>
              </a:lnSpc>
              <a:defRPr/>
            </a:pPr>
            <a:r>
              <a:rPr sz="2000"/>
              <a:t>Fine tuning remarks higher stability than “heavy” tuning because it privileged </a:t>
            </a:r>
            <a:r>
              <a:rPr sz="2000" b="1"/>
              <a:t>local</a:t>
            </a:r>
            <a:r>
              <a:rPr sz="2000"/>
              <a:t> computation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000"/>
              <a:t>Having N-1 agents acting randomly generates a model that knows that other agents may </a:t>
            </a:r>
            <a:r>
              <a:rPr sz="2000" b="1"/>
              <a:t>not</a:t>
            </a:r>
            <a:r>
              <a:rPr sz="2000"/>
              <a:t> cooperate</a:t>
            </a:r>
            <a:endParaRPr/>
          </a:p>
        </p:txBody>
      </p:sp>
      <p:sp>
        <p:nvSpPr>
          <p:cNvPr id="1788790817" name="Shape 1027"/>
          <p:cNvSpPr>
            <a:spLocks noChangeShapeType="1" noGrp="1"/>
          </p:cNvSpPr>
          <p:nvPr/>
        </p:nvSpPr>
        <p:spPr bwMode="auto">
          <a:xfrm flipH="0" flipV="0">
            <a:off x="1094631" y="2966803"/>
            <a:ext cx="4231598" cy="2576434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2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20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•"/>
              <a:defRPr lang="it-IT" sz="16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3pPr>
            <a:lvl4pPr marL="1562099" indent="1333499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–"/>
              <a:defRPr lang="it-IT" sz="14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4pPr>
            <a:lvl5pPr marL="1981199" indent="175259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Char char="»"/>
              <a:defRPr lang="it-IT" sz="1200" b="0" i="0">
                <a:solidFill>
                  <a:srgbClr val="000000"/>
                </a:solidFill>
                <a:latin typeface="Arial"/>
                <a:ea typeface="ＭＳ Ｐゴシック"/>
                <a:cs typeface="Arial"/>
              </a:defRPr>
            </a:lvl5pPr>
            <a:lvl6pPr>
              <a:defRPr lang="it-IT" sz="1800"/>
            </a:lvl6pPr>
            <a:lvl7pPr>
              <a:defRPr lang="it-IT" sz="1800"/>
            </a:lvl7pPr>
            <a:lvl8pPr>
              <a:defRPr lang="it-IT" sz="1800"/>
            </a:lvl8pPr>
            <a:lvl9pPr>
              <a:defRPr lang="it-IT" sz="1800"/>
            </a:lvl9pPr>
          </a:lstStyle>
          <a:p>
            <a:pPr>
              <a:lnSpc>
                <a:spcPct val="114999"/>
              </a:lnSpc>
              <a:defRPr/>
            </a:pPr>
            <a:r>
              <a:rPr sz="2000"/>
              <a:t>In average, fine tuning scenario leads to lower offloading matching across the system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000"/>
              <a:t>Training from zero has higher reward due to the generation of policies that tend to </a:t>
            </a:r>
            <a:r>
              <a:rPr sz="2000" b="1"/>
              <a:t>cooperate </a:t>
            </a:r>
            <a:r>
              <a:rPr sz="2000"/>
              <a:t>more</a:t>
            </a:r>
            <a:endParaRPr/>
          </a:p>
        </p:txBody>
      </p:sp>
      <p:sp>
        <p:nvSpPr>
          <p:cNvPr id="157101603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73834" y="6117156"/>
            <a:ext cx="1904996" cy="4572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E168B097-E12C-7994-4862-363828B324C8}" type="slidenum">
              <a:rPr sz="1400" b="1">
                <a:solidFill>
                  <a:schemeClr val="lt1"/>
                </a:solidFill>
              </a:rPr>
              <a:t/>
            </a:fld>
            <a:endParaRPr sz="2800" b="1"/>
          </a:p>
        </p:txBody>
      </p:sp>
      <p:sp>
        <p:nvSpPr>
          <p:cNvPr id="1130286131" name="Shape 1028"/>
          <p:cNvSpPr>
            <a:spLocks noChangeShapeType="1" noGrp="1"/>
          </p:cNvSpPr>
          <p:nvPr>
            <p:ph type="dt" idx="2"/>
          </p:nvPr>
        </p:nvSpPr>
        <p:spPr bwMode="auto">
          <a:xfrm flipH="0" flipV="0">
            <a:off x="4023855" y="6117156"/>
            <a:ext cx="2972178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it-IT" sz="1400" b="1">
                <a:solidFill>
                  <a:schemeClr val="bg1"/>
                </a:solidFill>
              </a:rPr>
              <a:t>Lorenzo Pecorari - 1885161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74534526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1239833" y="6117156"/>
            <a:ext cx="2895597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1">
                <a:solidFill>
                  <a:schemeClr val="lt1"/>
                </a:solidFill>
              </a:rPr>
              <a:t>Master’s Thesis</a:t>
            </a: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a sapienza">
  <a:themeElements>
    <a:clrScheme name="Default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FF0000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la sapienza 1">
        <a:dk1>
          <a:srgbClr val="000000"/>
        </a:dk1>
        <a:lt1>
          <a:srgbClr val="FFFFFF"/>
        </a:lt1>
        <a:dk2>
          <a:srgbClr val="FFFFFF"/>
        </a:dk2>
        <a:lt2>
          <a:srgbClr val="2D2015"/>
        </a:lt2>
        <a:accent1>
          <a:srgbClr val="7C7C7C"/>
        </a:accent1>
        <a:accent2>
          <a:srgbClr val="FFFF7E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66778"/>
        </a:hlink>
        <a:folHlink>
          <a:srgbClr val="8300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9999"/>
      </a:hlink>
      <a:folHlink>
        <a:srgbClr val="99CC00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Marco:Applications:Microsoft Office 2004:Modelli:Modelli personali:la sapienza.pot</Template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- -</dc:creator>
  <cp:lastModifiedBy/>
  <cp:revision>42</cp:revision>
  <dcterms:created xsi:type="dcterms:W3CDTF">2006-11-20T16:13:00Z</dcterms:created>
  <dcterms:modified xsi:type="dcterms:W3CDTF">2026-03-28T17:44:36Z</dcterms:modified>
</cp:coreProperties>
</file>